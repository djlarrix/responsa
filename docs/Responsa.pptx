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0"/>
        </a:solidFill>
      </p:bgPr>
    </p:bg>
    <p:spTree>
      <p:nvGrpSpPr>
        <p:cNvPr id="1" name=""/>
        <p:cNvGrpSpPr/>
        <p:nvPr/>
      </p:nvGrpSpPr>
      <p:grpSpPr>
        <a:xfrm>
          <a:off x="0" y="0"/>
          <a:ext cx="0" cy="0"/>
          <a:chOff x="0" y="0"/>
          <a:chExt cx="0" cy="0"/>
        </a:xfrm>
      </p:grpSpPr>
      <p:sp>
        <p:nvSpPr>
          <p:cNvPr id="2" name="Text 0"/>
          <p:cNvSpPr/>
          <p:nvPr/>
        </p:nvSpPr>
        <p:spPr>
          <a:xfrm>
            <a:off x="777240" y="2121408"/>
            <a:ext cx="8412480" cy="1234440"/>
          </a:xfrm>
          <a:prstGeom prst="rect">
            <a:avLst/>
          </a:prstGeom>
          <a:noFill/>
          <a:ln/>
        </p:spPr>
        <p:txBody>
          <a:bodyPr wrap="square" lIns="0" tIns="0" rIns="0" bIns="0" rtlCol="0" anchor="ctr"/>
          <a:lstStyle/>
          <a:p>
            <a:pPr indent="0" marL="0">
              <a:buNone/>
            </a:pPr>
            <a:r>
              <a:rPr lang="en-US" sz="7600" b="1" spc="600" kern="0" dirty="0">
                <a:solidFill>
                  <a:srgbClr val="FFFFFF"/>
                </a:solidFill>
                <a:latin typeface="Cambria" pitchFamily="34" charset="0"/>
                <a:ea typeface="Cambria" pitchFamily="34" charset="-122"/>
                <a:cs typeface="Cambria" pitchFamily="34" charset="-120"/>
              </a:rPr>
              <a:t>RESPONSA</a:t>
            </a:r>
            <a:endParaRPr lang="en-US" sz="7600" dirty="0"/>
          </a:p>
        </p:txBody>
      </p:sp>
      <p:sp>
        <p:nvSpPr>
          <p:cNvPr id="3" name="Text 1"/>
          <p:cNvSpPr/>
          <p:nvPr/>
        </p:nvSpPr>
        <p:spPr>
          <a:xfrm>
            <a:off x="777240" y="3401568"/>
            <a:ext cx="8412480" cy="411480"/>
          </a:xfrm>
          <a:prstGeom prst="rect">
            <a:avLst/>
          </a:prstGeom>
          <a:noFill/>
          <a:ln/>
        </p:spPr>
        <p:txBody>
          <a:bodyPr wrap="square" lIns="0" tIns="0" rIns="0" bIns="0" rtlCol="0" anchor="ctr"/>
          <a:lstStyle/>
          <a:p>
            <a:pPr indent="0" marL="0">
              <a:buNone/>
            </a:pPr>
            <a:r>
              <a:rPr lang="en-US" sz="1900" dirty="0">
                <a:solidFill>
                  <a:srgbClr val="C9A574"/>
                </a:solidFill>
                <a:latin typeface="Calibri" pitchFamily="34" charset="0"/>
                <a:ea typeface="Calibri" pitchFamily="34" charset="-122"/>
                <a:cs typeface="Calibri" pitchFamily="34" charset="-120"/>
              </a:rPr>
              <a:t>Fuentes jurídicas chilenas verificables para Claude</a:t>
            </a:r>
            <a:endParaRPr lang="en-US" sz="1900" dirty="0"/>
          </a:p>
        </p:txBody>
      </p:sp>
      <p:sp>
        <p:nvSpPr>
          <p:cNvPr id="4" name="Text 2"/>
          <p:cNvSpPr/>
          <p:nvPr/>
        </p:nvSpPr>
        <p:spPr>
          <a:xfrm>
            <a:off x="777240" y="3968496"/>
            <a:ext cx="8778240" cy="329184"/>
          </a:xfrm>
          <a:prstGeom prst="rect">
            <a:avLst/>
          </a:prstGeom>
          <a:noFill/>
          <a:ln/>
        </p:spPr>
        <p:txBody>
          <a:bodyPr wrap="square" lIns="0" tIns="0" rIns="0" bIns="0" rtlCol="0" anchor="ctr"/>
          <a:lstStyle/>
          <a:p>
            <a:pPr indent="0" marL="0">
              <a:buNone/>
            </a:pPr>
            <a:r>
              <a:rPr lang="en-US" sz="1300" dirty="0">
                <a:solidFill>
                  <a:srgbClr val="8A93A5"/>
                </a:solidFill>
                <a:latin typeface="Calibri" pitchFamily="34" charset="0"/>
                <a:ea typeface="Calibri" pitchFamily="34" charset="-122"/>
                <a:cs typeface="Calibri" pitchFamily="34" charset="-120"/>
              </a:rPr>
              <a:t>Jurisprudencia · Legislación · Dictámenes · Arbitraje · Doctrina · Estadísticas</a:t>
            </a:r>
            <a:endParaRPr lang="en-US" sz="1300" dirty="0"/>
          </a:p>
        </p:txBody>
      </p:sp>
      <p:sp>
        <p:nvSpPr>
          <p:cNvPr id="5" name="Text 3"/>
          <p:cNvSpPr/>
          <p:nvPr/>
        </p:nvSpPr>
        <p:spPr>
          <a:xfrm>
            <a:off x="777240" y="5230368"/>
            <a:ext cx="2743200" cy="237744"/>
          </a:xfrm>
          <a:prstGeom prst="rect">
            <a:avLst/>
          </a:prstGeom>
          <a:noFill/>
          <a:ln/>
        </p:spPr>
        <p:txBody>
          <a:bodyPr wrap="square" lIns="0" tIns="0" rIns="0" bIns="0" rtlCol="0" anchor="ctr"/>
          <a:lstStyle/>
          <a:p>
            <a:pPr indent="0" marL="0">
              <a:buNone/>
            </a:pPr>
            <a:r>
              <a:rPr lang="en-US" sz="1100" spc="150" kern="0" dirty="0">
                <a:solidFill>
                  <a:srgbClr val="5A6478"/>
                </a:solidFill>
                <a:latin typeface="Calibri" pitchFamily="34" charset="0"/>
                <a:ea typeface="Calibri" pitchFamily="34" charset="-122"/>
                <a:cs typeface="Calibri" pitchFamily="34" charset="-120"/>
              </a:rPr>
              <a:t>Creado por</a:t>
            </a:r>
            <a:endParaRPr lang="en-US" sz="1100" dirty="0"/>
          </a:p>
        </p:txBody>
      </p:sp>
      <p:sp>
        <p:nvSpPr>
          <p:cNvPr id="6" name="Text 4"/>
          <p:cNvSpPr/>
          <p:nvPr/>
        </p:nvSpPr>
        <p:spPr>
          <a:xfrm>
            <a:off x="777240" y="5477256"/>
            <a:ext cx="548640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Joaquín Larraín Guimoye</a:t>
            </a:r>
            <a:endParaRPr lang="en-US" sz="1900" dirty="0"/>
          </a:p>
        </p:txBody>
      </p:sp>
      <p:sp>
        <p:nvSpPr>
          <p:cNvPr id="7" name="Text 5"/>
          <p:cNvSpPr/>
          <p:nvPr/>
        </p:nvSpPr>
        <p:spPr>
          <a:xfrm>
            <a:off x="5669280" y="658368"/>
            <a:ext cx="5852160" cy="822960"/>
          </a:xfrm>
          <a:prstGeom prst="rect">
            <a:avLst/>
          </a:prstGeom>
          <a:noFill/>
          <a:ln/>
        </p:spPr>
        <p:txBody>
          <a:bodyPr wrap="square" lIns="0" tIns="0" rIns="0" bIns="0" rtlCol="0" anchor="ctr"/>
          <a:lstStyle/>
          <a:p>
            <a:pPr algn="r" indent="0" marL="0">
              <a:buNone/>
            </a:pPr>
            <a:r>
              <a:rPr lang="en-US" sz="3000" i="1" dirty="0">
                <a:solidFill>
                  <a:srgbClr val="2A3446"/>
                </a:solidFill>
                <a:latin typeface="Cambria" pitchFamily="34" charset="0"/>
                <a:ea typeface="Cambria" pitchFamily="34" charset="-122"/>
                <a:cs typeface="Cambria" pitchFamily="34" charset="-120"/>
              </a:rPr>
              <a:t>responsa prudentium</a:t>
            </a:r>
            <a:endParaRPr lang="en-US" sz="3000" dirty="0"/>
          </a:p>
        </p:txBody>
      </p:sp>
      <p:sp>
        <p:nvSpPr>
          <p:cNvPr id="8" name="Shape 6"/>
          <p:cNvSpPr/>
          <p:nvPr/>
        </p:nvSpPr>
        <p:spPr>
          <a:xfrm>
            <a:off x="10607040" y="5349240"/>
            <a:ext cx="777240" cy="777240"/>
          </a:xfrm>
          <a:prstGeom prst="ellipse">
            <a:avLst/>
          </a:prstGeom>
          <a:solidFill>
            <a:srgbClr val="A87C4F"/>
          </a:solidFill>
          <a:ln/>
        </p:spPr>
      </p:sp>
      <p:sp>
        <p:nvSpPr>
          <p:cNvPr id="9" name="Text 7"/>
          <p:cNvSpPr/>
          <p:nvPr/>
        </p:nvSpPr>
        <p:spPr>
          <a:xfrm>
            <a:off x="10607040" y="5349240"/>
            <a:ext cx="777240" cy="777240"/>
          </a:xfrm>
          <a:prstGeom prst="rect">
            <a:avLst/>
          </a:prstGeom>
          <a:noFill/>
          <a:ln/>
        </p:spPr>
        <p:txBody>
          <a:bodyPr wrap="square" lIns="0" tIns="0" rIns="0" bIns="0" rtlCol="0" anchor="ctr"/>
          <a:lstStyle/>
          <a:p>
            <a:pPr algn="ctr" indent="0" marL="0">
              <a:buNone/>
            </a:pPr>
            <a:r>
              <a:rPr lang="en-US" sz="3400" b="1" dirty="0">
                <a:solidFill>
                  <a:srgbClr val="1B2230"/>
                </a:solidFill>
                <a:latin typeface="Cambria" pitchFamily="34" charset="0"/>
                <a:ea typeface="Cambria" pitchFamily="34" charset="-122"/>
                <a:cs typeface="Cambria" pitchFamily="34" charset="-120"/>
              </a:rPr>
              <a:t>R</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El problema que resuelve</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Por qué no basta con preguntarle a una IA general</a:t>
            </a:r>
            <a:endParaRPr lang="en-US" sz="1350" dirty="0"/>
          </a:p>
        </p:txBody>
      </p:sp>
      <p:sp>
        <p:nvSpPr>
          <p:cNvPr id="4" name="Shape 2"/>
          <p:cNvSpPr/>
          <p:nvPr/>
        </p:nvSpPr>
        <p:spPr>
          <a:xfrm>
            <a:off x="777240" y="1901952"/>
            <a:ext cx="5989320" cy="1243584"/>
          </a:xfrm>
          <a:prstGeom prst="roundRect">
            <a:avLst>
              <a:gd name="adj" fmla="val 4412"/>
            </a:avLst>
          </a:prstGeom>
          <a:solidFill>
            <a:srgbClr val="FFFFFF"/>
          </a:solidFill>
          <a:ln w="9525">
            <a:solidFill>
              <a:srgbClr val="E3DED3"/>
            </a:solidFill>
            <a:prstDash val="solid"/>
          </a:ln>
        </p:spPr>
      </p:sp>
      <p:sp>
        <p:nvSpPr>
          <p:cNvPr id="5" name="Shape 3"/>
          <p:cNvSpPr/>
          <p:nvPr/>
        </p:nvSpPr>
        <p:spPr>
          <a:xfrm>
            <a:off x="1069848" y="2157984"/>
            <a:ext cx="384048" cy="384048"/>
          </a:xfrm>
          <a:prstGeom prst="ellipse">
            <a:avLst/>
          </a:prstGeom>
          <a:solidFill>
            <a:srgbClr val="6B2C33"/>
          </a:solidFill>
          <a:ln/>
        </p:spPr>
      </p:sp>
      <p:sp>
        <p:nvSpPr>
          <p:cNvPr id="6" name="Text 4"/>
          <p:cNvSpPr/>
          <p:nvPr/>
        </p:nvSpPr>
        <p:spPr>
          <a:xfrm>
            <a:off x="1069848" y="21579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618488" y="2084832"/>
            <a:ext cx="4937760" cy="292608"/>
          </a:xfrm>
          <a:prstGeom prst="rect">
            <a:avLst/>
          </a:prstGeom>
          <a:noFill/>
          <a:ln/>
        </p:spPr>
        <p:txBody>
          <a:bodyPr wrap="square" lIns="0" tIns="0" rIns="0" bIns="0" rtlCol="0" anchor="ctr"/>
          <a:lstStyle/>
          <a:p>
            <a:pPr indent="0" marL="0">
              <a:buNone/>
            </a:pPr>
            <a:r>
              <a:rPr lang="en-US" sz="1450" b="1" dirty="0">
                <a:solidFill>
                  <a:srgbClr val="1B2230"/>
                </a:solidFill>
                <a:latin typeface="Calibri" pitchFamily="34" charset="0"/>
                <a:ea typeface="Calibri" pitchFamily="34" charset="-122"/>
                <a:cs typeface="Calibri" pitchFamily="34" charset="-120"/>
              </a:rPr>
              <a:t>Inventa citas que parecen reales</a:t>
            </a:r>
            <a:endParaRPr lang="en-US" sz="1450" dirty="0"/>
          </a:p>
        </p:txBody>
      </p:sp>
      <p:sp>
        <p:nvSpPr>
          <p:cNvPr id="8" name="Text 6"/>
          <p:cNvSpPr/>
          <p:nvPr/>
        </p:nvSpPr>
        <p:spPr>
          <a:xfrm>
            <a:off x="1618488" y="2404872"/>
            <a:ext cx="4937760" cy="621792"/>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Un rol plausible, una carátula verosímil, un considerando que suena bien. Se parecen lo suficiente a los verdaderos para pasar desapercibidos en un escrito.</a:t>
            </a:r>
            <a:endParaRPr lang="en-US" sz="1150" dirty="0"/>
          </a:p>
        </p:txBody>
      </p:sp>
      <p:sp>
        <p:nvSpPr>
          <p:cNvPr id="9" name="Shape 7"/>
          <p:cNvSpPr/>
          <p:nvPr/>
        </p:nvSpPr>
        <p:spPr>
          <a:xfrm>
            <a:off x="777240" y="3364992"/>
            <a:ext cx="5989320" cy="1243584"/>
          </a:xfrm>
          <a:prstGeom prst="roundRect">
            <a:avLst>
              <a:gd name="adj" fmla="val 4412"/>
            </a:avLst>
          </a:prstGeom>
          <a:solidFill>
            <a:srgbClr val="FFFFFF"/>
          </a:solidFill>
          <a:ln w="9525">
            <a:solidFill>
              <a:srgbClr val="E3DED3"/>
            </a:solidFill>
            <a:prstDash val="solid"/>
          </a:ln>
        </p:spPr>
      </p:sp>
      <p:sp>
        <p:nvSpPr>
          <p:cNvPr id="10" name="Shape 8"/>
          <p:cNvSpPr/>
          <p:nvPr/>
        </p:nvSpPr>
        <p:spPr>
          <a:xfrm>
            <a:off x="1069848" y="3621024"/>
            <a:ext cx="384048" cy="384048"/>
          </a:xfrm>
          <a:prstGeom prst="ellipse">
            <a:avLst/>
          </a:prstGeom>
          <a:solidFill>
            <a:srgbClr val="6B2C33"/>
          </a:solidFill>
          <a:ln/>
        </p:spPr>
      </p:sp>
      <p:sp>
        <p:nvSpPr>
          <p:cNvPr id="11" name="Text 9"/>
          <p:cNvSpPr/>
          <p:nvPr/>
        </p:nvSpPr>
        <p:spPr>
          <a:xfrm>
            <a:off x="1069848" y="36210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618488" y="3547872"/>
            <a:ext cx="4937760" cy="292608"/>
          </a:xfrm>
          <a:prstGeom prst="rect">
            <a:avLst/>
          </a:prstGeom>
          <a:noFill/>
          <a:ln/>
        </p:spPr>
        <p:txBody>
          <a:bodyPr wrap="square" lIns="0" tIns="0" rIns="0" bIns="0" rtlCol="0" anchor="ctr"/>
          <a:lstStyle/>
          <a:p>
            <a:pPr indent="0" marL="0">
              <a:buNone/>
            </a:pPr>
            <a:r>
              <a:rPr lang="en-US" sz="1450" b="1" dirty="0">
                <a:solidFill>
                  <a:srgbClr val="1B2230"/>
                </a:solidFill>
                <a:latin typeface="Calibri" pitchFamily="34" charset="0"/>
                <a:ea typeface="Calibri" pitchFamily="34" charset="-122"/>
                <a:cs typeface="Calibri" pitchFamily="34" charset="-120"/>
              </a:rPr>
              <a:t>Cita normas derogadas</a:t>
            </a:r>
            <a:endParaRPr lang="en-US" sz="1450" dirty="0"/>
          </a:p>
        </p:txBody>
      </p:sp>
      <p:sp>
        <p:nvSpPr>
          <p:cNvPr id="13" name="Text 11"/>
          <p:cNvSpPr/>
          <p:nvPr/>
        </p:nvSpPr>
        <p:spPr>
          <a:xfrm>
            <a:off x="1618488" y="3867912"/>
            <a:ext cx="4937760" cy="621792"/>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Recuerda la versión que leyó, no la vigente. En derecho eso no es un matiz: cambia el resultado.</a:t>
            </a:r>
            <a:endParaRPr lang="en-US" sz="1150" dirty="0"/>
          </a:p>
        </p:txBody>
      </p:sp>
      <p:sp>
        <p:nvSpPr>
          <p:cNvPr id="14" name="Shape 12"/>
          <p:cNvSpPr/>
          <p:nvPr/>
        </p:nvSpPr>
        <p:spPr>
          <a:xfrm>
            <a:off x="777240" y="4828032"/>
            <a:ext cx="5989320" cy="1243584"/>
          </a:xfrm>
          <a:prstGeom prst="roundRect">
            <a:avLst>
              <a:gd name="adj" fmla="val 4412"/>
            </a:avLst>
          </a:prstGeom>
          <a:solidFill>
            <a:srgbClr val="FFFFFF"/>
          </a:solidFill>
          <a:ln w="9525">
            <a:solidFill>
              <a:srgbClr val="E3DED3"/>
            </a:solidFill>
            <a:prstDash val="solid"/>
          </a:ln>
        </p:spPr>
      </p:sp>
      <p:sp>
        <p:nvSpPr>
          <p:cNvPr id="15" name="Shape 13"/>
          <p:cNvSpPr/>
          <p:nvPr/>
        </p:nvSpPr>
        <p:spPr>
          <a:xfrm>
            <a:off x="1069848" y="5084064"/>
            <a:ext cx="384048" cy="384048"/>
          </a:xfrm>
          <a:prstGeom prst="ellipse">
            <a:avLst/>
          </a:prstGeom>
          <a:solidFill>
            <a:srgbClr val="6B2C33"/>
          </a:solidFill>
          <a:ln/>
        </p:spPr>
      </p:sp>
      <p:sp>
        <p:nvSpPr>
          <p:cNvPr id="16" name="Text 14"/>
          <p:cNvSpPr/>
          <p:nvPr/>
        </p:nvSpPr>
        <p:spPr>
          <a:xfrm>
            <a:off x="1069848" y="50840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618488" y="5010912"/>
            <a:ext cx="4937760" cy="292608"/>
          </a:xfrm>
          <a:prstGeom prst="rect">
            <a:avLst/>
          </a:prstGeom>
          <a:noFill/>
          <a:ln/>
        </p:spPr>
        <p:txBody>
          <a:bodyPr wrap="square" lIns="0" tIns="0" rIns="0" bIns="0" rtlCol="0" anchor="ctr"/>
          <a:lstStyle/>
          <a:p>
            <a:pPr indent="0" marL="0">
              <a:buNone/>
            </a:pPr>
            <a:r>
              <a:rPr lang="en-US" sz="1450" b="1" dirty="0">
                <a:solidFill>
                  <a:srgbClr val="1B2230"/>
                </a:solidFill>
                <a:latin typeface="Calibri" pitchFamily="34" charset="0"/>
                <a:ea typeface="Calibri" pitchFamily="34" charset="-122"/>
                <a:cs typeface="Calibri" pitchFamily="34" charset="-120"/>
              </a:rPr>
              <a:t>No sabe lo que no sabe</a:t>
            </a:r>
            <a:endParaRPr lang="en-US" sz="1450" dirty="0"/>
          </a:p>
        </p:txBody>
      </p:sp>
      <p:sp>
        <p:nvSpPr>
          <p:cNvPr id="18" name="Text 16"/>
          <p:cNvSpPr/>
          <p:nvPr/>
        </p:nvSpPr>
        <p:spPr>
          <a:xfrm>
            <a:off x="1618488" y="5330952"/>
            <a:ext cx="4937760" cy="621792"/>
          </a:xfrm>
          <a:prstGeom prst="rect">
            <a:avLst/>
          </a:prstGeom>
          <a:noFill/>
          <a:ln/>
        </p:spPr>
        <p:txBody>
          <a:bodyPr wrap="square" lIns="0" tIns="0" rIns="0" bIns="0" rtlCol="0" anchor="t"/>
          <a:lstStyle/>
          <a:p>
            <a:pPr indent="0" marL="0">
              <a:buNone/>
            </a:pPr>
            <a:r>
              <a:rPr lang="en-US" sz="1150" dirty="0">
                <a:solidFill>
                  <a:srgbClr val="5A6478"/>
                </a:solidFill>
                <a:latin typeface="Calibri" pitchFamily="34" charset="0"/>
                <a:ea typeface="Calibri" pitchFamily="34" charset="-122"/>
                <a:cs typeface="Calibri" pitchFamily="34" charset="-120"/>
              </a:rPr>
              <a:t>Ante un vacío, completa. Y el relleno es indistinguible del dato bueno.</a:t>
            </a:r>
            <a:endParaRPr lang="en-US" sz="1150" dirty="0"/>
          </a:p>
        </p:txBody>
      </p:sp>
      <p:sp>
        <p:nvSpPr>
          <p:cNvPr id="19" name="Shape 17"/>
          <p:cNvSpPr/>
          <p:nvPr/>
        </p:nvSpPr>
        <p:spPr>
          <a:xfrm>
            <a:off x="7315200" y="1901952"/>
            <a:ext cx="4096512" cy="3950208"/>
          </a:xfrm>
          <a:prstGeom prst="roundRect">
            <a:avLst>
              <a:gd name="adj" fmla="val 1389"/>
            </a:avLst>
          </a:prstGeom>
          <a:solidFill>
            <a:srgbClr val="1B2230"/>
          </a:solidFill>
          <a:ln/>
        </p:spPr>
      </p:sp>
      <p:sp>
        <p:nvSpPr>
          <p:cNvPr id="20" name="Text 18"/>
          <p:cNvSpPr/>
          <p:nvPr/>
        </p:nvSpPr>
        <p:spPr>
          <a:xfrm>
            <a:off x="7699248" y="2286000"/>
            <a:ext cx="3383280" cy="274320"/>
          </a:xfrm>
          <a:prstGeom prst="rect">
            <a:avLst/>
          </a:prstGeom>
          <a:noFill/>
          <a:ln/>
        </p:spPr>
        <p:txBody>
          <a:bodyPr wrap="square" lIns="0" tIns="0" rIns="0" bIns="0" rtlCol="0" anchor="ctr"/>
          <a:lstStyle/>
          <a:p>
            <a:pPr indent="0" marL="0">
              <a:buNone/>
            </a:pPr>
            <a:r>
              <a:rPr lang="en-US" sz="1100" spc="150" kern="0" dirty="0">
                <a:solidFill>
                  <a:srgbClr val="C9A574"/>
                </a:solidFill>
                <a:latin typeface="Calibri" pitchFamily="34" charset="0"/>
                <a:ea typeface="Calibri" pitchFamily="34" charset="-122"/>
                <a:cs typeface="Calibri" pitchFamily="34" charset="-120"/>
              </a:rPr>
              <a:t>El principio</a:t>
            </a:r>
            <a:endParaRPr lang="en-US" sz="1100" dirty="0"/>
          </a:p>
        </p:txBody>
      </p:sp>
      <p:sp>
        <p:nvSpPr>
          <p:cNvPr id="21" name="Text 19"/>
          <p:cNvSpPr/>
          <p:nvPr/>
        </p:nvSpPr>
        <p:spPr>
          <a:xfrm>
            <a:off x="7699248" y="2670048"/>
            <a:ext cx="3383280" cy="914400"/>
          </a:xfrm>
          <a:prstGeom prst="rect">
            <a:avLst/>
          </a:prstGeom>
          <a:noFill/>
          <a:ln/>
        </p:spPr>
        <p:txBody>
          <a:bodyPr wrap="square" lIns="0" tIns="0" rIns="0" bIns="0" rtlCol="0" anchor="ctr"/>
          <a:lstStyle/>
          <a:p>
            <a:pPr indent="0" marL="0">
              <a:buNone/>
            </a:pPr>
            <a:r>
              <a:rPr lang="en-US" sz="1900" dirty="0">
                <a:solidFill>
                  <a:srgbClr val="FFFFFF"/>
                </a:solidFill>
                <a:latin typeface="Cambria" pitchFamily="34" charset="0"/>
                <a:ea typeface="Cambria" pitchFamily="34" charset="-122"/>
                <a:cs typeface="Cambria" pitchFamily="34" charset="-120"/>
              </a:rPr>
              <a:t>Responsa no busca que Claude sepa derecho chileno.</a:t>
            </a:r>
            <a:endParaRPr lang="en-US" sz="1900" dirty="0"/>
          </a:p>
        </p:txBody>
      </p:sp>
      <p:sp>
        <p:nvSpPr>
          <p:cNvPr id="22" name="Text 20"/>
          <p:cNvSpPr/>
          <p:nvPr/>
        </p:nvSpPr>
        <p:spPr>
          <a:xfrm>
            <a:off x="7699248" y="3639312"/>
            <a:ext cx="3383280" cy="777240"/>
          </a:xfrm>
          <a:prstGeom prst="rect">
            <a:avLst/>
          </a:prstGeom>
          <a:noFill/>
          <a:ln/>
        </p:spPr>
        <p:txBody>
          <a:bodyPr wrap="square" lIns="0" tIns="0" rIns="0" bIns="0" rtlCol="0" anchor="ctr"/>
          <a:lstStyle/>
          <a:p>
            <a:pPr indent="0" marL="0">
              <a:buNone/>
            </a:pPr>
            <a:r>
              <a:rPr lang="en-US" sz="2100" b="1" dirty="0">
                <a:solidFill>
                  <a:srgbClr val="C9A574"/>
                </a:solidFill>
                <a:latin typeface="Cambria" pitchFamily="34" charset="0"/>
                <a:ea typeface="Cambria" pitchFamily="34" charset="-122"/>
                <a:cs typeface="Cambria" pitchFamily="34" charset="-120"/>
              </a:rPr>
              <a:t>Busca que no pueda inventarlo.</a:t>
            </a:r>
            <a:endParaRPr lang="en-US" sz="2100" dirty="0"/>
          </a:p>
        </p:txBody>
      </p:sp>
      <p:sp>
        <p:nvSpPr>
          <p:cNvPr id="23" name="Text 21"/>
          <p:cNvSpPr/>
          <p:nvPr/>
        </p:nvSpPr>
        <p:spPr>
          <a:xfrm>
            <a:off x="7699248" y="4572000"/>
            <a:ext cx="3383280" cy="1051560"/>
          </a:xfrm>
          <a:prstGeom prst="rect">
            <a:avLst/>
          </a:prstGeom>
          <a:noFill/>
          <a:ln/>
        </p:spPr>
        <p:txBody>
          <a:bodyPr wrap="square" lIns="0" tIns="0" rIns="0" bIns="0" rtlCol="0" anchor="ctr"/>
          <a:lstStyle/>
          <a:p>
            <a:pPr indent="0" marL="0">
              <a:buNone/>
            </a:pPr>
            <a:r>
              <a:rPr lang="en-US" sz="1100" dirty="0">
                <a:solidFill>
                  <a:srgbClr val="8A93A5"/>
                </a:solidFill>
                <a:latin typeface="Calibri" pitchFamily="34" charset="0"/>
                <a:ea typeface="Calibri" pitchFamily="34" charset="-122"/>
                <a:cs typeface="Calibri" pitchFamily="34" charset="-120"/>
              </a:rPr>
              <a:t>Cada afirmación queda anclada a un fallo con rol y enlace, a un artículo con su texto oficial o a un dictamen con su número. Lo que no se pudo verificar, se declara.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230"/>
        </a:solidFill>
      </p:bgPr>
    </p:bg>
    <p:spTree>
      <p:nvGrpSpPr>
        <p:cNvPr id="1" name=""/>
        <p:cNvGrpSpPr/>
        <p:nvPr/>
      </p:nvGrpSpPr>
      <p:grpSpPr>
        <a:xfrm>
          <a:off x="0" y="0"/>
          <a:ext cx="0" cy="0"/>
          <a:chOff x="0" y="0"/>
          <a:chExt cx="0" cy="0"/>
        </a:xfrm>
      </p:grpSpPr>
      <p:sp>
        <p:nvSpPr>
          <p:cNvPr id="2" name="Text 0"/>
          <p:cNvSpPr/>
          <p:nvPr/>
        </p:nvSpPr>
        <p:spPr>
          <a:xfrm>
            <a:off x="777240" y="640080"/>
            <a:ext cx="54864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El nombre</a:t>
            </a:r>
            <a:endParaRPr lang="en-US" sz="3200" dirty="0"/>
          </a:p>
        </p:txBody>
      </p:sp>
      <p:sp>
        <p:nvSpPr>
          <p:cNvPr id="3" name="Text 1"/>
          <p:cNvSpPr/>
          <p:nvPr/>
        </p:nvSpPr>
        <p:spPr>
          <a:xfrm>
            <a:off x="777240" y="1572768"/>
            <a:ext cx="6583680" cy="603504"/>
          </a:xfrm>
          <a:prstGeom prst="rect">
            <a:avLst/>
          </a:prstGeom>
          <a:noFill/>
          <a:ln/>
        </p:spPr>
        <p:txBody>
          <a:bodyPr wrap="square" lIns="0" tIns="0" rIns="0" bIns="0" rtlCol="0" anchor="ctr"/>
          <a:lstStyle/>
          <a:p>
            <a:pPr indent="0" marL="0">
              <a:buNone/>
            </a:pPr>
            <a:r>
              <a:rPr lang="en-US" sz="4000" i="1" dirty="0">
                <a:solidFill>
                  <a:srgbClr val="C9A574"/>
                </a:solidFill>
                <a:latin typeface="Cambria" pitchFamily="34" charset="0"/>
                <a:ea typeface="Cambria" pitchFamily="34" charset="-122"/>
                <a:cs typeface="Cambria" pitchFamily="34" charset="-120"/>
              </a:rPr>
              <a:t>responsa prudentium</a:t>
            </a:r>
            <a:endParaRPr lang="en-US" sz="4000" dirty="0"/>
          </a:p>
        </p:txBody>
      </p:sp>
      <p:sp>
        <p:nvSpPr>
          <p:cNvPr id="4" name="Text 2"/>
          <p:cNvSpPr/>
          <p:nvPr/>
        </p:nvSpPr>
        <p:spPr>
          <a:xfrm>
            <a:off x="777240" y="2340864"/>
            <a:ext cx="6035040" cy="1097280"/>
          </a:xfrm>
          <a:prstGeom prst="rect">
            <a:avLst/>
          </a:prstGeom>
          <a:noFill/>
          <a:ln/>
        </p:spPr>
        <p:txBody>
          <a:bodyPr wrap="square" lIns="0" tIns="0" rIns="0" bIns="0"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En Roma, las respuestas fundadas que los juristas daban a consultas concretas. Su fuerza no venía del cargo que ocupaban, sino de la autoridad de quien respondía y de las fuentes que invocaba.</a:t>
            </a:r>
            <a:endParaRPr lang="en-US" sz="1450" dirty="0"/>
          </a:p>
        </p:txBody>
      </p:sp>
      <p:sp>
        <p:nvSpPr>
          <p:cNvPr id="5" name="Text 3"/>
          <p:cNvSpPr/>
          <p:nvPr/>
        </p:nvSpPr>
        <p:spPr>
          <a:xfrm>
            <a:off x="777240" y="3584448"/>
            <a:ext cx="6035040" cy="822960"/>
          </a:xfrm>
          <a:prstGeom prst="rect">
            <a:avLst/>
          </a:prstGeom>
          <a:noFill/>
          <a:ln/>
        </p:spPr>
        <p:txBody>
          <a:bodyPr wrap="square" lIns="0" tIns="0" rIns="0" bIns="0" rtlCol="0" anchor="t"/>
          <a:lstStyle/>
          <a:p>
            <a:pPr indent="0" marL="0">
              <a:buNone/>
            </a:pPr>
            <a:r>
              <a:rPr lang="en-US" sz="1300" i="1" dirty="0">
                <a:solidFill>
                  <a:srgbClr val="8A93A5"/>
                </a:solidFill>
                <a:latin typeface="Calibri" pitchFamily="34" charset="0"/>
                <a:ea typeface="Calibri" pitchFamily="34" charset="-122"/>
                <a:cs typeface="Calibri" pitchFamily="34" charset="-120"/>
              </a:rPr>
              <a:t>Un responsum sin fundamento no valía nada. Con fundamento, obligaba. Es exactamente la distinción que hace esta herramienta.</a:t>
            </a:r>
            <a:endParaRPr lang="en-US" sz="1300" dirty="0"/>
          </a:p>
        </p:txBody>
      </p:sp>
      <p:sp>
        <p:nvSpPr>
          <p:cNvPr id="6" name="Text 4"/>
          <p:cNvSpPr/>
          <p:nvPr/>
        </p:nvSpPr>
        <p:spPr>
          <a:xfrm>
            <a:off x="777240" y="4553712"/>
            <a:ext cx="603504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Una respuesta sin fuente es una opinión.</a:t>
            </a:r>
            <a:endParaRPr lang="en-US" sz="2400" dirty="0"/>
          </a:p>
        </p:txBody>
      </p:sp>
      <p:sp>
        <p:nvSpPr>
          <p:cNvPr id="7" name="Text 5"/>
          <p:cNvSpPr/>
          <p:nvPr/>
        </p:nvSpPr>
        <p:spPr>
          <a:xfrm>
            <a:off x="777240" y="5029200"/>
            <a:ext cx="6035040" cy="457200"/>
          </a:xfrm>
          <a:prstGeom prst="rect">
            <a:avLst/>
          </a:prstGeom>
          <a:noFill/>
          <a:ln/>
        </p:spPr>
        <p:txBody>
          <a:bodyPr wrap="square" lIns="0" tIns="0" rIns="0" bIns="0" rtlCol="0" anchor="t"/>
          <a:lstStyle/>
          <a:p>
            <a:pPr indent="0" marL="0">
              <a:buNone/>
            </a:pPr>
            <a:r>
              <a:rPr lang="en-US" sz="2400" b="1" dirty="0">
                <a:solidFill>
                  <a:srgbClr val="C9A574"/>
                </a:solidFill>
                <a:latin typeface="Cambria" pitchFamily="34" charset="0"/>
                <a:ea typeface="Cambria" pitchFamily="34" charset="-122"/>
                <a:cs typeface="Cambria" pitchFamily="34" charset="-120"/>
              </a:rPr>
              <a:t>Con fuente, es un fundamento.</a:t>
            </a:r>
            <a:endParaRPr lang="en-US" sz="2400" dirty="0"/>
          </a:p>
        </p:txBody>
      </p:sp>
      <p:sp>
        <p:nvSpPr>
          <p:cNvPr id="8" name="Shape 6"/>
          <p:cNvSpPr/>
          <p:nvPr/>
        </p:nvSpPr>
        <p:spPr>
          <a:xfrm>
            <a:off x="7406640" y="1572768"/>
            <a:ext cx="4005072" cy="3931920"/>
          </a:xfrm>
          <a:prstGeom prst="roundRect">
            <a:avLst>
              <a:gd name="adj" fmla="val 1395"/>
            </a:avLst>
          </a:prstGeom>
          <a:solidFill>
            <a:srgbClr val="2A3446"/>
          </a:solidFill>
          <a:ln/>
        </p:spPr>
      </p:sp>
      <p:sp>
        <p:nvSpPr>
          <p:cNvPr id="9" name="Text 7"/>
          <p:cNvSpPr/>
          <p:nvPr/>
        </p:nvSpPr>
        <p:spPr>
          <a:xfrm>
            <a:off x="7772400" y="1883664"/>
            <a:ext cx="3291840" cy="274320"/>
          </a:xfrm>
          <a:prstGeom prst="rect">
            <a:avLst/>
          </a:prstGeom>
          <a:noFill/>
          <a:ln/>
        </p:spPr>
        <p:txBody>
          <a:bodyPr wrap="square" lIns="0" tIns="0" rIns="0" bIns="0" rtlCol="0" anchor="ctr"/>
          <a:lstStyle/>
          <a:p>
            <a:pPr indent="0" marL="0">
              <a:buNone/>
            </a:pPr>
            <a:r>
              <a:rPr lang="en-US" sz="1100" spc="150" kern="0" dirty="0">
                <a:solidFill>
                  <a:srgbClr val="C9A574"/>
                </a:solidFill>
                <a:latin typeface="Calibri" pitchFamily="34" charset="0"/>
                <a:ea typeface="Calibri" pitchFamily="34" charset="-122"/>
                <a:cs typeface="Calibri" pitchFamily="34" charset="-120"/>
              </a:rPr>
              <a:t>Qué era un responsum</a:t>
            </a:r>
            <a:endParaRPr lang="en-US" sz="1100" dirty="0"/>
          </a:p>
        </p:txBody>
      </p:sp>
      <p:sp>
        <p:nvSpPr>
          <p:cNvPr id="10" name="Text 8"/>
          <p:cNvSpPr/>
          <p:nvPr/>
        </p:nvSpPr>
        <p:spPr>
          <a:xfrm>
            <a:off x="7772400" y="2304288"/>
            <a:ext cx="3291840" cy="25603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Sobre un caso concreto</a:t>
            </a:r>
            <a:endParaRPr lang="en-US" sz="1400" dirty="0"/>
          </a:p>
        </p:txBody>
      </p:sp>
      <p:sp>
        <p:nvSpPr>
          <p:cNvPr id="11" name="Text 9"/>
          <p:cNvSpPr/>
          <p:nvPr/>
        </p:nvSpPr>
        <p:spPr>
          <a:xfrm>
            <a:off x="7772400" y="2569464"/>
            <a:ext cx="3291840" cy="457200"/>
          </a:xfrm>
          <a:prstGeom prst="rect">
            <a:avLst/>
          </a:prstGeom>
          <a:noFill/>
          <a:ln/>
        </p:spPr>
        <p:txBody>
          <a:bodyPr wrap="square" lIns="0" tIns="0" rIns="0" bIns="0" rtlCol="0" anchor="t"/>
          <a:lstStyle/>
          <a:p>
            <a:pPr indent="0" marL="0">
              <a:lnSpc>
                <a:spcPct val="100000"/>
              </a:lnSpc>
              <a:buNone/>
            </a:pPr>
            <a:r>
              <a:rPr lang="en-US" sz="950" dirty="0">
                <a:solidFill>
                  <a:srgbClr val="8A93A5"/>
                </a:solidFill>
                <a:latin typeface="Calibri" pitchFamily="34" charset="0"/>
                <a:ea typeface="Calibri" pitchFamily="34" charset="-122"/>
                <a:cs typeface="Calibri" pitchFamily="34" charset="-120"/>
              </a:rPr>
              <a:t>No una disertación abstracta: la respuesta a la consulta que alguien traía.</a:t>
            </a:r>
            <a:endParaRPr lang="en-US" sz="950" dirty="0"/>
          </a:p>
        </p:txBody>
      </p:sp>
      <p:sp>
        <p:nvSpPr>
          <p:cNvPr id="12" name="Text 10"/>
          <p:cNvSpPr/>
          <p:nvPr/>
        </p:nvSpPr>
        <p:spPr>
          <a:xfrm>
            <a:off x="7772400" y="3026664"/>
            <a:ext cx="3291840" cy="274320"/>
          </a:xfrm>
          <a:prstGeom prst="rect">
            <a:avLst/>
          </a:prstGeom>
          <a:noFill/>
          <a:ln/>
        </p:spPr>
        <p:txBody>
          <a:bodyPr wrap="square" lIns="0" tIns="0" rIns="0" bIns="0" rtlCol="0" anchor="t"/>
          <a:lstStyle/>
          <a:p>
            <a:pPr indent="0" marL="0">
              <a:lnSpc>
                <a:spcPct val="95000"/>
              </a:lnSpc>
              <a:buNone/>
            </a:pPr>
            <a:r>
              <a:rPr lang="en-US" sz="900" b="1" dirty="0">
                <a:solidFill>
                  <a:srgbClr val="A87C4F"/>
                </a:solidFill>
                <a:latin typeface="Calibri" pitchFamily="34" charset="0"/>
                <a:ea typeface="Calibri" pitchFamily="34" charset="-122"/>
                <a:cs typeface="Calibri" pitchFamily="34" charset="-120"/>
              </a:rPr>
              <a:t>Aquí: se pregunta en lenguaje natural, por un problema real</a:t>
            </a:r>
            <a:endParaRPr lang="en-US" sz="900" dirty="0"/>
          </a:p>
        </p:txBody>
      </p:sp>
      <p:sp>
        <p:nvSpPr>
          <p:cNvPr id="13" name="Text 11"/>
          <p:cNvSpPr/>
          <p:nvPr/>
        </p:nvSpPr>
        <p:spPr>
          <a:xfrm>
            <a:off x="7772400" y="3383280"/>
            <a:ext cx="3291840" cy="25603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Con las fuentes a la vista</a:t>
            </a:r>
            <a:endParaRPr lang="en-US" sz="1400" dirty="0"/>
          </a:p>
        </p:txBody>
      </p:sp>
      <p:sp>
        <p:nvSpPr>
          <p:cNvPr id="14" name="Text 12"/>
          <p:cNvSpPr/>
          <p:nvPr/>
        </p:nvSpPr>
        <p:spPr>
          <a:xfrm>
            <a:off x="7772400" y="3648456"/>
            <a:ext cx="3291840" cy="457200"/>
          </a:xfrm>
          <a:prstGeom prst="rect">
            <a:avLst/>
          </a:prstGeom>
          <a:noFill/>
          <a:ln/>
        </p:spPr>
        <p:txBody>
          <a:bodyPr wrap="square" lIns="0" tIns="0" rIns="0" bIns="0" rtlCol="0" anchor="t"/>
          <a:lstStyle/>
          <a:p>
            <a:pPr indent="0" marL="0">
              <a:lnSpc>
                <a:spcPct val="100000"/>
              </a:lnSpc>
              <a:buNone/>
            </a:pPr>
            <a:r>
              <a:rPr lang="en-US" sz="950" dirty="0">
                <a:solidFill>
                  <a:srgbClr val="8A93A5"/>
                </a:solidFill>
                <a:latin typeface="Calibri" pitchFamily="34" charset="0"/>
                <a:ea typeface="Calibri" pitchFamily="34" charset="-122"/>
                <a:cs typeface="Calibri" pitchFamily="34" charset="-120"/>
              </a:rPr>
              <a:t>El jurista mostraba en qué se apoyaba. Quien recibía la respuesta podía comprobarla.</a:t>
            </a:r>
            <a:endParaRPr lang="en-US" sz="950" dirty="0"/>
          </a:p>
        </p:txBody>
      </p:sp>
      <p:sp>
        <p:nvSpPr>
          <p:cNvPr id="15" name="Text 13"/>
          <p:cNvSpPr/>
          <p:nvPr/>
        </p:nvSpPr>
        <p:spPr>
          <a:xfrm>
            <a:off x="7772400" y="4105656"/>
            <a:ext cx="3291840" cy="274320"/>
          </a:xfrm>
          <a:prstGeom prst="rect">
            <a:avLst/>
          </a:prstGeom>
          <a:noFill/>
          <a:ln/>
        </p:spPr>
        <p:txBody>
          <a:bodyPr wrap="square" lIns="0" tIns="0" rIns="0" bIns="0" rtlCol="0" anchor="t"/>
          <a:lstStyle/>
          <a:p>
            <a:pPr indent="0" marL="0">
              <a:lnSpc>
                <a:spcPct val="95000"/>
              </a:lnSpc>
              <a:buNone/>
            </a:pPr>
            <a:r>
              <a:rPr lang="en-US" sz="900" b="1" dirty="0">
                <a:solidFill>
                  <a:srgbClr val="A87C4F"/>
                </a:solidFill>
                <a:latin typeface="Calibri" pitchFamily="34" charset="0"/>
                <a:ea typeface="Calibri" pitchFamily="34" charset="-122"/>
                <a:cs typeface="Calibri" pitchFamily="34" charset="-120"/>
              </a:rPr>
              <a:t>Aquí: rol, tribunal, fecha y enlace en cada cita</a:t>
            </a:r>
            <a:endParaRPr lang="en-US" sz="900" dirty="0"/>
          </a:p>
        </p:txBody>
      </p:sp>
      <p:sp>
        <p:nvSpPr>
          <p:cNvPr id="16" name="Text 14"/>
          <p:cNvSpPr/>
          <p:nvPr/>
        </p:nvSpPr>
        <p:spPr>
          <a:xfrm>
            <a:off x="7772400" y="4462272"/>
            <a:ext cx="3291840" cy="25603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Valía por su fundamento</a:t>
            </a:r>
            <a:endParaRPr lang="en-US" sz="1400" dirty="0"/>
          </a:p>
        </p:txBody>
      </p:sp>
      <p:sp>
        <p:nvSpPr>
          <p:cNvPr id="17" name="Text 15"/>
          <p:cNvSpPr/>
          <p:nvPr/>
        </p:nvSpPr>
        <p:spPr>
          <a:xfrm>
            <a:off x="7772400" y="4727448"/>
            <a:ext cx="3291840" cy="457200"/>
          </a:xfrm>
          <a:prstGeom prst="rect">
            <a:avLst/>
          </a:prstGeom>
          <a:noFill/>
          <a:ln/>
        </p:spPr>
        <p:txBody>
          <a:bodyPr wrap="square" lIns="0" tIns="0" rIns="0" bIns="0" rtlCol="0" anchor="t"/>
          <a:lstStyle/>
          <a:p>
            <a:pPr indent="0" marL="0">
              <a:lnSpc>
                <a:spcPct val="100000"/>
              </a:lnSpc>
              <a:buNone/>
            </a:pPr>
            <a:r>
              <a:rPr lang="en-US" sz="950" dirty="0">
                <a:solidFill>
                  <a:srgbClr val="8A93A5"/>
                </a:solidFill>
                <a:latin typeface="Calibri" pitchFamily="34" charset="0"/>
                <a:ea typeface="Calibri" pitchFamily="34" charset="-122"/>
                <a:cs typeface="Calibri" pitchFamily="34" charset="-120"/>
              </a:rPr>
              <a:t>No por el cargo de quien respondía. Sin respaldo, no valía nada.</a:t>
            </a:r>
            <a:endParaRPr lang="en-US" sz="950" dirty="0"/>
          </a:p>
        </p:txBody>
      </p:sp>
      <p:sp>
        <p:nvSpPr>
          <p:cNvPr id="18" name="Text 16"/>
          <p:cNvSpPr/>
          <p:nvPr/>
        </p:nvSpPr>
        <p:spPr>
          <a:xfrm>
            <a:off x="7772400" y="5184648"/>
            <a:ext cx="3291840" cy="274320"/>
          </a:xfrm>
          <a:prstGeom prst="rect">
            <a:avLst/>
          </a:prstGeom>
          <a:noFill/>
          <a:ln/>
        </p:spPr>
        <p:txBody>
          <a:bodyPr wrap="square" lIns="0" tIns="0" rIns="0" bIns="0" rtlCol="0" anchor="t"/>
          <a:lstStyle/>
          <a:p>
            <a:pPr indent="0" marL="0">
              <a:lnSpc>
                <a:spcPct val="95000"/>
              </a:lnSpc>
              <a:buNone/>
            </a:pPr>
            <a:r>
              <a:rPr lang="en-US" sz="900" b="1" dirty="0">
                <a:solidFill>
                  <a:srgbClr val="A87C4F"/>
                </a:solidFill>
                <a:latin typeface="Calibri" pitchFamily="34" charset="0"/>
                <a:ea typeface="Calibri" pitchFamily="34" charset="-122"/>
                <a:cs typeface="Calibri" pitchFamily="34" charset="-120"/>
              </a:rPr>
              <a:t>Aquí: lo que no se pudo verificar, se declara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Diez fuentes, todas oficiales y gratuitas</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Ninguna base de suscripción: la herramienta se puede compartir sin comprometer licencias</a:t>
            </a:r>
            <a:endParaRPr lang="en-US" sz="1350" dirty="0"/>
          </a:p>
        </p:txBody>
      </p:sp>
      <p:sp>
        <p:nvSpPr>
          <p:cNvPr id="4" name="Shape 2"/>
          <p:cNvSpPr/>
          <p:nvPr/>
        </p:nvSpPr>
        <p:spPr>
          <a:xfrm>
            <a:off x="777240" y="1883664"/>
            <a:ext cx="310896" cy="310896"/>
          </a:xfrm>
          <a:prstGeom prst="ellipse">
            <a:avLst/>
          </a:prstGeom>
          <a:solidFill>
            <a:srgbClr val="A87C4F"/>
          </a:solidFill>
          <a:ln/>
        </p:spPr>
      </p:sp>
      <p:sp>
        <p:nvSpPr>
          <p:cNvPr id="5" name="Text 3"/>
          <p:cNvSpPr/>
          <p:nvPr/>
        </p:nvSpPr>
        <p:spPr>
          <a:xfrm>
            <a:off x="777240" y="1883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234440" y="1828800"/>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Poder Judicial</a:t>
            </a:r>
            <a:endParaRPr lang="en-US" sz="1300" dirty="0"/>
          </a:p>
        </p:txBody>
      </p:sp>
      <p:sp>
        <p:nvSpPr>
          <p:cNvPr id="7" name="Text 5"/>
          <p:cNvSpPr/>
          <p:nvPr/>
        </p:nvSpPr>
        <p:spPr>
          <a:xfrm>
            <a:off x="1234440" y="2084832"/>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Siete buscadores: Corte Suprema, Cortes de</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Apelaciones, Laboral, Penal, Familia,</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Cobranza y Civil</a:t>
            </a:r>
            <a:endParaRPr lang="en-US" sz="950" dirty="0"/>
          </a:p>
        </p:txBody>
      </p:sp>
      <p:sp>
        <p:nvSpPr>
          <p:cNvPr id="8" name="Shape 6"/>
          <p:cNvSpPr/>
          <p:nvPr/>
        </p:nvSpPr>
        <p:spPr>
          <a:xfrm>
            <a:off x="6217920" y="1883664"/>
            <a:ext cx="310896" cy="310896"/>
          </a:xfrm>
          <a:prstGeom prst="ellipse">
            <a:avLst/>
          </a:prstGeom>
          <a:solidFill>
            <a:srgbClr val="A87C4F"/>
          </a:solidFill>
          <a:ln/>
        </p:spPr>
      </p:sp>
      <p:sp>
        <p:nvSpPr>
          <p:cNvPr id="9" name="Text 7"/>
          <p:cNvSpPr/>
          <p:nvPr/>
        </p:nvSpPr>
        <p:spPr>
          <a:xfrm>
            <a:off x="6217920" y="1883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6675120" y="1828800"/>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Tribunal Constitucional</a:t>
            </a:r>
            <a:endParaRPr lang="en-US" sz="1300" dirty="0"/>
          </a:p>
        </p:txBody>
      </p:sp>
      <p:sp>
        <p:nvSpPr>
          <p:cNvPr id="11" name="Text 9"/>
          <p:cNvSpPr/>
          <p:nvPr/>
        </p:nvSpPr>
        <p:spPr>
          <a:xfrm>
            <a:off x="6675120" y="2084832"/>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Sentencias a texto completo y fichas de</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jurisprudencia, con descarga del PDF</a:t>
            </a:r>
            <a:endParaRPr lang="en-US" sz="950" dirty="0"/>
          </a:p>
        </p:txBody>
      </p:sp>
      <p:sp>
        <p:nvSpPr>
          <p:cNvPr id="12" name="Shape 10"/>
          <p:cNvSpPr/>
          <p:nvPr/>
        </p:nvSpPr>
        <p:spPr>
          <a:xfrm>
            <a:off x="777240" y="2816352"/>
            <a:ext cx="310896" cy="310896"/>
          </a:xfrm>
          <a:prstGeom prst="ellipse">
            <a:avLst/>
          </a:prstGeom>
          <a:solidFill>
            <a:srgbClr val="A87C4F"/>
          </a:solidFill>
          <a:ln/>
        </p:spPr>
      </p:sp>
      <p:sp>
        <p:nvSpPr>
          <p:cNvPr id="13" name="Text 11"/>
          <p:cNvSpPr/>
          <p:nvPr/>
        </p:nvSpPr>
        <p:spPr>
          <a:xfrm>
            <a:off x="777240" y="28163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234440" y="2761488"/>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Contraloría</a:t>
            </a:r>
            <a:endParaRPr lang="en-US" sz="1300" dirty="0"/>
          </a:p>
        </p:txBody>
      </p:sp>
      <p:sp>
        <p:nvSpPr>
          <p:cNvPr id="15" name="Text 13"/>
          <p:cNvSpPr/>
          <p:nvPr/>
        </p:nvSpPr>
        <p:spPr>
          <a:xfrm>
            <a:off x="1234440" y="3017520"/>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6.910 dictámenes, con su estado de vigencia:</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si fue reconsiderado, ya no sirve para fundar</a:t>
            </a:r>
            <a:endParaRPr lang="en-US" sz="950" dirty="0"/>
          </a:p>
        </p:txBody>
      </p:sp>
      <p:sp>
        <p:nvSpPr>
          <p:cNvPr id="16" name="Shape 14"/>
          <p:cNvSpPr/>
          <p:nvPr/>
        </p:nvSpPr>
        <p:spPr>
          <a:xfrm>
            <a:off x="6217920" y="2816352"/>
            <a:ext cx="310896" cy="310896"/>
          </a:xfrm>
          <a:prstGeom prst="ellipse">
            <a:avLst/>
          </a:prstGeom>
          <a:solidFill>
            <a:srgbClr val="A87C4F"/>
          </a:solidFill>
          <a:ln/>
        </p:spPr>
      </p:sp>
      <p:sp>
        <p:nvSpPr>
          <p:cNvPr id="17" name="Text 15"/>
          <p:cNvSpPr/>
          <p:nvPr/>
        </p:nvSpPr>
        <p:spPr>
          <a:xfrm>
            <a:off x="6217920" y="28163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675120" y="2761488"/>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Dirección del Trabajo</a:t>
            </a:r>
            <a:endParaRPr lang="en-US" sz="1300" dirty="0"/>
          </a:p>
        </p:txBody>
      </p:sp>
      <p:sp>
        <p:nvSpPr>
          <p:cNvPr id="19" name="Text 17"/>
          <p:cNvSpPr/>
          <p:nvPr/>
        </p:nvSpPr>
        <p:spPr>
          <a:xfrm>
            <a:off x="6675120" y="3017520"/>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1.342 dictámenes indexados con sus</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descriptores; datos desde 2005</a:t>
            </a:r>
            <a:endParaRPr lang="en-US" sz="950" dirty="0"/>
          </a:p>
        </p:txBody>
      </p:sp>
      <p:sp>
        <p:nvSpPr>
          <p:cNvPr id="20" name="Shape 18"/>
          <p:cNvSpPr/>
          <p:nvPr/>
        </p:nvSpPr>
        <p:spPr>
          <a:xfrm>
            <a:off x="777240" y="3749040"/>
            <a:ext cx="310896" cy="310896"/>
          </a:xfrm>
          <a:prstGeom prst="ellipse">
            <a:avLst/>
          </a:prstGeom>
          <a:solidFill>
            <a:srgbClr val="A87C4F"/>
          </a:solidFill>
          <a:ln/>
        </p:spPr>
      </p:sp>
      <p:sp>
        <p:nvSpPr>
          <p:cNvPr id="21" name="Text 19"/>
          <p:cNvSpPr/>
          <p:nvPr/>
        </p:nvSpPr>
        <p:spPr>
          <a:xfrm>
            <a:off x="777240" y="3749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1234440" y="3694176"/>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CAM Santiago</a:t>
            </a:r>
            <a:endParaRPr lang="en-US" sz="1300" dirty="0"/>
          </a:p>
        </p:txBody>
      </p:sp>
      <p:sp>
        <p:nvSpPr>
          <p:cNvPr id="23" name="Text 21"/>
          <p:cNvSpPr/>
          <p:nvPr/>
        </p:nvSpPr>
        <p:spPr>
          <a:xfrm>
            <a:off x="1234440" y="3950208"/>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1.812 laudos arbitrales por materia y por</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árbitro, con enlace al PDF oficial</a:t>
            </a:r>
            <a:endParaRPr lang="en-US" sz="950" dirty="0"/>
          </a:p>
        </p:txBody>
      </p:sp>
      <p:sp>
        <p:nvSpPr>
          <p:cNvPr id="24" name="Shape 22"/>
          <p:cNvSpPr/>
          <p:nvPr/>
        </p:nvSpPr>
        <p:spPr>
          <a:xfrm>
            <a:off x="6217920" y="3749040"/>
            <a:ext cx="310896" cy="310896"/>
          </a:xfrm>
          <a:prstGeom prst="ellipse">
            <a:avLst/>
          </a:prstGeom>
          <a:solidFill>
            <a:srgbClr val="A87C4F"/>
          </a:solidFill>
          <a:ln/>
        </p:spPr>
      </p:sp>
      <p:sp>
        <p:nvSpPr>
          <p:cNvPr id="25" name="Text 23"/>
          <p:cNvSpPr/>
          <p:nvPr/>
        </p:nvSpPr>
        <p:spPr>
          <a:xfrm>
            <a:off x="6217920" y="3749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p:nvPr/>
        </p:nvSpPr>
        <p:spPr>
          <a:xfrm>
            <a:off x="6675120" y="3694176"/>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Ley Chile — BCN</a:t>
            </a:r>
            <a:endParaRPr lang="en-US" sz="1300" dirty="0"/>
          </a:p>
        </p:txBody>
      </p:sp>
      <p:sp>
        <p:nvSpPr>
          <p:cNvPr id="27" name="Text 25"/>
          <p:cNvSpPr/>
          <p:nvPr/>
        </p:nvSpPr>
        <p:spPr>
          <a:xfrm>
            <a:off x="6675120" y="3950208"/>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258.633 normas, con texto vigente por</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artículo y marca de derogación</a:t>
            </a:r>
            <a:endParaRPr lang="en-US" sz="950" dirty="0"/>
          </a:p>
        </p:txBody>
      </p:sp>
      <p:sp>
        <p:nvSpPr>
          <p:cNvPr id="28" name="Shape 26"/>
          <p:cNvSpPr/>
          <p:nvPr/>
        </p:nvSpPr>
        <p:spPr>
          <a:xfrm>
            <a:off x="777240" y="4681728"/>
            <a:ext cx="310896" cy="310896"/>
          </a:xfrm>
          <a:prstGeom prst="ellipse">
            <a:avLst/>
          </a:prstGeom>
          <a:solidFill>
            <a:srgbClr val="A87C4F"/>
          </a:solidFill>
          <a:ln/>
        </p:spPr>
      </p:sp>
      <p:sp>
        <p:nvSpPr>
          <p:cNvPr id="29" name="Text 27"/>
          <p:cNvSpPr/>
          <p:nvPr/>
        </p:nvSpPr>
        <p:spPr>
          <a:xfrm>
            <a:off x="777240" y="4681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p:nvPr/>
        </p:nvSpPr>
        <p:spPr>
          <a:xfrm>
            <a:off x="1234440" y="4626864"/>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Revistas jurídicas</a:t>
            </a:r>
            <a:endParaRPr lang="en-US" sz="1300" dirty="0"/>
          </a:p>
        </p:txBody>
      </p:sp>
      <p:sp>
        <p:nvSpPr>
          <p:cNvPr id="31" name="Text 29"/>
          <p:cNvSpPr/>
          <p:nvPr/>
        </p:nvSpPr>
        <p:spPr>
          <a:xfrm>
            <a:off x="1234440" y="4882896"/>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Nueve revistas chilenas indexadas, con DOI</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para citar</a:t>
            </a:r>
            <a:endParaRPr lang="en-US" sz="950" dirty="0"/>
          </a:p>
        </p:txBody>
      </p:sp>
      <p:sp>
        <p:nvSpPr>
          <p:cNvPr id="32" name="Shape 30"/>
          <p:cNvSpPr/>
          <p:nvPr/>
        </p:nvSpPr>
        <p:spPr>
          <a:xfrm>
            <a:off x="6217920" y="4681728"/>
            <a:ext cx="310896" cy="310896"/>
          </a:xfrm>
          <a:prstGeom prst="ellipse">
            <a:avLst/>
          </a:prstGeom>
          <a:solidFill>
            <a:srgbClr val="A87C4F"/>
          </a:solidFill>
          <a:ln/>
        </p:spPr>
      </p:sp>
      <p:sp>
        <p:nvSpPr>
          <p:cNvPr id="33" name="Text 31"/>
          <p:cNvSpPr/>
          <p:nvPr/>
        </p:nvSpPr>
        <p:spPr>
          <a:xfrm>
            <a:off x="6217920" y="4681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2"/>
          <p:cNvSpPr/>
          <p:nvPr/>
        </p:nvSpPr>
        <p:spPr>
          <a:xfrm>
            <a:off x="6675120" y="4626864"/>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Estadísticas del PJUD</a:t>
            </a:r>
            <a:endParaRPr lang="en-US" sz="1300" dirty="0"/>
          </a:p>
        </p:txBody>
      </p:sp>
      <p:sp>
        <p:nvSpPr>
          <p:cNvPr id="35" name="Text 33"/>
          <p:cNvSpPr/>
          <p:nvPr/>
        </p:nvSpPr>
        <p:spPr>
          <a:xfrm>
            <a:off x="6675120" y="4882896"/>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Duración real de las causas, ingresos y</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formas de término, desde 2015</a:t>
            </a:r>
            <a:endParaRPr lang="en-US" sz="950" dirty="0"/>
          </a:p>
        </p:txBody>
      </p:sp>
      <p:sp>
        <p:nvSpPr>
          <p:cNvPr id="36" name="Shape 34"/>
          <p:cNvSpPr/>
          <p:nvPr/>
        </p:nvSpPr>
        <p:spPr>
          <a:xfrm>
            <a:off x="777240" y="5614416"/>
            <a:ext cx="310896" cy="310896"/>
          </a:xfrm>
          <a:prstGeom prst="ellipse">
            <a:avLst/>
          </a:prstGeom>
          <a:solidFill>
            <a:srgbClr val="A87C4F"/>
          </a:solidFill>
          <a:ln/>
        </p:spPr>
      </p:sp>
      <p:sp>
        <p:nvSpPr>
          <p:cNvPr id="37" name="Text 35"/>
          <p:cNvSpPr/>
          <p:nvPr/>
        </p:nvSpPr>
        <p:spPr>
          <a:xfrm>
            <a:off x="777240" y="56144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8" name="Text 36"/>
          <p:cNvSpPr/>
          <p:nvPr/>
        </p:nvSpPr>
        <p:spPr>
          <a:xfrm>
            <a:off x="1234440" y="5559552"/>
            <a:ext cx="4663440" cy="256032"/>
          </a:xfrm>
          <a:prstGeom prst="rect">
            <a:avLst/>
          </a:prstGeom>
          <a:noFill/>
          <a:ln/>
        </p:spPr>
        <p:txBody>
          <a:bodyPr wrap="square" lIns="0" tIns="0" rIns="0" bIns="0" rtlCol="0" anchor="ctr"/>
          <a:lstStyle/>
          <a:p>
            <a:pPr indent="0" marL="0">
              <a:buNone/>
            </a:pPr>
            <a:r>
              <a:rPr lang="en-US" sz="1300" b="1" dirty="0">
                <a:solidFill>
                  <a:srgbClr val="1B2230"/>
                </a:solidFill>
                <a:latin typeface="Calibri" pitchFamily="34" charset="0"/>
                <a:ea typeface="Calibri" pitchFamily="34" charset="-122"/>
                <a:cs typeface="Calibri" pitchFamily="34" charset="-120"/>
              </a:rPr>
              <a:t>Banco Central y SII</a:t>
            </a:r>
            <a:endParaRPr lang="en-US" sz="1300" dirty="0"/>
          </a:p>
        </p:txBody>
      </p:sp>
      <p:sp>
        <p:nvSpPr>
          <p:cNvPr id="39" name="Text 37"/>
          <p:cNvSpPr/>
          <p:nvPr/>
        </p:nvSpPr>
        <p:spPr>
          <a:xfrm>
            <a:off x="1234440" y="5815584"/>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UF, UTM e IPC, del día o de una fecha pasada</a:t>
            </a:r>
            <a:endParaRPr lang="en-US" sz="950" dirty="0"/>
          </a:p>
        </p:txBody>
      </p:sp>
      <p:sp>
        <p:nvSpPr>
          <p:cNvPr id="40" name="Shape 38"/>
          <p:cNvSpPr/>
          <p:nvPr/>
        </p:nvSpPr>
        <p:spPr>
          <a:xfrm>
            <a:off x="6217920" y="5614416"/>
            <a:ext cx="310896" cy="310896"/>
          </a:xfrm>
          <a:prstGeom prst="ellipse">
            <a:avLst/>
          </a:prstGeom>
          <a:solidFill>
            <a:srgbClr val="8A93A5"/>
          </a:solidFill>
          <a:ln/>
        </p:spPr>
      </p:sp>
      <p:sp>
        <p:nvSpPr>
          <p:cNvPr id="41" name="Text 39"/>
          <p:cNvSpPr/>
          <p:nvPr/>
        </p:nvSpPr>
        <p:spPr>
          <a:xfrm>
            <a:off x="6217920" y="56144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2" name="Text 40"/>
          <p:cNvSpPr/>
          <p:nvPr/>
        </p:nvSpPr>
        <p:spPr>
          <a:xfrm>
            <a:off x="6675120" y="5559552"/>
            <a:ext cx="4663440" cy="256032"/>
          </a:xfrm>
          <a:prstGeom prst="rect">
            <a:avLst/>
          </a:prstGeom>
          <a:noFill/>
          <a:ln/>
        </p:spPr>
        <p:txBody>
          <a:bodyPr wrap="square" lIns="0" tIns="0" rIns="0" bIns="0" rtlCol="0" anchor="ctr"/>
          <a:lstStyle/>
          <a:p>
            <a:pPr indent="0" marL="0">
              <a:buNone/>
            </a:pPr>
            <a:r>
              <a:rPr lang="en-US" sz="1300" b="1" dirty="0">
                <a:solidFill>
                  <a:srgbClr val="5A6478"/>
                </a:solidFill>
                <a:latin typeface="Calibri" pitchFamily="34" charset="0"/>
                <a:ea typeface="Calibri" pitchFamily="34" charset="-122"/>
                <a:cs typeface="Calibri" pitchFamily="34" charset="-120"/>
              </a:rPr>
              <a:t>Oficina Judicial Virtual</a:t>
            </a:r>
            <a:endParaRPr lang="en-US" sz="1300" dirty="0"/>
          </a:p>
        </p:txBody>
      </p:sp>
      <p:sp>
        <p:nvSpPr>
          <p:cNvPr id="43" name="Text 41"/>
          <p:cNvSpPr/>
          <p:nvPr/>
        </p:nvSpPr>
        <p:spPr>
          <a:xfrm>
            <a:off x="6675120" y="5815584"/>
            <a:ext cx="4663440" cy="566928"/>
          </a:xfrm>
          <a:prstGeom prst="rect">
            <a:avLst/>
          </a:prstGeom>
          <a:noFill/>
          <a:ln/>
        </p:spPr>
        <p:txBody>
          <a:bodyPr wrap="square" lIns="0" tIns="0" rIns="0" bIns="0" rtlCol="0" anchor="ctr"/>
          <a:lstStyle/>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Enlace y pasos para consultar una causa</a:t>
            </a:r>
            <a:endParaRPr lang="en-US" sz="950" dirty="0"/>
          </a:p>
          <a:p>
            <a:pPr indent="0" marL="0">
              <a:lnSpc>
                <a:spcPct val="95000"/>
              </a:lnSpc>
              <a:buNone/>
            </a:pPr>
            <a:r>
              <a:rPr lang="en-US" sz="950" dirty="0">
                <a:solidFill>
                  <a:srgbClr val="5A6478"/>
                </a:solidFill>
                <a:latin typeface="Calibri" pitchFamily="34" charset="0"/>
                <a:ea typeface="Calibri" pitchFamily="34" charset="-122"/>
                <a:cs typeface="Calibri" pitchFamily="34" charset="-120"/>
              </a:rPr>
              <a:t>(no automatizado, ver más adelante)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Qué devuelve, exactamente</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Un fallo real, tal como llega desde el Poder Judicial</a:t>
            </a:r>
            <a:endParaRPr lang="en-US" sz="1350" dirty="0"/>
          </a:p>
        </p:txBody>
      </p:sp>
      <p:sp>
        <p:nvSpPr>
          <p:cNvPr id="4" name="Shape 2"/>
          <p:cNvSpPr/>
          <p:nvPr/>
        </p:nvSpPr>
        <p:spPr>
          <a:xfrm>
            <a:off x="777240" y="1847088"/>
            <a:ext cx="6858000" cy="3950208"/>
          </a:xfrm>
          <a:prstGeom prst="roundRect">
            <a:avLst>
              <a:gd name="adj" fmla="val 1389"/>
            </a:avLst>
          </a:prstGeom>
          <a:solidFill>
            <a:srgbClr val="FFFFFF"/>
          </a:solidFill>
          <a:ln w="9525">
            <a:solidFill>
              <a:srgbClr val="E3DED3"/>
            </a:solidFill>
            <a:prstDash val="solid"/>
          </a:ln>
        </p:spPr>
      </p:sp>
      <p:sp>
        <p:nvSpPr>
          <p:cNvPr id="5" name="Text 3"/>
          <p:cNvSpPr/>
          <p:nvPr/>
        </p:nvSpPr>
        <p:spPr>
          <a:xfrm>
            <a:off x="1088136" y="20482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Rol</a:t>
            </a:r>
            <a:endParaRPr lang="en-US" sz="1050" dirty="0"/>
          </a:p>
        </p:txBody>
      </p:sp>
      <p:sp>
        <p:nvSpPr>
          <p:cNvPr id="6" name="Text 4"/>
          <p:cNvSpPr/>
          <p:nvPr/>
        </p:nvSpPr>
        <p:spPr>
          <a:xfrm>
            <a:off x="2715768" y="20482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34.956-2026</a:t>
            </a:r>
            <a:endParaRPr lang="en-US" sz="1050" dirty="0"/>
          </a:p>
        </p:txBody>
      </p:sp>
      <p:sp>
        <p:nvSpPr>
          <p:cNvPr id="7" name="Text 5"/>
          <p:cNvSpPr/>
          <p:nvPr/>
        </p:nvSpPr>
        <p:spPr>
          <a:xfrm>
            <a:off x="1088136" y="23911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Tribunal</a:t>
            </a:r>
            <a:endParaRPr lang="en-US" sz="1050" dirty="0"/>
          </a:p>
        </p:txBody>
      </p:sp>
      <p:sp>
        <p:nvSpPr>
          <p:cNvPr id="8" name="Text 6"/>
          <p:cNvSpPr/>
          <p:nvPr/>
        </p:nvSpPr>
        <p:spPr>
          <a:xfrm>
            <a:off x="2715768" y="23911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Corte Suprema · Cuarta Sala, Mixta</a:t>
            </a:r>
            <a:endParaRPr lang="en-US" sz="1050" dirty="0"/>
          </a:p>
        </p:txBody>
      </p:sp>
      <p:sp>
        <p:nvSpPr>
          <p:cNvPr id="9" name="Text 7"/>
          <p:cNvSpPr/>
          <p:nvPr/>
        </p:nvSpPr>
        <p:spPr>
          <a:xfrm>
            <a:off x="1088136" y="27340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Corte de origen</a:t>
            </a:r>
            <a:endParaRPr lang="en-US" sz="1050" dirty="0"/>
          </a:p>
        </p:txBody>
      </p:sp>
      <p:sp>
        <p:nvSpPr>
          <p:cNvPr id="10" name="Text 8"/>
          <p:cNvSpPr/>
          <p:nvPr/>
        </p:nvSpPr>
        <p:spPr>
          <a:xfrm>
            <a:off x="2715768" y="27340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C.A. de Chillán (por donde pasó, no quien falló)</a:t>
            </a:r>
            <a:endParaRPr lang="en-US" sz="1050" dirty="0"/>
          </a:p>
        </p:txBody>
      </p:sp>
      <p:sp>
        <p:nvSpPr>
          <p:cNvPr id="11" name="Text 9"/>
          <p:cNvSpPr/>
          <p:nvPr/>
        </p:nvSpPr>
        <p:spPr>
          <a:xfrm>
            <a:off x="1088136" y="30769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Fecha</a:t>
            </a:r>
            <a:endParaRPr lang="en-US" sz="1050" dirty="0"/>
          </a:p>
        </p:txBody>
      </p:sp>
      <p:sp>
        <p:nvSpPr>
          <p:cNvPr id="12" name="Text 10"/>
          <p:cNvSpPr/>
          <p:nvPr/>
        </p:nvSpPr>
        <p:spPr>
          <a:xfrm>
            <a:off x="2715768" y="30769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13 de agosto de 2026</a:t>
            </a:r>
            <a:endParaRPr lang="en-US" sz="1050" dirty="0"/>
          </a:p>
        </p:txBody>
      </p:sp>
      <p:sp>
        <p:nvSpPr>
          <p:cNvPr id="13" name="Text 11"/>
          <p:cNvSpPr/>
          <p:nvPr/>
        </p:nvSpPr>
        <p:spPr>
          <a:xfrm>
            <a:off x="1088136" y="34198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Carátula</a:t>
            </a:r>
            <a:endParaRPr lang="en-US" sz="1050" dirty="0"/>
          </a:p>
        </p:txBody>
      </p:sp>
      <p:sp>
        <p:nvSpPr>
          <p:cNvPr id="14" name="Text 12"/>
          <p:cNvSpPr/>
          <p:nvPr/>
        </p:nvSpPr>
        <p:spPr>
          <a:xfrm>
            <a:off x="2715768" y="34198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Mardones con Sacyr Operación y Servicios S.A.</a:t>
            </a:r>
            <a:endParaRPr lang="en-US" sz="1050" dirty="0"/>
          </a:p>
        </p:txBody>
      </p:sp>
      <p:sp>
        <p:nvSpPr>
          <p:cNvPr id="15" name="Text 13"/>
          <p:cNvSpPr/>
          <p:nvPr/>
        </p:nvSpPr>
        <p:spPr>
          <a:xfrm>
            <a:off x="1088136" y="37627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Recurso</a:t>
            </a:r>
            <a:endParaRPr lang="en-US" sz="1050" dirty="0"/>
          </a:p>
        </p:txBody>
      </p:sp>
      <p:sp>
        <p:nvSpPr>
          <p:cNvPr id="16" name="Text 14"/>
          <p:cNvSpPr/>
          <p:nvPr/>
        </p:nvSpPr>
        <p:spPr>
          <a:xfrm>
            <a:off x="2715768" y="37627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Unificación de jurisprudencia (laboral)</a:t>
            </a:r>
            <a:endParaRPr lang="en-US" sz="1050" dirty="0"/>
          </a:p>
        </p:txBody>
      </p:sp>
      <p:sp>
        <p:nvSpPr>
          <p:cNvPr id="17" name="Text 15"/>
          <p:cNvSpPr/>
          <p:nvPr/>
        </p:nvSpPr>
        <p:spPr>
          <a:xfrm>
            <a:off x="1088136" y="41056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Resultado</a:t>
            </a:r>
            <a:endParaRPr lang="en-US" sz="1050" dirty="0"/>
          </a:p>
        </p:txBody>
      </p:sp>
      <p:sp>
        <p:nvSpPr>
          <p:cNvPr id="18" name="Text 16"/>
          <p:cNvSpPr/>
          <p:nvPr/>
        </p:nvSpPr>
        <p:spPr>
          <a:xfrm>
            <a:off x="2715768" y="41056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Inadmisible: no es materia propia de unificación</a:t>
            </a:r>
            <a:endParaRPr lang="en-US" sz="1050" dirty="0"/>
          </a:p>
        </p:txBody>
      </p:sp>
      <p:sp>
        <p:nvSpPr>
          <p:cNvPr id="19" name="Text 17"/>
          <p:cNvSpPr/>
          <p:nvPr/>
        </p:nvSpPr>
        <p:spPr>
          <a:xfrm>
            <a:off x="1088136" y="44485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Normas aplicadas</a:t>
            </a:r>
            <a:endParaRPr lang="en-US" sz="1050" dirty="0"/>
          </a:p>
        </p:txBody>
      </p:sp>
      <p:sp>
        <p:nvSpPr>
          <p:cNvPr id="20" name="Text 18"/>
          <p:cNvSpPr/>
          <p:nvPr/>
        </p:nvSpPr>
        <p:spPr>
          <a:xfrm>
            <a:off x="2715768" y="44485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Código del Trabajo, arts. 483 y 483 A → enlace a Ley Chile</a:t>
            </a:r>
            <a:endParaRPr lang="en-US" sz="1050" dirty="0"/>
          </a:p>
        </p:txBody>
      </p:sp>
      <p:sp>
        <p:nvSpPr>
          <p:cNvPr id="21" name="Text 19"/>
          <p:cNvSpPr/>
          <p:nvPr/>
        </p:nvSpPr>
        <p:spPr>
          <a:xfrm>
            <a:off x="1088136" y="47914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Historia procesal</a:t>
            </a:r>
            <a:endParaRPr lang="en-US" sz="1050" dirty="0"/>
          </a:p>
        </p:txBody>
      </p:sp>
      <p:sp>
        <p:nvSpPr>
          <p:cNvPr id="22" name="Text 20"/>
          <p:cNvSpPr/>
          <p:nvPr/>
        </p:nvSpPr>
        <p:spPr>
          <a:xfrm>
            <a:off x="2715768" y="47914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1º Juzgado de Letras de San Carlos → C.A. de Chillán → C.S.</a:t>
            </a:r>
            <a:endParaRPr lang="en-US" sz="1050" dirty="0"/>
          </a:p>
        </p:txBody>
      </p:sp>
      <p:sp>
        <p:nvSpPr>
          <p:cNvPr id="23" name="Text 21"/>
          <p:cNvSpPr/>
          <p:nvPr/>
        </p:nvSpPr>
        <p:spPr>
          <a:xfrm>
            <a:off x="1088136" y="51343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Enlace</a:t>
            </a:r>
            <a:endParaRPr lang="en-US" sz="1050" dirty="0"/>
          </a:p>
        </p:txBody>
      </p:sp>
      <p:sp>
        <p:nvSpPr>
          <p:cNvPr id="24" name="Text 22"/>
          <p:cNvSpPr/>
          <p:nvPr/>
        </p:nvSpPr>
        <p:spPr>
          <a:xfrm>
            <a:off x="2715768" y="51343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Permalink al fallo en el buscador del Poder Judicial</a:t>
            </a:r>
            <a:endParaRPr lang="en-US" sz="1050" dirty="0"/>
          </a:p>
        </p:txBody>
      </p:sp>
      <p:sp>
        <p:nvSpPr>
          <p:cNvPr id="25" name="Text 23"/>
          <p:cNvSpPr/>
          <p:nvPr/>
        </p:nvSpPr>
        <p:spPr>
          <a:xfrm>
            <a:off x="1088136" y="5477256"/>
            <a:ext cx="1572768" cy="274320"/>
          </a:xfrm>
          <a:prstGeom prst="rect">
            <a:avLst/>
          </a:prstGeom>
          <a:noFill/>
          <a:ln/>
        </p:spPr>
        <p:txBody>
          <a:bodyPr wrap="square" lIns="0" tIns="0" rIns="0" bIns="0" rtlCol="0" anchor="ctr"/>
          <a:lstStyle/>
          <a:p>
            <a:pPr indent="0" marL="0">
              <a:buNone/>
            </a:pPr>
            <a:r>
              <a:rPr lang="en-US" sz="1050" b="1" dirty="0">
                <a:solidFill>
                  <a:srgbClr val="A87C4F"/>
                </a:solidFill>
                <a:latin typeface="Calibri" pitchFamily="34" charset="0"/>
                <a:ea typeface="Calibri" pitchFamily="34" charset="-122"/>
                <a:cs typeface="Calibri" pitchFamily="34" charset="-120"/>
              </a:rPr>
              <a:t>Texto</a:t>
            </a:r>
            <a:endParaRPr lang="en-US" sz="1050" dirty="0"/>
          </a:p>
        </p:txBody>
      </p:sp>
      <p:sp>
        <p:nvSpPr>
          <p:cNvPr id="26" name="Text 24"/>
          <p:cNvSpPr/>
          <p:nvPr/>
        </p:nvSpPr>
        <p:spPr>
          <a:xfrm>
            <a:off x="2715768" y="5477256"/>
            <a:ext cx="4663440" cy="274320"/>
          </a:xfrm>
          <a:prstGeom prst="rect">
            <a:avLst/>
          </a:prstGeom>
          <a:noFill/>
          <a:ln/>
        </p:spPr>
        <p:txBody>
          <a:bodyPr wrap="square" lIns="0" tIns="0" rIns="0" bIns="0" rtlCol="0" anchor="ctr"/>
          <a:lstStyle/>
          <a:p>
            <a:pPr indent="0" marL="0">
              <a:buNone/>
            </a:pPr>
            <a:r>
              <a:rPr lang="en-US" sz="1050" dirty="0">
                <a:solidFill>
                  <a:srgbClr val="1B2230"/>
                </a:solidFill>
                <a:latin typeface="Calibri" pitchFamily="34" charset="0"/>
                <a:ea typeface="Calibri" pitchFamily="34" charset="-122"/>
                <a:cs typeface="Calibri" pitchFamily="34" charset="-120"/>
              </a:rPr>
              <a:t>Íntegro, más los pasajes que coinciden con la consulta</a:t>
            </a:r>
            <a:endParaRPr lang="en-US" sz="1050" dirty="0"/>
          </a:p>
        </p:txBody>
      </p:sp>
      <p:sp>
        <p:nvSpPr>
          <p:cNvPr id="27" name="Shape 25"/>
          <p:cNvSpPr/>
          <p:nvPr/>
        </p:nvSpPr>
        <p:spPr>
          <a:xfrm>
            <a:off x="8092440" y="1847088"/>
            <a:ext cx="3319272" cy="3950208"/>
          </a:xfrm>
          <a:prstGeom prst="roundRect">
            <a:avLst>
              <a:gd name="adj" fmla="val 1653"/>
            </a:avLst>
          </a:prstGeom>
          <a:solidFill>
            <a:srgbClr val="1B2230"/>
          </a:solidFill>
          <a:ln/>
        </p:spPr>
      </p:sp>
      <p:sp>
        <p:nvSpPr>
          <p:cNvPr id="28" name="Text 26"/>
          <p:cNvSpPr/>
          <p:nvPr/>
        </p:nvSpPr>
        <p:spPr>
          <a:xfrm>
            <a:off x="8412480" y="2157984"/>
            <a:ext cx="2697480" cy="274320"/>
          </a:xfrm>
          <a:prstGeom prst="rect">
            <a:avLst/>
          </a:prstGeom>
          <a:noFill/>
          <a:ln/>
        </p:spPr>
        <p:txBody>
          <a:bodyPr wrap="square" lIns="0" tIns="0" rIns="0" bIns="0" rtlCol="0" anchor="ctr"/>
          <a:lstStyle/>
          <a:p>
            <a:pPr indent="0" marL="0">
              <a:buNone/>
            </a:pPr>
            <a:r>
              <a:rPr lang="en-US" sz="1100" spc="150" kern="0" dirty="0">
                <a:solidFill>
                  <a:srgbClr val="C9A574"/>
                </a:solidFill>
                <a:latin typeface="Calibri" pitchFamily="34" charset="0"/>
                <a:ea typeface="Calibri" pitchFamily="34" charset="-122"/>
                <a:cs typeface="Calibri" pitchFamily="34" charset="-120"/>
              </a:rPr>
              <a:t>Por qué importa</a:t>
            </a:r>
            <a:endParaRPr lang="en-US" sz="1100" dirty="0"/>
          </a:p>
        </p:txBody>
      </p:sp>
      <p:sp>
        <p:nvSpPr>
          <p:cNvPr id="29" name="Text 27"/>
          <p:cNvSpPr/>
          <p:nvPr/>
        </p:nvSpPr>
        <p:spPr>
          <a:xfrm>
            <a:off x="8412480" y="2542032"/>
            <a:ext cx="2697480" cy="6858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Con rol, tribunal y fecha, la cita se verifica en un minuto.</a:t>
            </a:r>
            <a:endParaRPr lang="en-US" sz="1500" dirty="0"/>
          </a:p>
        </p:txBody>
      </p:sp>
      <p:sp>
        <p:nvSpPr>
          <p:cNvPr id="30" name="Text 28"/>
          <p:cNvSpPr/>
          <p:nvPr/>
        </p:nvSpPr>
        <p:spPr>
          <a:xfrm>
            <a:off x="8412480" y="3310128"/>
            <a:ext cx="2697480" cy="868680"/>
          </a:xfrm>
          <a:prstGeom prst="rect">
            <a:avLst/>
          </a:prstGeom>
          <a:noFill/>
          <a:ln/>
        </p:spPr>
        <p:txBody>
          <a:bodyPr wrap="square" lIns="0" tIns="0" rIns="0" bIns="0" rtlCol="0" anchor="ctr"/>
          <a:lstStyle/>
          <a:p>
            <a:pPr indent="0" marL="0">
              <a:buNone/>
            </a:pPr>
            <a:r>
              <a:rPr lang="en-US" sz="1100" dirty="0">
                <a:solidFill>
                  <a:srgbClr val="8A93A5"/>
                </a:solidFill>
                <a:latin typeface="Calibri" pitchFamily="34" charset="0"/>
                <a:ea typeface="Calibri" pitchFamily="34" charset="-122"/>
                <a:cs typeface="Calibri" pitchFamily="34" charset="-120"/>
              </a:rPr>
              <a:t>Las normas llegan enlazadas a Ley Chile, así que el fundamento legal también se comprueba.</a:t>
            </a:r>
            <a:endParaRPr lang="en-US" sz="1100" dirty="0"/>
          </a:p>
        </p:txBody>
      </p:sp>
      <p:sp>
        <p:nvSpPr>
          <p:cNvPr id="31" name="Text 29"/>
          <p:cNvSpPr/>
          <p:nvPr/>
        </p:nvSpPr>
        <p:spPr>
          <a:xfrm>
            <a:off x="8412480" y="4224528"/>
            <a:ext cx="2697480" cy="777240"/>
          </a:xfrm>
          <a:prstGeom prst="rect">
            <a:avLst/>
          </a:prstGeom>
          <a:noFill/>
          <a:ln/>
        </p:spPr>
        <p:txBody>
          <a:bodyPr wrap="square" lIns="0" tIns="0" rIns="0" bIns="0" rtlCol="0" anchor="ctr"/>
          <a:lstStyle/>
          <a:p>
            <a:pPr indent="0" marL="0">
              <a:buNone/>
            </a:pPr>
            <a:r>
              <a:rPr lang="en-US" sz="1100" dirty="0">
                <a:solidFill>
                  <a:srgbClr val="8A93A5"/>
                </a:solidFill>
                <a:latin typeface="Calibri" pitchFamily="34" charset="0"/>
                <a:ea typeface="Calibri" pitchFamily="34" charset="-122"/>
                <a:cs typeface="Calibri" pitchFamily="34" charset="-120"/>
              </a:rPr>
              <a:t>Y la historia procesal permite seguir la causa desde primera instancia.</a:t>
            </a:r>
            <a:endParaRPr lang="en-US" sz="1100" dirty="0"/>
          </a:p>
        </p:txBody>
      </p:sp>
      <p:sp>
        <p:nvSpPr>
          <p:cNvPr id="32" name="Text 30"/>
          <p:cNvSpPr/>
          <p:nvPr/>
        </p:nvSpPr>
        <p:spPr>
          <a:xfrm>
            <a:off x="8412480" y="5074920"/>
            <a:ext cx="2697480" cy="548640"/>
          </a:xfrm>
          <a:prstGeom prst="rect">
            <a:avLst/>
          </a:prstGeom>
          <a:noFill/>
          <a:ln/>
        </p:spPr>
        <p:txBody>
          <a:bodyPr wrap="square" lIns="0" tIns="0" rIns="0" bIns="0" rtlCol="0" anchor="ctr"/>
          <a:lstStyle/>
          <a:p>
            <a:pPr indent="0" marL="0">
              <a:buNone/>
            </a:pPr>
            <a:r>
              <a:rPr lang="en-US" sz="1150" b="1" i="1" dirty="0">
                <a:solidFill>
                  <a:srgbClr val="C9A574"/>
                </a:solidFill>
                <a:latin typeface="Calibri" pitchFamily="34" charset="0"/>
                <a:ea typeface="Calibri" pitchFamily="34" charset="-122"/>
                <a:cs typeface="Calibri" pitchFamily="34" charset="-120"/>
              </a:rPr>
              <a:t>Nada de esto se puede inventar sin que se note.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Lo que no hace un buscador común</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Cuatro capacidades que cambian el resultado del trabajo</a:t>
            </a:r>
            <a:endParaRPr lang="en-US" sz="1350" dirty="0"/>
          </a:p>
        </p:txBody>
      </p:sp>
      <p:sp>
        <p:nvSpPr>
          <p:cNvPr id="4" name="Shape 2"/>
          <p:cNvSpPr/>
          <p:nvPr/>
        </p:nvSpPr>
        <p:spPr>
          <a:xfrm>
            <a:off x="777240" y="1874520"/>
            <a:ext cx="5120640" cy="1847088"/>
          </a:xfrm>
          <a:prstGeom prst="roundRect">
            <a:avLst>
              <a:gd name="adj" fmla="val 2970"/>
            </a:avLst>
          </a:prstGeom>
          <a:solidFill>
            <a:srgbClr val="FFFFFF"/>
          </a:solidFill>
          <a:ln w="9525">
            <a:solidFill>
              <a:srgbClr val="E3DED3"/>
            </a:solidFill>
            <a:prstDash val="solid"/>
          </a:ln>
        </p:spPr>
      </p:sp>
      <p:sp>
        <p:nvSpPr>
          <p:cNvPr id="5" name="Shape 3"/>
          <p:cNvSpPr/>
          <p:nvPr/>
        </p:nvSpPr>
        <p:spPr>
          <a:xfrm>
            <a:off x="1069848" y="2148840"/>
            <a:ext cx="365760" cy="365760"/>
          </a:xfrm>
          <a:prstGeom prst="ellipse">
            <a:avLst/>
          </a:prstGeom>
          <a:solidFill>
            <a:srgbClr val="A87C4F"/>
          </a:solidFill>
          <a:ln/>
        </p:spPr>
      </p:sp>
      <p:sp>
        <p:nvSpPr>
          <p:cNvPr id="6" name="Text 4"/>
          <p:cNvSpPr/>
          <p:nvPr/>
        </p:nvSpPr>
        <p:spPr>
          <a:xfrm>
            <a:off x="1069848"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581912" y="2130552"/>
            <a:ext cx="4114800" cy="292608"/>
          </a:xfrm>
          <a:prstGeom prst="rect">
            <a:avLst/>
          </a:prstGeom>
          <a:noFill/>
          <a:ln/>
        </p:spPr>
        <p:txBody>
          <a:bodyPr wrap="square" lIns="0" tIns="0" rIns="0" bIns="0" rtlCol="0" anchor="ctr"/>
          <a:lstStyle/>
          <a:p>
            <a:pPr indent="0" marL="0">
              <a:buNone/>
            </a:pPr>
            <a:r>
              <a:rPr lang="en-US" sz="1400" b="1" dirty="0">
                <a:solidFill>
                  <a:srgbClr val="1B2230"/>
                </a:solidFill>
                <a:latin typeface="Calibri" pitchFamily="34" charset="0"/>
                <a:ea typeface="Calibri" pitchFamily="34" charset="-122"/>
                <a:cs typeface="Calibri" pitchFamily="34" charset="-120"/>
              </a:rPr>
              <a:t>Buscar por norma, no por palabra</a:t>
            </a:r>
            <a:endParaRPr lang="en-US" sz="1400" dirty="0"/>
          </a:p>
        </p:txBody>
      </p:sp>
      <p:sp>
        <p:nvSpPr>
          <p:cNvPr id="8" name="Text 6"/>
          <p:cNvSpPr/>
          <p:nvPr/>
        </p:nvSpPr>
        <p:spPr>
          <a:xfrm>
            <a:off x="1581912" y="2496312"/>
            <a:ext cx="4114800" cy="1097280"/>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Pide los fallos que APLICAN el artículo 16 de la Ley 19.496, no los que mencionan esas palabras. Devuelve además el texto del artículo para contrastar qué dice la ley con qué hicieron los tribunales.</a:t>
            </a:r>
            <a:endParaRPr lang="en-US" sz="1050" dirty="0"/>
          </a:p>
        </p:txBody>
      </p:sp>
      <p:sp>
        <p:nvSpPr>
          <p:cNvPr id="9" name="Shape 7"/>
          <p:cNvSpPr/>
          <p:nvPr/>
        </p:nvSpPr>
        <p:spPr>
          <a:xfrm>
            <a:off x="6217920" y="1874520"/>
            <a:ext cx="5120640" cy="1847088"/>
          </a:xfrm>
          <a:prstGeom prst="roundRect">
            <a:avLst>
              <a:gd name="adj" fmla="val 2970"/>
            </a:avLst>
          </a:prstGeom>
          <a:solidFill>
            <a:srgbClr val="FFFFFF"/>
          </a:solidFill>
          <a:ln w="9525">
            <a:solidFill>
              <a:srgbClr val="E3DED3"/>
            </a:solidFill>
            <a:prstDash val="solid"/>
          </a:ln>
        </p:spPr>
      </p:sp>
      <p:sp>
        <p:nvSpPr>
          <p:cNvPr id="10" name="Shape 8"/>
          <p:cNvSpPr/>
          <p:nvPr/>
        </p:nvSpPr>
        <p:spPr>
          <a:xfrm>
            <a:off x="6510528" y="2148840"/>
            <a:ext cx="365760" cy="365760"/>
          </a:xfrm>
          <a:prstGeom prst="ellipse">
            <a:avLst/>
          </a:prstGeom>
          <a:solidFill>
            <a:srgbClr val="A87C4F"/>
          </a:solidFill>
          <a:ln/>
        </p:spPr>
      </p:sp>
      <p:sp>
        <p:nvSpPr>
          <p:cNvPr id="11" name="Text 9"/>
          <p:cNvSpPr/>
          <p:nvPr/>
        </p:nvSpPr>
        <p:spPr>
          <a:xfrm>
            <a:off x="6510528"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022592" y="2130552"/>
            <a:ext cx="4114800" cy="292608"/>
          </a:xfrm>
          <a:prstGeom prst="rect">
            <a:avLst/>
          </a:prstGeom>
          <a:noFill/>
          <a:ln/>
        </p:spPr>
        <p:txBody>
          <a:bodyPr wrap="square" lIns="0" tIns="0" rIns="0" bIns="0" rtlCol="0" anchor="ctr"/>
          <a:lstStyle/>
          <a:p>
            <a:pPr indent="0" marL="0">
              <a:buNone/>
            </a:pPr>
            <a:r>
              <a:rPr lang="en-US" sz="1400" b="1" dirty="0">
                <a:solidFill>
                  <a:srgbClr val="1B2230"/>
                </a:solidFill>
                <a:latin typeface="Calibri" pitchFamily="34" charset="0"/>
                <a:ea typeface="Calibri" pitchFamily="34" charset="-122"/>
                <a:cs typeface="Calibri" pitchFamily="34" charset="-120"/>
              </a:rPr>
              <a:t>Avisar si un dictamen ya no sirve</a:t>
            </a:r>
            <a:endParaRPr lang="en-US" sz="1400" dirty="0"/>
          </a:p>
        </p:txBody>
      </p:sp>
      <p:sp>
        <p:nvSpPr>
          <p:cNvPr id="13" name="Text 11"/>
          <p:cNvSpPr/>
          <p:nvPr/>
        </p:nvSpPr>
        <p:spPr>
          <a:xfrm>
            <a:off x="7022592" y="2496312"/>
            <a:ext cx="4114800" cy="1097280"/>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La Contraloría marca si un dictamen fue reconsiderado, aclarado o confirmado. Uno reconsiderado no sirve para fundar, y ese dato no aparece en una búsqueda de texto.</a:t>
            </a:r>
            <a:endParaRPr lang="en-US" sz="1050" dirty="0"/>
          </a:p>
        </p:txBody>
      </p:sp>
      <p:sp>
        <p:nvSpPr>
          <p:cNvPr id="14" name="Shape 12"/>
          <p:cNvSpPr/>
          <p:nvPr/>
        </p:nvSpPr>
        <p:spPr>
          <a:xfrm>
            <a:off x="777240" y="3959352"/>
            <a:ext cx="5120640" cy="1847088"/>
          </a:xfrm>
          <a:prstGeom prst="roundRect">
            <a:avLst>
              <a:gd name="adj" fmla="val 2970"/>
            </a:avLst>
          </a:prstGeom>
          <a:solidFill>
            <a:srgbClr val="FFFFFF"/>
          </a:solidFill>
          <a:ln w="9525">
            <a:solidFill>
              <a:srgbClr val="E3DED3"/>
            </a:solidFill>
            <a:prstDash val="solid"/>
          </a:ln>
        </p:spPr>
      </p:sp>
      <p:sp>
        <p:nvSpPr>
          <p:cNvPr id="15" name="Shape 13"/>
          <p:cNvSpPr/>
          <p:nvPr/>
        </p:nvSpPr>
        <p:spPr>
          <a:xfrm>
            <a:off x="1069848" y="4233672"/>
            <a:ext cx="365760" cy="365760"/>
          </a:xfrm>
          <a:prstGeom prst="ellipse">
            <a:avLst/>
          </a:prstGeom>
          <a:solidFill>
            <a:srgbClr val="A87C4F"/>
          </a:solidFill>
          <a:ln/>
        </p:spPr>
      </p:sp>
      <p:sp>
        <p:nvSpPr>
          <p:cNvPr id="16" name="Text 14"/>
          <p:cNvSpPr/>
          <p:nvPr/>
        </p:nvSpPr>
        <p:spPr>
          <a:xfrm>
            <a:off x="1069848" y="4233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581912" y="4215384"/>
            <a:ext cx="4114800" cy="292608"/>
          </a:xfrm>
          <a:prstGeom prst="rect">
            <a:avLst/>
          </a:prstGeom>
          <a:noFill/>
          <a:ln/>
        </p:spPr>
        <p:txBody>
          <a:bodyPr wrap="square" lIns="0" tIns="0" rIns="0" bIns="0" rtlCol="0" anchor="ctr"/>
          <a:lstStyle/>
          <a:p>
            <a:pPr indent="0" marL="0">
              <a:buNone/>
            </a:pPr>
            <a:r>
              <a:rPr lang="en-US" sz="1400" b="1" dirty="0">
                <a:solidFill>
                  <a:srgbClr val="1B2230"/>
                </a:solidFill>
                <a:latin typeface="Calibri" pitchFamily="34" charset="0"/>
                <a:ea typeface="Calibri" pitchFamily="34" charset="-122"/>
                <a:cs typeface="Calibri" pitchFamily="34" charset="-120"/>
              </a:rPr>
              <a:t>Cubrir el arbitraje</a:t>
            </a:r>
            <a:endParaRPr lang="en-US" sz="1400" dirty="0"/>
          </a:p>
        </p:txBody>
      </p:sp>
      <p:sp>
        <p:nvSpPr>
          <p:cNvPr id="18" name="Text 16"/>
          <p:cNvSpPr/>
          <p:nvPr/>
        </p:nvSpPr>
        <p:spPr>
          <a:xfrm>
            <a:off x="1581912" y="4581144"/>
            <a:ext cx="4114800" cy="1097280"/>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En materias comerciales, societarias y de construcción, buena parte de los conflictos se resuelve en arbitraje y nunca llega a tribunales. Sin esto, el panorama queda incompleto.</a:t>
            </a:r>
            <a:endParaRPr lang="en-US" sz="1050" dirty="0"/>
          </a:p>
        </p:txBody>
      </p:sp>
      <p:sp>
        <p:nvSpPr>
          <p:cNvPr id="19" name="Shape 17"/>
          <p:cNvSpPr/>
          <p:nvPr/>
        </p:nvSpPr>
        <p:spPr>
          <a:xfrm>
            <a:off x="6217920" y="3959352"/>
            <a:ext cx="5120640" cy="1847088"/>
          </a:xfrm>
          <a:prstGeom prst="roundRect">
            <a:avLst>
              <a:gd name="adj" fmla="val 2970"/>
            </a:avLst>
          </a:prstGeom>
          <a:solidFill>
            <a:srgbClr val="FFFFFF"/>
          </a:solidFill>
          <a:ln w="9525">
            <a:solidFill>
              <a:srgbClr val="E3DED3"/>
            </a:solidFill>
            <a:prstDash val="solid"/>
          </a:ln>
        </p:spPr>
      </p:sp>
      <p:sp>
        <p:nvSpPr>
          <p:cNvPr id="20" name="Shape 18"/>
          <p:cNvSpPr/>
          <p:nvPr/>
        </p:nvSpPr>
        <p:spPr>
          <a:xfrm>
            <a:off x="6510528" y="4233672"/>
            <a:ext cx="365760" cy="365760"/>
          </a:xfrm>
          <a:prstGeom prst="ellipse">
            <a:avLst/>
          </a:prstGeom>
          <a:solidFill>
            <a:srgbClr val="A87C4F"/>
          </a:solidFill>
          <a:ln/>
        </p:spPr>
      </p:sp>
      <p:sp>
        <p:nvSpPr>
          <p:cNvPr id="21" name="Text 19"/>
          <p:cNvSpPr/>
          <p:nvPr/>
        </p:nvSpPr>
        <p:spPr>
          <a:xfrm>
            <a:off x="6510528" y="4233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022592" y="4215384"/>
            <a:ext cx="4114800" cy="292608"/>
          </a:xfrm>
          <a:prstGeom prst="rect">
            <a:avLst/>
          </a:prstGeom>
          <a:noFill/>
          <a:ln/>
        </p:spPr>
        <p:txBody>
          <a:bodyPr wrap="square" lIns="0" tIns="0" rIns="0" bIns="0" rtlCol="0" anchor="ctr"/>
          <a:lstStyle/>
          <a:p>
            <a:pPr indent="0" marL="0">
              <a:buNone/>
            </a:pPr>
            <a:r>
              <a:rPr lang="en-US" sz="1400" b="1" dirty="0">
                <a:solidFill>
                  <a:srgbClr val="1B2230"/>
                </a:solidFill>
                <a:latin typeface="Calibri" pitchFamily="34" charset="0"/>
                <a:ea typeface="Calibri" pitchFamily="34" charset="-122"/>
                <a:cs typeface="Calibri" pitchFamily="34" charset="-120"/>
              </a:rPr>
              <a:t>Responder cuánto demora</a:t>
            </a:r>
            <a:endParaRPr lang="en-US" sz="1400" dirty="0"/>
          </a:p>
        </p:txBody>
      </p:sp>
      <p:sp>
        <p:nvSpPr>
          <p:cNvPr id="23" name="Text 21"/>
          <p:cNvSpPr/>
          <p:nvPr/>
        </p:nvSpPr>
        <p:spPr>
          <a:xfrm>
            <a:off x="7022592" y="4581144"/>
            <a:ext cx="4114800" cy="1097280"/>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Un laboral en la Corte de Valparaíso promedió 222 días en 2024; la Corte Suprema, 92. Es la diferencia entre decir «puede demandar» y decirle al cliente cuánto va a esperar.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230"/>
        </a:solidFill>
      </p:bgPr>
    </p:bg>
    <p:spTree>
      <p:nvGrpSpPr>
        <p:cNvPr id="1" name=""/>
        <p:cNvGrpSpPr/>
        <p:nvPr/>
      </p:nvGrpSpPr>
      <p:grpSpPr>
        <a:xfrm>
          <a:off x="0" y="0"/>
          <a:ext cx="0" cy="0"/>
          <a:chOff x="0" y="0"/>
          <a:chExt cx="0" cy="0"/>
        </a:xfrm>
      </p:grpSpPr>
      <p:sp>
        <p:nvSpPr>
          <p:cNvPr id="2" name="Text 0"/>
          <p:cNvSpPr/>
          <p:nvPr/>
        </p:nvSpPr>
        <p:spPr>
          <a:xfrm>
            <a:off x="777240" y="566928"/>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Cómo funciona</a:t>
            </a:r>
            <a:endParaRPr lang="en-US" sz="3200" dirty="0"/>
          </a:p>
        </p:txBody>
      </p:sp>
      <p:sp>
        <p:nvSpPr>
          <p:cNvPr id="3" name="Text 1"/>
          <p:cNvSpPr/>
          <p:nvPr/>
        </p:nvSpPr>
        <p:spPr>
          <a:xfrm>
            <a:off x="777240" y="1133856"/>
            <a:ext cx="8229600" cy="365760"/>
          </a:xfrm>
          <a:prstGeom prst="rect">
            <a:avLst/>
          </a:prstGeom>
          <a:noFill/>
          <a:ln/>
        </p:spPr>
        <p:txBody>
          <a:bodyPr wrap="square" lIns="0" tIns="0" rIns="0" bIns="0" rtlCol="0" anchor="ctr"/>
          <a:lstStyle/>
          <a:p>
            <a:pPr indent="0" marL="0">
              <a:buNone/>
            </a:pPr>
            <a:r>
              <a:rPr lang="en-US" sz="1350" i="1" dirty="0">
                <a:solidFill>
                  <a:srgbClr val="8A93A5"/>
                </a:solidFill>
                <a:latin typeface="Calibri" pitchFamily="34" charset="0"/>
                <a:ea typeface="Calibri" pitchFamily="34" charset="-122"/>
                <a:cs typeface="Calibri" pitchFamily="34" charset="-120"/>
              </a:rPr>
              <a:t>No hay que aprender comandos ni recordar nombres de herramientas</a:t>
            </a:r>
            <a:endParaRPr lang="en-US" sz="1350" dirty="0"/>
          </a:p>
        </p:txBody>
      </p:sp>
      <p:sp>
        <p:nvSpPr>
          <p:cNvPr id="4" name="Shape 2"/>
          <p:cNvSpPr/>
          <p:nvPr/>
        </p:nvSpPr>
        <p:spPr>
          <a:xfrm>
            <a:off x="777240" y="1874520"/>
            <a:ext cx="2542032" cy="2788920"/>
          </a:xfrm>
          <a:prstGeom prst="roundRect">
            <a:avLst>
              <a:gd name="adj" fmla="val 2158"/>
            </a:avLst>
          </a:prstGeom>
          <a:solidFill>
            <a:srgbClr val="2A3446"/>
          </a:solidFill>
          <a:ln/>
        </p:spPr>
      </p:sp>
      <p:sp>
        <p:nvSpPr>
          <p:cNvPr id="5" name="Shape 3"/>
          <p:cNvSpPr/>
          <p:nvPr/>
        </p:nvSpPr>
        <p:spPr>
          <a:xfrm>
            <a:off x="1069848" y="2148840"/>
            <a:ext cx="402336" cy="402336"/>
          </a:xfrm>
          <a:prstGeom prst="ellipse">
            <a:avLst/>
          </a:prstGeom>
          <a:solidFill>
            <a:srgbClr val="A87C4F"/>
          </a:solidFill>
          <a:ln/>
        </p:spPr>
      </p:sp>
      <p:sp>
        <p:nvSpPr>
          <p:cNvPr id="6" name="Text 4"/>
          <p:cNvSpPr/>
          <p:nvPr/>
        </p:nvSpPr>
        <p:spPr>
          <a:xfrm>
            <a:off x="1069848" y="21488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69848" y="2697480"/>
            <a:ext cx="2011680" cy="310896"/>
          </a:xfrm>
          <a:prstGeom prst="rect">
            <a:avLst/>
          </a:prstGeom>
          <a:noFill/>
          <a:ln/>
        </p:spPr>
        <p:txBody>
          <a:bodyPr wrap="square" lIns="0" tIns="0" rIns="0" bIns="0" rtlCol="0" anchor="ctr"/>
          <a:lstStyle/>
          <a:p>
            <a:pPr indent="0" marL="0">
              <a:buNone/>
            </a:pPr>
            <a:r>
              <a:rPr lang="en-US" sz="1400" b="1" dirty="0">
                <a:solidFill>
                  <a:srgbClr val="C9A574"/>
                </a:solidFill>
                <a:latin typeface="Calibri" pitchFamily="34" charset="0"/>
                <a:ea typeface="Calibri" pitchFamily="34" charset="-122"/>
                <a:cs typeface="Calibri" pitchFamily="34" charset="-120"/>
              </a:rPr>
              <a:t>Usted pregunta</a:t>
            </a:r>
            <a:endParaRPr lang="en-US" sz="1400" dirty="0"/>
          </a:p>
        </p:txBody>
      </p:sp>
      <p:sp>
        <p:nvSpPr>
          <p:cNvPr id="8" name="Text 6"/>
          <p:cNvSpPr/>
          <p:nvPr/>
        </p:nvSpPr>
        <p:spPr>
          <a:xfrm>
            <a:off x="1069848" y="3090672"/>
            <a:ext cx="2011680" cy="146304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En lenguaje natural, como se lo diría a un colega.</a:t>
            </a:r>
            <a:endParaRPr lang="en-US" sz="1050" dirty="0"/>
          </a:p>
          <a:p>
            <a:pPr indent="0" marL="0">
              <a:lnSpc>
                <a:spcPct val="110000"/>
              </a:lnSpc>
              <a:buNone/>
            </a:pPr>
            <a:endParaRPr lang="en-US" sz="1050" dirty="0"/>
          </a:p>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«¿Qué ha resuelto la Corte Suprema sobre nulidad del despido?»</a:t>
            </a:r>
            <a:endParaRPr lang="en-US" sz="1050" dirty="0"/>
          </a:p>
        </p:txBody>
      </p:sp>
      <p:sp>
        <p:nvSpPr>
          <p:cNvPr id="9" name="Shape 7"/>
          <p:cNvSpPr/>
          <p:nvPr/>
        </p:nvSpPr>
        <p:spPr>
          <a:xfrm>
            <a:off x="3538728" y="1874520"/>
            <a:ext cx="2542032" cy="2788920"/>
          </a:xfrm>
          <a:prstGeom prst="roundRect">
            <a:avLst>
              <a:gd name="adj" fmla="val 2158"/>
            </a:avLst>
          </a:prstGeom>
          <a:solidFill>
            <a:srgbClr val="2A3446"/>
          </a:solidFill>
          <a:ln/>
        </p:spPr>
      </p:sp>
      <p:sp>
        <p:nvSpPr>
          <p:cNvPr id="10" name="Shape 8"/>
          <p:cNvSpPr/>
          <p:nvPr/>
        </p:nvSpPr>
        <p:spPr>
          <a:xfrm>
            <a:off x="3831336" y="2148840"/>
            <a:ext cx="402336" cy="402336"/>
          </a:xfrm>
          <a:prstGeom prst="ellipse">
            <a:avLst/>
          </a:prstGeom>
          <a:solidFill>
            <a:srgbClr val="A87C4F"/>
          </a:solidFill>
          <a:ln/>
        </p:spPr>
      </p:sp>
      <p:sp>
        <p:nvSpPr>
          <p:cNvPr id="11" name="Text 9"/>
          <p:cNvSpPr/>
          <p:nvPr/>
        </p:nvSpPr>
        <p:spPr>
          <a:xfrm>
            <a:off x="3831336" y="21488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3831336" y="2697480"/>
            <a:ext cx="2011680" cy="310896"/>
          </a:xfrm>
          <a:prstGeom prst="rect">
            <a:avLst/>
          </a:prstGeom>
          <a:noFill/>
          <a:ln/>
        </p:spPr>
        <p:txBody>
          <a:bodyPr wrap="square" lIns="0" tIns="0" rIns="0" bIns="0" rtlCol="0" anchor="ctr"/>
          <a:lstStyle/>
          <a:p>
            <a:pPr indent="0" marL="0">
              <a:buNone/>
            </a:pPr>
            <a:r>
              <a:rPr lang="en-US" sz="1400" b="1" dirty="0">
                <a:solidFill>
                  <a:srgbClr val="C9A574"/>
                </a:solidFill>
                <a:latin typeface="Calibri" pitchFamily="34" charset="0"/>
                <a:ea typeface="Calibri" pitchFamily="34" charset="-122"/>
                <a:cs typeface="Calibri" pitchFamily="34" charset="-120"/>
              </a:rPr>
              <a:t>Claude elige</a:t>
            </a:r>
            <a:endParaRPr lang="en-US" sz="1400" dirty="0"/>
          </a:p>
        </p:txBody>
      </p:sp>
      <p:sp>
        <p:nvSpPr>
          <p:cNvPr id="13" name="Text 11"/>
          <p:cNvSpPr/>
          <p:nvPr/>
        </p:nvSpPr>
        <p:spPr>
          <a:xfrm>
            <a:off x="3831336" y="3090672"/>
            <a:ext cx="2011680" cy="146304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Entre las veinte herramientas disponibles, selecciona las que corresponden. Una consulta puede combinar varias: ubicar la norma, leer su texto, traer los fallos y sumar el criterio administrativo.</a:t>
            </a:r>
            <a:endParaRPr lang="en-US" sz="1050" dirty="0"/>
          </a:p>
        </p:txBody>
      </p:sp>
      <p:sp>
        <p:nvSpPr>
          <p:cNvPr id="14" name="Shape 12"/>
          <p:cNvSpPr/>
          <p:nvPr/>
        </p:nvSpPr>
        <p:spPr>
          <a:xfrm>
            <a:off x="6300216" y="1874520"/>
            <a:ext cx="2542032" cy="2788920"/>
          </a:xfrm>
          <a:prstGeom prst="roundRect">
            <a:avLst>
              <a:gd name="adj" fmla="val 2158"/>
            </a:avLst>
          </a:prstGeom>
          <a:solidFill>
            <a:srgbClr val="2A3446"/>
          </a:solidFill>
          <a:ln/>
        </p:spPr>
      </p:sp>
      <p:sp>
        <p:nvSpPr>
          <p:cNvPr id="15" name="Shape 13"/>
          <p:cNvSpPr/>
          <p:nvPr/>
        </p:nvSpPr>
        <p:spPr>
          <a:xfrm>
            <a:off x="6592824" y="2148840"/>
            <a:ext cx="402336" cy="402336"/>
          </a:xfrm>
          <a:prstGeom prst="ellipse">
            <a:avLst/>
          </a:prstGeom>
          <a:solidFill>
            <a:srgbClr val="A87C4F"/>
          </a:solidFill>
          <a:ln/>
        </p:spPr>
      </p:sp>
      <p:sp>
        <p:nvSpPr>
          <p:cNvPr id="16" name="Text 14"/>
          <p:cNvSpPr/>
          <p:nvPr/>
        </p:nvSpPr>
        <p:spPr>
          <a:xfrm>
            <a:off x="6592824" y="21488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592824" y="2697480"/>
            <a:ext cx="2011680" cy="310896"/>
          </a:xfrm>
          <a:prstGeom prst="rect">
            <a:avLst/>
          </a:prstGeom>
          <a:noFill/>
          <a:ln/>
        </p:spPr>
        <p:txBody>
          <a:bodyPr wrap="square" lIns="0" tIns="0" rIns="0" bIns="0" rtlCol="0" anchor="ctr"/>
          <a:lstStyle/>
          <a:p>
            <a:pPr indent="0" marL="0">
              <a:buNone/>
            </a:pPr>
            <a:r>
              <a:rPr lang="en-US" sz="1400" b="1" dirty="0">
                <a:solidFill>
                  <a:srgbClr val="C9A574"/>
                </a:solidFill>
                <a:latin typeface="Calibri" pitchFamily="34" charset="0"/>
                <a:ea typeface="Calibri" pitchFamily="34" charset="-122"/>
                <a:cs typeface="Calibri" pitchFamily="34" charset="-120"/>
              </a:rPr>
              <a:t>Responsa consulta</a:t>
            </a:r>
            <a:endParaRPr lang="en-US" sz="1400" dirty="0"/>
          </a:p>
        </p:txBody>
      </p:sp>
      <p:sp>
        <p:nvSpPr>
          <p:cNvPr id="18" name="Text 16"/>
          <p:cNvSpPr/>
          <p:nvPr/>
        </p:nvSpPr>
        <p:spPr>
          <a:xfrm>
            <a:off x="6592824" y="3090672"/>
            <a:ext cx="2011680" cy="146304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Va a las fuentes oficiales en vivo. No tiene una copia propia de las leyes: pregunta a la BCN, al Poder Judicial, a la Contraloría.</a:t>
            </a:r>
            <a:endParaRPr lang="en-US" sz="1050" dirty="0"/>
          </a:p>
        </p:txBody>
      </p:sp>
      <p:sp>
        <p:nvSpPr>
          <p:cNvPr id="19" name="Shape 17"/>
          <p:cNvSpPr/>
          <p:nvPr/>
        </p:nvSpPr>
        <p:spPr>
          <a:xfrm>
            <a:off x="9061704" y="1874520"/>
            <a:ext cx="2542032" cy="2788920"/>
          </a:xfrm>
          <a:prstGeom prst="roundRect">
            <a:avLst>
              <a:gd name="adj" fmla="val 2158"/>
            </a:avLst>
          </a:prstGeom>
          <a:solidFill>
            <a:srgbClr val="2A3446"/>
          </a:solidFill>
          <a:ln/>
        </p:spPr>
      </p:sp>
      <p:sp>
        <p:nvSpPr>
          <p:cNvPr id="20" name="Shape 18"/>
          <p:cNvSpPr/>
          <p:nvPr/>
        </p:nvSpPr>
        <p:spPr>
          <a:xfrm>
            <a:off x="9354312" y="2148840"/>
            <a:ext cx="402336" cy="402336"/>
          </a:xfrm>
          <a:prstGeom prst="ellipse">
            <a:avLst/>
          </a:prstGeom>
          <a:solidFill>
            <a:srgbClr val="A87C4F"/>
          </a:solidFill>
          <a:ln/>
        </p:spPr>
      </p:sp>
      <p:sp>
        <p:nvSpPr>
          <p:cNvPr id="21" name="Text 19"/>
          <p:cNvSpPr/>
          <p:nvPr/>
        </p:nvSpPr>
        <p:spPr>
          <a:xfrm>
            <a:off x="9354312" y="21488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9354312" y="2697480"/>
            <a:ext cx="2011680" cy="310896"/>
          </a:xfrm>
          <a:prstGeom prst="rect">
            <a:avLst/>
          </a:prstGeom>
          <a:noFill/>
          <a:ln/>
        </p:spPr>
        <p:txBody>
          <a:bodyPr wrap="square" lIns="0" tIns="0" rIns="0" bIns="0" rtlCol="0" anchor="ctr"/>
          <a:lstStyle/>
          <a:p>
            <a:pPr indent="0" marL="0">
              <a:buNone/>
            </a:pPr>
            <a:r>
              <a:rPr lang="en-US" sz="1400" b="1" dirty="0">
                <a:solidFill>
                  <a:srgbClr val="C9A574"/>
                </a:solidFill>
                <a:latin typeface="Calibri" pitchFamily="34" charset="0"/>
                <a:ea typeface="Calibri" pitchFamily="34" charset="-122"/>
                <a:cs typeface="Calibri" pitchFamily="34" charset="-120"/>
              </a:rPr>
              <a:t>Usted recibe</a:t>
            </a:r>
            <a:endParaRPr lang="en-US" sz="1400" dirty="0"/>
          </a:p>
        </p:txBody>
      </p:sp>
      <p:sp>
        <p:nvSpPr>
          <p:cNvPr id="23" name="Text 21"/>
          <p:cNvSpPr/>
          <p:nvPr/>
        </p:nvSpPr>
        <p:spPr>
          <a:xfrm>
            <a:off x="9354312" y="3090672"/>
            <a:ext cx="2011680" cy="146304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La respuesta con rol, tribunal, fecha, enlace y texto. Y si algo no se pudo verificar, se dice.</a:t>
            </a:r>
            <a:endParaRPr lang="en-US" sz="1050" dirty="0"/>
          </a:p>
        </p:txBody>
      </p:sp>
      <p:sp>
        <p:nvSpPr>
          <p:cNvPr id="24" name="Text 22"/>
          <p:cNvSpPr/>
          <p:nvPr/>
        </p:nvSpPr>
        <p:spPr>
          <a:xfrm>
            <a:off x="777240" y="5010912"/>
            <a:ext cx="10607040" cy="365760"/>
          </a:xfrm>
          <a:prstGeom prst="rect">
            <a:avLst/>
          </a:prstGeom>
          <a:noFill/>
          <a:ln/>
        </p:spPr>
        <p:txBody>
          <a:bodyPr wrap="square" lIns="0" tIns="0" rIns="0" bIns="0" rtlCol="0" anchor="t"/>
          <a:lstStyle/>
          <a:p>
            <a:pPr indent="0" marL="0">
              <a:buNone/>
            </a:pPr>
            <a:r>
              <a:rPr lang="en-US" sz="1200" i="1" dirty="0">
                <a:solidFill>
                  <a:srgbClr val="8A93A5"/>
                </a:solidFill>
                <a:latin typeface="Calibri" pitchFamily="34" charset="0"/>
                <a:ea typeface="Calibri" pitchFamily="34" charset="-122"/>
                <a:cs typeface="Calibri" pitchFamily="34" charset="-120"/>
              </a:rPr>
              <a:t>Responsa se instala una vez y queda disponible en toda conversación con Claude.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Cómo falla</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La forma peligrosa de fallar no es el error: es el resultado vacío que se lee como una ausencia</a:t>
            </a:r>
            <a:endParaRPr lang="en-US" sz="1350" dirty="0"/>
          </a:p>
        </p:txBody>
      </p:sp>
      <p:sp>
        <p:nvSpPr>
          <p:cNvPr id="4" name="Shape 2"/>
          <p:cNvSpPr/>
          <p:nvPr/>
        </p:nvSpPr>
        <p:spPr>
          <a:xfrm>
            <a:off x="777240" y="1947672"/>
            <a:ext cx="347472" cy="347472"/>
          </a:xfrm>
          <a:prstGeom prst="ellipse">
            <a:avLst/>
          </a:prstGeom>
          <a:solidFill>
            <a:srgbClr val="A87C4F"/>
          </a:solidFill>
          <a:ln/>
        </p:spPr>
      </p:sp>
      <p:sp>
        <p:nvSpPr>
          <p:cNvPr id="5" name="Text 3"/>
          <p:cNvSpPr/>
          <p:nvPr/>
        </p:nvSpPr>
        <p:spPr>
          <a:xfrm>
            <a:off x="777240" y="19476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289304" y="1874520"/>
            <a:ext cx="3017520" cy="292608"/>
          </a:xfrm>
          <a:prstGeom prst="rect">
            <a:avLst/>
          </a:prstGeom>
          <a:noFill/>
          <a:ln/>
        </p:spPr>
        <p:txBody>
          <a:bodyPr wrap="square" lIns="0" tIns="0" rIns="0" bIns="0" rtlCol="0" anchor="t"/>
          <a:lstStyle/>
          <a:p>
            <a:pPr indent="0" marL="0">
              <a:buNone/>
            </a:pPr>
            <a:r>
              <a:rPr lang="en-US" sz="1350" b="1" dirty="0">
                <a:solidFill>
                  <a:srgbClr val="1B2230"/>
                </a:solidFill>
                <a:latin typeface="Calibri" pitchFamily="34" charset="0"/>
                <a:ea typeface="Calibri" pitchFamily="34" charset="-122"/>
                <a:cs typeface="Calibri" pitchFamily="34" charset="-120"/>
              </a:rPr>
              <a:t>Declara los vacíos</a:t>
            </a:r>
            <a:endParaRPr lang="en-US" sz="1350" dirty="0"/>
          </a:p>
        </p:txBody>
      </p:sp>
      <p:sp>
        <p:nvSpPr>
          <p:cNvPr id="7" name="Text 5"/>
          <p:cNvSpPr/>
          <p:nvPr/>
        </p:nvSpPr>
        <p:spPr>
          <a:xfrm>
            <a:off x="4434840" y="1856232"/>
            <a:ext cx="6858000" cy="841248"/>
          </a:xfrm>
          <a:prstGeom prst="rect">
            <a:avLst/>
          </a:prstGeom>
          <a:noFill/>
          <a:ln/>
        </p:spPr>
        <p:txBody>
          <a:bodyPr wrap="square" lIns="0" tIns="0" rIns="0" bIns="0" rtlCol="0" anchor="t"/>
          <a:lstStyle/>
          <a:p>
            <a:pPr indent="0" marL="0">
              <a:lnSpc>
                <a:spcPct val="108000"/>
              </a:lnSpc>
              <a:buNone/>
            </a:pPr>
            <a:r>
              <a:rPr lang="en-US" sz="1100" dirty="0">
                <a:solidFill>
                  <a:srgbClr val="5A6478"/>
                </a:solidFill>
                <a:latin typeface="Calibri" pitchFamily="34" charset="0"/>
                <a:ea typeface="Calibri" pitchFamily="34" charset="-122"/>
                <a:cs typeface="Calibri" pitchFamily="34" charset="-120"/>
              </a:rPr>
              <a:t>Si una fuente no responde, se dice. Nunca se completa el hueco con conocimiento propio, porque ese relleno es indistinguible del dato bueno.</a:t>
            </a:r>
            <a:endParaRPr lang="en-US" sz="1100" dirty="0"/>
          </a:p>
        </p:txBody>
      </p:sp>
      <p:sp>
        <p:nvSpPr>
          <p:cNvPr id="8" name="Shape 6"/>
          <p:cNvSpPr/>
          <p:nvPr/>
        </p:nvSpPr>
        <p:spPr>
          <a:xfrm>
            <a:off x="777240" y="2990088"/>
            <a:ext cx="347472" cy="347472"/>
          </a:xfrm>
          <a:prstGeom prst="ellipse">
            <a:avLst/>
          </a:prstGeom>
          <a:solidFill>
            <a:srgbClr val="A87C4F"/>
          </a:solidFill>
          <a:ln/>
        </p:spPr>
      </p:sp>
      <p:sp>
        <p:nvSpPr>
          <p:cNvPr id="9" name="Text 7"/>
          <p:cNvSpPr/>
          <p:nvPr/>
        </p:nvSpPr>
        <p:spPr>
          <a:xfrm>
            <a:off x="777240"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289304" y="2916936"/>
            <a:ext cx="3017520" cy="292608"/>
          </a:xfrm>
          <a:prstGeom prst="rect">
            <a:avLst/>
          </a:prstGeom>
          <a:noFill/>
          <a:ln/>
        </p:spPr>
        <p:txBody>
          <a:bodyPr wrap="square" lIns="0" tIns="0" rIns="0" bIns="0" rtlCol="0" anchor="t"/>
          <a:lstStyle/>
          <a:p>
            <a:pPr indent="0" marL="0">
              <a:buNone/>
            </a:pPr>
            <a:r>
              <a:rPr lang="en-US" sz="1350" b="1" dirty="0">
                <a:solidFill>
                  <a:srgbClr val="1B2230"/>
                </a:solidFill>
                <a:latin typeface="Calibri" pitchFamily="34" charset="0"/>
                <a:ea typeface="Calibri" pitchFamily="34" charset="-122"/>
                <a:cs typeface="Calibri" pitchFamily="34" charset="-120"/>
              </a:rPr>
              <a:t>Distingue caída de ausencia</a:t>
            </a:r>
            <a:endParaRPr lang="en-US" sz="1350" dirty="0"/>
          </a:p>
        </p:txBody>
      </p:sp>
      <p:sp>
        <p:nvSpPr>
          <p:cNvPr id="11" name="Text 9"/>
          <p:cNvSpPr/>
          <p:nvPr/>
        </p:nvSpPr>
        <p:spPr>
          <a:xfrm>
            <a:off x="4434840" y="2898648"/>
            <a:ext cx="6858000" cy="841248"/>
          </a:xfrm>
          <a:prstGeom prst="rect">
            <a:avLst/>
          </a:prstGeom>
          <a:noFill/>
          <a:ln/>
        </p:spPr>
        <p:txBody>
          <a:bodyPr wrap="square" lIns="0" tIns="0" rIns="0" bIns="0" rtlCol="0" anchor="t"/>
          <a:lstStyle/>
          <a:p>
            <a:pPr indent="0" marL="0">
              <a:lnSpc>
                <a:spcPct val="108000"/>
              </a:lnSpc>
              <a:buNone/>
            </a:pPr>
            <a:r>
              <a:rPr lang="en-US" sz="1100" dirty="0">
                <a:solidFill>
                  <a:srgbClr val="5A6478"/>
                </a:solidFill>
                <a:latin typeface="Calibri" pitchFamily="34" charset="0"/>
                <a:ea typeface="Calibri" pitchFamily="34" charset="-122"/>
                <a:cs typeface="Calibri" pitchFamily="34" charset="-120"/>
              </a:rPr>
              <a:t>Cuando el Poder Judicial devolvió un error de base de datos, Responsa lo nombró: «su base responde ORA-12541, es una falla del organismo». No lo presentó como «no hay jurisprudencia».</a:t>
            </a:r>
            <a:endParaRPr lang="en-US" sz="1100" dirty="0"/>
          </a:p>
        </p:txBody>
      </p:sp>
      <p:sp>
        <p:nvSpPr>
          <p:cNvPr id="12" name="Shape 10"/>
          <p:cNvSpPr/>
          <p:nvPr/>
        </p:nvSpPr>
        <p:spPr>
          <a:xfrm>
            <a:off x="777240" y="4032504"/>
            <a:ext cx="347472" cy="347472"/>
          </a:xfrm>
          <a:prstGeom prst="ellipse">
            <a:avLst/>
          </a:prstGeom>
          <a:solidFill>
            <a:srgbClr val="A87C4F"/>
          </a:solidFill>
          <a:ln/>
        </p:spPr>
      </p:sp>
      <p:sp>
        <p:nvSpPr>
          <p:cNvPr id="13" name="Text 11"/>
          <p:cNvSpPr/>
          <p:nvPr/>
        </p:nvSpPr>
        <p:spPr>
          <a:xfrm>
            <a:off x="777240" y="40325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289304" y="3959352"/>
            <a:ext cx="3017520" cy="292608"/>
          </a:xfrm>
          <a:prstGeom prst="rect">
            <a:avLst/>
          </a:prstGeom>
          <a:noFill/>
          <a:ln/>
        </p:spPr>
        <p:txBody>
          <a:bodyPr wrap="square" lIns="0" tIns="0" rIns="0" bIns="0" rtlCol="0" anchor="t"/>
          <a:lstStyle/>
          <a:p>
            <a:pPr indent="0" marL="0">
              <a:buNone/>
            </a:pPr>
            <a:r>
              <a:rPr lang="en-US" sz="1350" b="1" dirty="0">
                <a:solidFill>
                  <a:srgbClr val="1B2230"/>
                </a:solidFill>
                <a:latin typeface="Calibri" pitchFamily="34" charset="0"/>
                <a:ea typeface="Calibri" pitchFamily="34" charset="-122"/>
                <a:cs typeface="Calibri" pitchFamily="34" charset="-120"/>
              </a:rPr>
              <a:t>Se puede auditar</a:t>
            </a:r>
            <a:endParaRPr lang="en-US" sz="1350" dirty="0"/>
          </a:p>
        </p:txBody>
      </p:sp>
      <p:sp>
        <p:nvSpPr>
          <p:cNvPr id="15" name="Text 13"/>
          <p:cNvSpPr/>
          <p:nvPr/>
        </p:nvSpPr>
        <p:spPr>
          <a:xfrm>
            <a:off x="4434840" y="3941064"/>
            <a:ext cx="6858000" cy="841248"/>
          </a:xfrm>
          <a:prstGeom prst="rect">
            <a:avLst/>
          </a:prstGeom>
          <a:noFill/>
          <a:ln/>
        </p:spPr>
        <p:txBody>
          <a:bodyPr wrap="square" lIns="0" tIns="0" rIns="0" bIns="0" rtlCol="0" anchor="t"/>
          <a:lstStyle/>
          <a:p>
            <a:pPr indent="0" marL="0">
              <a:lnSpc>
                <a:spcPct val="108000"/>
              </a:lnSpc>
              <a:buNone/>
            </a:pPr>
            <a:r>
              <a:rPr lang="en-US" sz="1100" dirty="0">
                <a:solidFill>
                  <a:srgbClr val="5A6478"/>
                </a:solidFill>
                <a:latin typeface="Calibri" pitchFamily="34" charset="0"/>
                <a:ea typeface="Calibri" pitchFamily="34" charset="-122"/>
                <a:cs typeface="Calibri" pitchFamily="34" charset="-120"/>
              </a:rPr>
              <a:t>Un comando consulta las diez fuentes con preguntas de respuesta conocida y dice cuál responde y cuál no. Sesenta comprobaciones automáticas verifican que cada fuente entregue lo que corresponde.</a:t>
            </a:r>
            <a:endParaRPr lang="en-US" sz="1100" dirty="0"/>
          </a:p>
        </p:txBody>
      </p:sp>
      <p:sp>
        <p:nvSpPr>
          <p:cNvPr id="16" name="Shape 14"/>
          <p:cNvSpPr/>
          <p:nvPr/>
        </p:nvSpPr>
        <p:spPr>
          <a:xfrm>
            <a:off x="777240" y="5074920"/>
            <a:ext cx="347472" cy="347472"/>
          </a:xfrm>
          <a:prstGeom prst="ellipse">
            <a:avLst/>
          </a:prstGeom>
          <a:solidFill>
            <a:srgbClr val="A87C4F"/>
          </a:solidFill>
          <a:ln/>
        </p:spPr>
      </p:sp>
      <p:sp>
        <p:nvSpPr>
          <p:cNvPr id="17" name="Text 15"/>
          <p:cNvSpPr/>
          <p:nvPr/>
        </p:nvSpPr>
        <p:spPr>
          <a:xfrm>
            <a:off x="777240" y="5074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289304" y="5001768"/>
            <a:ext cx="3017520" cy="292608"/>
          </a:xfrm>
          <a:prstGeom prst="rect">
            <a:avLst/>
          </a:prstGeom>
          <a:noFill/>
          <a:ln/>
        </p:spPr>
        <p:txBody>
          <a:bodyPr wrap="square" lIns="0" tIns="0" rIns="0" bIns="0" rtlCol="0" anchor="t"/>
          <a:lstStyle/>
          <a:p>
            <a:pPr indent="0" marL="0">
              <a:buNone/>
            </a:pPr>
            <a:r>
              <a:rPr lang="en-US" sz="1350" b="1" dirty="0">
                <a:solidFill>
                  <a:srgbClr val="1B2230"/>
                </a:solidFill>
                <a:latin typeface="Calibri" pitchFamily="34" charset="0"/>
                <a:ea typeface="Calibri" pitchFamily="34" charset="-122"/>
                <a:cs typeface="Calibri" pitchFamily="34" charset="-120"/>
              </a:rPr>
              <a:t>Avisa si cambia una fuente</a:t>
            </a:r>
            <a:endParaRPr lang="en-US" sz="1350" dirty="0"/>
          </a:p>
        </p:txBody>
      </p:sp>
      <p:sp>
        <p:nvSpPr>
          <p:cNvPr id="19" name="Text 17"/>
          <p:cNvSpPr/>
          <p:nvPr/>
        </p:nvSpPr>
        <p:spPr>
          <a:xfrm>
            <a:off x="4434840" y="4983480"/>
            <a:ext cx="6858000" cy="841248"/>
          </a:xfrm>
          <a:prstGeom prst="rect">
            <a:avLst/>
          </a:prstGeom>
          <a:noFill/>
          <a:ln/>
        </p:spPr>
        <p:txBody>
          <a:bodyPr wrap="square" lIns="0" tIns="0" rIns="0" bIns="0" rtlCol="0" anchor="t"/>
          <a:lstStyle/>
          <a:p>
            <a:pPr indent="0" marL="0">
              <a:lnSpc>
                <a:spcPct val="108000"/>
              </a:lnSpc>
              <a:buNone/>
            </a:pPr>
            <a:r>
              <a:rPr lang="en-US" sz="1100" dirty="0">
                <a:solidFill>
                  <a:srgbClr val="5A6478"/>
                </a:solidFill>
                <a:latin typeface="Calibri" pitchFamily="34" charset="0"/>
                <a:ea typeface="Calibri" pitchFamily="34" charset="-122"/>
                <a:cs typeface="Calibri" pitchFamily="34" charset="-120"/>
              </a:rPr>
              <a:t>Son sitios de terceros que cambian sin previo aviso. Si alguno altera su estructura, el error lo dice explícitamente en vez de devolver una lista vacía en silencio.</a:t>
            </a:r>
            <a:endParaRPr lang="en-US" sz="1100" dirty="0"/>
          </a:p>
        </p:txBody>
      </p:sp>
      <p:sp>
        <p:nvSpPr>
          <p:cNvPr id="20" name="Text 18"/>
          <p:cNvSpPr/>
          <p:nvPr/>
        </p:nvSpPr>
        <p:spPr>
          <a:xfrm>
            <a:off x="777240" y="5943600"/>
            <a:ext cx="10607040" cy="411480"/>
          </a:xfrm>
          <a:prstGeom prst="rect">
            <a:avLst/>
          </a:prstGeom>
          <a:noFill/>
          <a:ln/>
        </p:spPr>
        <p:txBody>
          <a:bodyPr wrap="square" lIns="0" tIns="0" rIns="0" bIns="0" rtlCol="0" anchor="ctr"/>
          <a:lstStyle/>
          <a:p>
            <a:pPr indent="0" marL="0">
              <a:buNone/>
            </a:pPr>
            <a:r>
              <a:rPr lang="en-US" sz="1100" i="1" dirty="0">
                <a:solidFill>
                  <a:srgbClr val="6B2C33"/>
                </a:solidFill>
                <a:latin typeface="Calibri" pitchFamily="34" charset="0"/>
                <a:ea typeface="Calibri" pitchFamily="34" charset="-122"/>
                <a:cs typeface="Calibri" pitchFamily="34" charset="-120"/>
              </a:rPr>
              <a:t>Es investigación jurídica asistida, no asesoría legal. En materias con plazos, prescripción o caducidad de por medio, corresponde revisión profesional antes de actuar.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230"/>
        </a:solidFill>
      </p:bgPr>
    </p:bg>
    <p:spTree>
      <p:nvGrpSpPr>
        <p:cNvPr id="1" name=""/>
        <p:cNvGrpSpPr/>
        <p:nvPr/>
      </p:nvGrpSpPr>
      <p:grpSpPr>
        <a:xfrm>
          <a:off x="0" y="0"/>
          <a:ext cx="0" cy="0"/>
          <a:chOff x="0" y="0"/>
          <a:chExt cx="0" cy="0"/>
        </a:xfrm>
      </p:grpSpPr>
      <p:sp>
        <p:nvSpPr>
          <p:cNvPr id="2" name="Text 0"/>
          <p:cNvSpPr/>
          <p:nvPr/>
        </p:nvSpPr>
        <p:spPr>
          <a:xfrm>
            <a:off x="777240" y="566928"/>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preguntarle</a:t>
            </a:r>
            <a:endParaRPr lang="en-US" sz="3200" dirty="0"/>
          </a:p>
        </p:txBody>
      </p:sp>
      <p:sp>
        <p:nvSpPr>
          <p:cNvPr id="3" name="Text 1"/>
          <p:cNvSpPr/>
          <p:nvPr/>
        </p:nvSpPr>
        <p:spPr>
          <a:xfrm>
            <a:off x="777240" y="1133856"/>
            <a:ext cx="8229600" cy="365760"/>
          </a:xfrm>
          <a:prstGeom prst="rect">
            <a:avLst/>
          </a:prstGeom>
          <a:noFill/>
          <a:ln/>
        </p:spPr>
        <p:txBody>
          <a:bodyPr wrap="square" lIns="0" tIns="0" rIns="0" bIns="0" rtlCol="0" anchor="ctr"/>
          <a:lstStyle/>
          <a:p>
            <a:pPr indent="0" marL="0">
              <a:buNone/>
            </a:pPr>
            <a:r>
              <a:rPr lang="en-US" sz="1350" i="1" dirty="0">
                <a:solidFill>
                  <a:srgbClr val="8A93A5"/>
                </a:solidFill>
                <a:latin typeface="Calibri" pitchFamily="34" charset="0"/>
                <a:ea typeface="Calibri" pitchFamily="34" charset="-122"/>
                <a:cs typeface="Calibri" pitchFamily="34" charset="-120"/>
              </a:rPr>
              <a:t>En lenguaje natural. Responsa decide a qué fuente ir.</a:t>
            </a:r>
            <a:endParaRPr lang="en-US" sz="1350" dirty="0"/>
          </a:p>
        </p:txBody>
      </p:sp>
      <p:sp>
        <p:nvSpPr>
          <p:cNvPr id="4" name="Text 2"/>
          <p:cNvSpPr/>
          <p:nvPr/>
        </p:nvSpPr>
        <p:spPr>
          <a:xfrm>
            <a:off x="777240" y="1755648"/>
            <a:ext cx="6309360" cy="310896"/>
          </a:xfrm>
          <a:prstGeom prst="rect">
            <a:avLst/>
          </a:prstGeom>
          <a:noFill/>
          <a:ln/>
        </p:spPr>
        <p:txBody>
          <a:bodyPr wrap="square" lIns="0" tIns="0" rIns="0" bIns="0" rtlCol="0" anchor="ctr"/>
          <a:lstStyle/>
          <a:p>
            <a:pPr indent="0" marL="0">
              <a:buNone/>
            </a:pPr>
            <a:r>
              <a:rPr lang="en-US" sz="1450" dirty="0">
                <a:solidFill>
                  <a:srgbClr val="FFFFFF"/>
                </a:solidFill>
                <a:latin typeface="Cambria" pitchFamily="34" charset="0"/>
                <a:ea typeface="Cambria" pitchFamily="34" charset="-122"/>
                <a:cs typeface="Cambria" pitchFamily="34" charset="-120"/>
              </a:rPr>
              <a:t>«Fallos que apliquen el artículo 16 de la Ley 19.496»</a:t>
            </a:r>
            <a:endParaRPr lang="en-US" sz="1450" dirty="0"/>
          </a:p>
        </p:txBody>
      </p:sp>
      <p:sp>
        <p:nvSpPr>
          <p:cNvPr id="5" name="Text 3"/>
          <p:cNvSpPr/>
          <p:nvPr/>
        </p:nvSpPr>
        <p:spPr>
          <a:xfrm>
            <a:off x="7269480" y="1792224"/>
            <a:ext cx="4114800" cy="274320"/>
          </a:xfrm>
          <a:prstGeom prst="rect">
            <a:avLst/>
          </a:prstGeom>
          <a:noFill/>
          <a:ln/>
        </p:spPr>
        <p:txBody>
          <a:bodyPr wrap="square" lIns="0" tIns="0" rIns="0" bIns="0" rtlCol="0" anchor="ctr"/>
          <a:lstStyle/>
          <a:p>
            <a:pPr indent="0" marL="0">
              <a:buNone/>
            </a:pPr>
            <a:r>
              <a:rPr lang="en-US" sz="1050" dirty="0">
                <a:solidFill>
                  <a:srgbClr val="C9A574"/>
                </a:solidFill>
                <a:latin typeface="Calibri" pitchFamily="34" charset="0"/>
                <a:ea typeface="Calibri" pitchFamily="34" charset="-122"/>
                <a:cs typeface="Calibri" pitchFamily="34" charset="-120"/>
              </a:rPr>
              <a:t>Ley Chile + Poder Judicial, filtrando por norma aplicada</a:t>
            </a:r>
            <a:endParaRPr lang="en-US" sz="1050" dirty="0"/>
          </a:p>
        </p:txBody>
      </p:sp>
      <p:sp>
        <p:nvSpPr>
          <p:cNvPr id="6" name="Text 4"/>
          <p:cNvSpPr/>
          <p:nvPr/>
        </p:nvSpPr>
        <p:spPr>
          <a:xfrm>
            <a:off x="777240" y="2377440"/>
            <a:ext cx="6309360" cy="310896"/>
          </a:xfrm>
          <a:prstGeom prst="rect">
            <a:avLst/>
          </a:prstGeom>
          <a:noFill/>
          <a:ln/>
        </p:spPr>
        <p:txBody>
          <a:bodyPr wrap="square" lIns="0" tIns="0" rIns="0" bIns="0" rtlCol="0" anchor="ctr"/>
          <a:lstStyle/>
          <a:p>
            <a:pPr indent="0" marL="0">
              <a:buNone/>
            </a:pPr>
            <a:r>
              <a:rPr lang="en-US" sz="1450" dirty="0">
                <a:solidFill>
                  <a:srgbClr val="FFFFFF"/>
                </a:solidFill>
                <a:latin typeface="Cambria" pitchFamily="34" charset="0"/>
                <a:ea typeface="Cambria" pitchFamily="34" charset="-122"/>
                <a:cs typeface="Cambria" pitchFamily="34" charset="-120"/>
              </a:rPr>
              <a:t>«¿Qué han resuelto los tribunales sobre tutela laboral?»</a:t>
            </a:r>
            <a:endParaRPr lang="en-US" sz="1450" dirty="0"/>
          </a:p>
        </p:txBody>
      </p:sp>
      <p:sp>
        <p:nvSpPr>
          <p:cNvPr id="7" name="Text 5"/>
          <p:cNvSpPr/>
          <p:nvPr/>
        </p:nvSpPr>
        <p:spPr>
          <a:xfrm>
            <a:off x="7269480" y="2414016"/>
            <a:ext cx="4114800" cy="274320"/>
          </a:xfrm>
          <a:prstGeom prst="rect">
            <a:avLst/>
          </a:prstGeom>
          <a:noFill/>
          <a:ln/>
        </p:spPr>
        <p:txBody>
          <a:bodyPr wrap="square" lIns="0" tIns="0" rIns="0" bIns="0" rtlCol="0" anchor="ctr"/>
          <a:lstStyle/>
          <a:p>
            <a:pPr indent="0" marL="0">
              <a:buNone/>
            </a:pPr>
            <a:r>
              <a:rPr lang="en-US" sz="1050" dirty="0">
                <a:solidFill>
                  <a:srgbClr val="C9A574"/>
                </a:solidFill>
                <a:latin typeface="Calibri" pitchFamily="34" charset="0"/>
                <a:ea typeface="Calibri" pitchFamily="34" charset="-122"/>
                <a:cs typeface="Calibri" pitchFamily="34" charset="-120"/>
              </a:rPr>
              <a:t>Los siete buscadores del Poder Judicial a la vez</a:t>
            </a:r>
            <a:endParaRPr lang="en-US" sz="1050" dirty="0"/>
          </a:p>
        </p:txBody>
      </p:sp>
      <p:sp>
        <p:nvSpPr>
          <p:cNvPr id="8" name="Text 6"/>
          <p:cNvSpPr/>
          <p:nvPr/>
        </p:nvSpPr>
        <p:spPr>
          <a:xfrm>
            <a:off x="777240" y="2999232"/>
            <a:ext cx="6309360" cy="310896"/>
          </a:xfrm>
          <a:prstGeom prst="rect">
            <a:avLst/>
          </a:prstGeom>
          <a:noFill/>
          <a:ln/>
        </p:spPr>
        <p:txBody>
          <a:bodyPr wrap="square" lIns="0" tIns="0" rIns="0" bIns="0" rtlCol="0" anchor="ctr"/>
          <a:lstStyle/>
          <a:p>
            <a:pPr indent="0" marL="0">
              <a:buNone/>
            </a:pPr>
            <a:r>
              <a:rPr lang="en-US" sz="1450" dirty="0">
                <a:solidFill>
                  <a:srgbClr val="FFFFFF"/>
                </a:solidFill>
                <a:latin typeface="Cambria" pitchFamily="34" charset="0"/>
                <a:ea typeface="Cambria" pitchFamily="34" charset="-122"/>
                <a:cs typeface="Cambria" pitchFamily="34" charset="-120"/>
              </a:rPr>
              <a:t>«¿Es constitucional esta norma?»</a:t>
            </a:r>
            <a:endParaRPr lang="en-US" sz="1450" dirty="0"/>
          </a:p>
        </p:txBody>
      </p:sp>
      <p:sp>
        <p:nvSpPr>
          <p:cNvPr id="9" name="Text 7"/>
          <p:cNvSpPr/>
          <p:nvPr/>
        </p:nvSpPr>
        <p:spPr>
          <a:xfrm>
            <a:off x="7269480" y="3035808"/>
            <a:ext cx="4114800" cy="274320"/>
          </a:xfrm>
          <a:prstGeom prst="rect">
            <a:avLst/>
          </a:prstGeom>
          <a:noFill/>
          <a:ln/>
        </p:spPr>
        <p:txBody>
          <a:bodyPr wrap="square" lIns="0" tIns="0" rIns="0" bIns="0" rtlCol="0" anchor="ctr"/>
          <a:lstStyle/>
          <a:p>
            <a:pPr indent="0" marL="0">
              <a:buNone/>
            </a:pPr>
            <a:r>
              <a:rPr lang="en-US" sz="1050" dirty="0">
                <a:solidFill>
                  <a:srgbClr val="C9A574"/>
                </a:solidFill>
                <a:latin typeface="Calibri" pitchFamily="34" charset="0"/>
                <a:ea typeface="Calibri" pitchFamily="34" charset="-122"/>
                <a:cs typeface="Calibri" pitchFamily="34" charset="-120"/>
              </a:rPr>
              <a:t>Tribunal Constitucional, con los párrafos pertinentes y el PDF</a:t>
            </a:r>
            <a:endParaRPr lang="en-US" sz="1050" dirty="0"/>
          </a:p>
        </p:txBody>
      </p:sp>
      <p:sp>
        <p:nvSpPr>
          <p:cNvPr id="10" name="Text 8"/>
          <p:cNvSpPr/>
          <p:nvPr/>
        </p:nvSpPr>
        <p:spPr>
          <a:xfrm>
            <a:off x="777240" y="3621024"/>
            <a:ext cx="6309360" cy="310896"/>
          </a:xfrm>
          <a:prstGeom prst="rect">
            <a:avLst/>
          </a:prstGeom>
          <a:noFill/>
          <a:ln/>
        </p:spPr>
        <p:txBody>
          <a:bodyPr wrap="square" lIns="0" tIns="0" rIns="0" bIns="0" rtlCol="0" anchor="ctr"/>
          <a:lstStyle/>
          <a:p>
            <a:pPr indent="0" marL="0">
              <a:buNone/>
            </a:pPr>
            <a:r>
              <a:rPr lang="en-US" sz="1450" dirty="0">
                <a:solidFill>
                  <a:srgbClr val="FFFFFF"/>
                </a:solidFill>
                <a:latin typeface="Cambria" pitchFamily="34" charset="0"/>
                <a:ea typeface="Cambria" pitchFamily="34" charset="-122"/>
                <a:cs typeface="Cambria" pitchFamily="34" charset="-120"/>
              </a:rPr>
              <a:t>«Dictámenes sobre sala cuna»</a:t>
            </a:r>
            <a:endParaRPr lang="en-US" sz="1450" dirty="0"/>
          </a:p>
        </p:txBody>
      </p:sp>
      <p:sp>
        <p:nvSpPr>
          <p:cNvPr id="11" name="Text 9"/>
          <p:cNvSpPr/>
          <p:nvPr/>
        </p:nvSpPr>
        <p:spPr>
          <a:xfrm>
            <a:off x="7269480" y="3657600"/>
            <a:ext cx="4114800" cy="274320"/>
          </a:xfrm>
          <a:prstGeom prst="rect">
            <a:avLst/>
          </a:prstGeom>
          <a:noFill/>
          <a:ln/>
        </p:spPr>
        <p:txBody>
          <a:bodyPr wrap="square" lIns="0" tIns="0" rIns="0" bIns="0" rtlCol="0" anchor="ctr"/>
          <a:lstStyle/>
          <a:p>
            <a:pPr indent="0" marL="0">
              <a:buNone/>
            </a:pPr>
            <a:r>
              <a:rPr lang="en-US" sz="1050" dirty="0">
                <a:solidFill>
                  <a:srgbClr val="C9A574"/>
                </a:solidFill>
                <a:latin typeface="Calibri" pitchFamily="34" charset="0"/>
                <a:ea typeface="Calibri" pitchFamily="34" charset="-122"/>
                <a:cs typeface="Calibri" pitchFamily="34" charset="-120"/>
              </a:rPr>
              <a:t>Dirección del Trabajo, o Contraloría si es función pública</a:t>
            </a:r>
            <a:endParaRPr lang="en-US" sz="1050" dirty="0"/>
          </a:p>
        </p:txBody>
      </p:sp>
      <p:sp>
        <p:nvSpPr>
          <p:cNvPr id="12" name="Text 10"/>
          <p:cNvSpPr/>
          <p:nvPr/>
        </p:nvSpPr>
        <p:spPr>
          <a:xfrm>
            <a:off x="777240" y="4242816"/>
            <a:ext cx="6309360" cy="310896"/>
          </a:xfrm>
          <a:prstGeom prst="rect">
            <a:avLst/>
          </a:prstGeom>
          <a:noFill/>
          <a:ln/>
        </p:spPr>
        <p:txBody>
          <a:bodyPr wrap="square" lIns="0" tIns="0" rIns="0" bIns="0" rtlCol="0" anchor="ctr"/>
          <a:lstStyle/>
          <a:p>
            <a:pPr indent="0" marL="0">
              <a:buNone/>
            </a:pPr>
            <a:r>
              <a:rPr lang="en-US" sz="1450" dirty="0">
                <a:solidFill>
                  <a:srgbClr val="FFFFFF"/>
                </a:solidFill>
                <a:latin typeface="Cambria" pitchFamily="34" charset="0"/>
                <a:ea typeface="Cambria" pitchFamily="34" charset="-122"/>
                <a:cs typeface="Cambria" pitchFamily="34" charset="-120"/>
              </a:rPr>
              <a:t>«Arbitrajes sobre contratos de construcción»</a:t>
            </a:r>
            <a:endParaRPr lang="en-US" sz="1450" dirty="0"/>
          </a:p>
        </p:txBody>
      </p:sp>
      <p:sp>
        <p:nvSpPr>
          <p:cNvPr id="13" name="Text 11"/>
          <p:cNvSpPr/>
          <p:nvPr/>
        </p:nvSpPr>
        <p:spPr>
          <a:xfrm>
            <a:off x="7269480" y="4279392"/>
            <a:ext cx="4114800" cy="274320"/>
          </a:xfrm>
          <a:prstGeom prst="rect">
            <a:avLst/>
          </a:prstGeom>
          <a:noFill/>
          <a:ln/>
        </p:spPr>
        <p:txBody>
          <a:bodyPr wrap="square" lIns="0" tIns="0" rIns="0" bIns="0" rtlCol="0" anchor="ctr"/>
          <a:lstStyle/>
          <a:p>
            <a:pPr indent="0" marL="0">
              <a:buNone/>
            </a:pPr>
            <a:r>
              <a:rPr lang="en-US" sz="1050" dirty="0">
                <a:solidFill>
                  <a:srgbClr val="C9A574"/>
                </a:solidFill>
                <a:latin typeface="Calibri" pitchFamily="34" charset="0"/>
                <a:ea typeface="Calibri" pitchFamily="34" charset="-122"/>
                <a:cs typeface="Calibri" pitchFamily="34" charset="-120"/>
              </a:rPr>
              <a:t>Laudos del CAM Santiago, con enlace al PDF</a:t>
            </a:r>
            <a:endParaRPr lang="en-US" sz="1050" dirty="0"/>
          </a:p>
        </p:txBody>
      </p:sp>
      <p:sp>
        <p:nvSpPr>
          <p:cNvPr id="14" name="Text 12"/>
          <p:cNvSpPr/>
          <p:nvPr/>
        </p:nvSpPr>
        <p:spPr>
          <a:xfrm>
            <a:off x="777240" y="4864608"/>
            <a:ext cx="6309360" cy="310896"/>
          </a:xfrm>
          <a:prstGeom prst="rect">
            <a:avLst/>
          </a:prstGeom>
          <a:noFill/>
          <a:ln/>
        </p:spPr>
        <p:txBody>
          <a:bodyPr wrap="square" lIns="0" tIns="0" rIns="0" bIns="0" rtlCol="0" anchor="ctr"/>
          <a:lstStyle/>
          <a:p>
            <a:pPr indent="0" marL="0">
              <a:buNone/>
            </a:pPr>
            <a:r>
              <a:rPr lang="en-US" sz="1450" dirty="0">
                <a:solidFill>
                  <a:srgbClr val="FFFFFF"/>
                </a:solidFill>
                <a:latin typeface="Cambria" pitchFamily="34" charset="0"/>
                <a:ea typeface="Cambria" pitchFamily="34" charset="-122"/>
                <a:cs typeface="Cambria" pitchFamily="34" charset="-120"/>
              </a:rPr>
              <a:t>«¿Cuánto demora un juicio laboral en Valparaíso?»</a:t>
            </a:r>
            <a:endParaRPr lang="en-US" sz="1450" dirty="0"/>
          </a:p>
        </p:txBody>
      </p:sp>
      <p:sp>
        <p:nvSpPr>
          <p:cNvPr id="15" name="Text 13"/>
          <p:cNvSpPr/>
          <p:nvPr/>
        </p:nvSpPr>
        <p:spPr>
          <a:xfrm>
            <a:off x="7269480" y="4901184"/>
            <a:ext cx="4114800" cy="274320"/>
          </a:xfrm>
          <a:prstGeom prst="rect">
            <a:avLst/>
          </a:prstGeom>
          <a:noFill/>
          <a:ln/>
        </p:spPr>
        <p:txBody>
          <a:bodyPr wrap="square" lIns="0" tIns="0" rIns="0" bIns="0" rtlCol="0" anchor="ctr"/>
          <a:lstStyle/>
          <a:p>
            <a:pPr indent="0" marL="0">
              <a:buNone/>
            </a:pPr>
            <a:r>
              <a:rPr lang="en-US" sz="1050" dirty="0">
                <a:solidFill>
                  <a:srgbClr val="C9A574"/>
                </a:solidFill>
                <a:latin typeface="Calibri" pitchFamily="34" charset="0"/>
                <a:ea typeface="Calibri" pitchFamily="34" charset="-122"/>
                <a:cs typeface="Calibri" pitchFamily="34" charset="-120"/>
              </a:rPr>
              <a:t>Estadísticas oficiales del Poder Judicial</a:t>
            </a:r>
            <a:endParaRPr lang="en-US" sz="1050" dirty="0"/>
          </a:p>
        </p:txBody>
      </p:sp>
      <p:sp>
        <p:nvSpPr>
          <p:cNvPr id="16" name="Text 14"/>
          <p:cNvSpPr/>
          <p:nvPr/>
        </p:nvSpPr>
        <p:spPr>
          <a:xfrm>
            <a:off x="777240" y="5486400"/>
            <a:ext cx="6309360" cy="310896"/>
          </a:xfrm>
          <a:prstGeom prst="rect">
            <a:avLst/>
          </a:prstGeom>
          <a:noFill/>
          <a:ln/>
        </p:spPr>
        <p:txBody>
          <a:bodyPr wrap="square" lIns="0" tIns="0" rIns="0" bIns="0" rtlCol="0" anchor="ctr"/>
          <a:lstStyle/>
          <a:p>
            <a:pPr indent="0" marL="0">
              <a:buNone/>
            </a:pPr>
            <a:r>
              <a:rPr lang="en-US" sz="1450" dirty="0">
                <a:solidFill>
                  <a:srgbClr val="FFFFFF"/>
                </a:solidFill>
                <a:latin typeface="Cambria" pitchFamily="34" charset="0"/>
                <a:ea typeface="Cambria" pitchFamily="34" charset="-122"/>
                <a:cs typeface="Cambria" pitchFamily="34" charset="-120"/>
              </a:rPr>
              <a:t>«¿A cuánto equivalen 50 UTM hoy?»</a:t>
            </a:r>
            <a:endParaRPr lang="en-US" sz="1450" dirty="0"/>
          </a:p>
        </p:txBody>
      </p:sp>
      <p:sp>
        <p:nvSpPr>
          <p:cNvPr id="17" name="Text 15"/>
          <p:cNvSpPr/>
          <p:nvPr/>
        </p:nvSpPr>
        <p:spPr>
          <a:xfrm>
            <a:off x="7269480" y="5522976"/>
            <a:ext cx="4114800" cy="274320"/>
          </a:xfrm>
          <a:prstGeom prst="rect">
            <a:avLst/>
          </a:prstGeom>
          <a:noFill/>
          <a:ln/>
        </p:spPr>
        <p:txBody>
          <a:bodyPr wrap="square" lIns="0" tIns="0" rIns="0" bIns="0" rtlCol="0" anchor="ctr"/>
          <a:lstStyle/>
          <a:p>
            <a:pPr indent="0" marL="0">
              <a:buNone/>
            </a:pPr>
            <a:r>
              <a:rPr lang="en-US" sz="1050" dirty="0">
                <a:solidFill>
                  <a:srgbClr val="C9A574"/>
                </a:solidFill>
                <a:latin typeface="Calibri" pitchFamily="34" charset="0"/>
                <a:ea typeface="Calibri" pitchFamily="34" charset="-122"/>
                <a:cs typeface="Calibri" pitchFamily="34" charset="-120"/>
              </a:rPr>
              <a:t>Valores del Banco Central y del SII</a:t>
            </a:r>
            <a:endParaRPr lang="en-US" sz="1050" dirty="0"/>
          </a:p>
        </p:txBody>
      </p:sp>
      <p:sp>
        <p:nvSpPr>
          <p:cNvPr id="18" name="Text 16"/>
          <p:cNvSpPr/>
          <p:nvPr/>
        </p:nvSpPr>
        <p:spPr>
          <a:xfrm>
            <a:off x="777240" y="6035040"/>
            <a:ext cx="10607040" cy="411480"/>
          </a:xfrm>
          <a:prstGeom prst="rect">
            <a:avLst/>
          </a:prstGeom>
          <a:noFill/>
          <a:ln/>
        </p:spPr>
        <p:txBody>
          <a:bodyPr wrap="square" lIns="0" tIns="0" rIns="0" bIns="0" rtlCol="0" anchor="t"/>
          <a:lstStyle/>
          <a:p>
            <a:pPr indent="0" marL="0">
              <a:buNone/>
            </a:pPr>
            <a:r>
              <a:rPr lang="en-US" sz="1100" i="1" dirty="0">
                <a:solidFill>
                  <a:srgbClr val="8A93A5"/>
                </a:solidFill>
                <a:latin typeface="Calibri" pitchFamily="34" charset="0"/>
                <a:ea typeface="Calibri" pitchFamily="34" charset="-122"/>
                <a:cs typeface="Calibri" pitchFamily="34" charset="-120"/>
              </a:rPr>
              <a:t>Una sola pregunta puede combinar varias fuentes: ubicar la norma, leer su texto vigente, traer los fallos que la aplican y sumar el criterio administrativo.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230"/>
        </a:solidFill>
      </p:bgPr>
    </p:bg>
    <p:spTree>
      <p:nvGrpSpPr>
        <p:cNvPr id="1" name=""/>
        <p:cNvGrpSpPr/>
        <p:nvPr/>
      </p:nvGrpSpPr>
      <p:grpSpPr>
        <a:xfrm>
          <a:off x="0" y="0"/>
          <a:ext cx="0" cy="0"/>
          <a:chOff x="0" y="0"/>
          <a:chExt cx="0" cy="0"/>
        </a:xfrm>
      </p:grpSpPr>
      <p:sp>
        <p:nvSpPr>
          <p:cNvPr id="2" name="Text 0"/>
          <p:cNvSpPr/>
          <p:nvPr/>
        </p:nvSpPr>
        <p:spPr>
          <a:xfrm>
            <a:off x="777240" y="2286000"/>
            <a:ext cx="676656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Manual de instalación</a:t>
            </a:r>
            <a:endParaRPr lang="en-US" sz="4400" dirty="0"/>
          </a:p>
        </p:txBody>
      </p:sp>
      <p:sp>
        <p:nvSpPr>
          <p:cNvPr id="3" name="Text 1"/>
          <p:cNvSpPr/>
          <p:nvPr/>
        </p:nvSpPr>
        <p:spPr>
          <a:xfrm>
            <a:off x="777240" y="3127248"/>
            <a:ext cx="6766560" cy="365760"/>
          </a:xfrm>
          <a:prstGeom prst="rect">
            <a:avLst/>
          </a:prstGeom>
          <a:noFill/>
          <a:ln/>
        </p:spPr>
        <p:txBody>
          <a:bodyPr wrap="square" lIns="0" tIns="0" rIns="0" bIns="0" rtlCol="0" anchor="t"/>
          <a:lstStyle/>
          <a:p>
            <a:pPr indent="0" marL="0">
              <a:buNone/>
            </a:pPr>
            <a:r>
              <a:rPr lang="en-US" sz="1400" dirty="0">
                <a:solidFill>
                  <a:srgbClr val="C9A574"/>
                </a:solidFill>
                <a:latin typeface="Calibri" pitchFamily="34" charset="0"/>
                <a:ea typeface="Calibri" pitchFamily="34" charset="-122"/>
                <a:cs typeface="Calibri" pitchFamily="34" charset="-120"/>
              </a:rPr>
              <a:t>Windows y macOS · unos quince minutos, casi todo esperando descargas</a:t>
            </a:r>
            <a:endParaRPr lang="en-US" sz="1400" dirty="0"/>
          </a:p>
        </p:txBody>
      </p:sp>
      <p:sp>
        <p:nvSpPr>
          <p:cNvPr id="4" name="Text 2"/>
          <p:cNvSpPr/>
          <p:nvPr/>
        </p:nvSpPr>
        <p:spPr>
          <a:xfrm>
            <a:off x="777240" y="3611880"/>
            <a:ext cx="6583680" cy="548640"/>
          </a:xfrm>
          <a:prstGeom prst="rect">
            <a:avLst/>
          </a:prstGeom>
          <a:noFill/>
          <a:ln/>
        </p:spPr>
        <p:txBody>
          <a:bodyPr wrap="square" lIns="0" tIns="0" rIns="0" bIns="0" rtlCol="0" anchor="t"/>
          <a:lstStyle/>
          <a:p>
            <a:pPr indent="0" marL="0">
              <a:buNone/>
            </a:pPr>
            <a:r>
              <a:rPr lang="en-US" sz="1200" i="1" dirty="0">
                <a:solidFill>
                  <a:srgbClr val="8A93A5"/>
                </a:solidFill>
                <a:latin typeface="Calibri" pitchFamily="34" charset="0"/>
                <a:ea typeface="Calibri" pitchFamily="34" charset="-122"/>
                <a:cs typeface="Calibri" pitchFamily="34" charset="-120"/>
              </a:rPr>
              <a:t>Escrito para quien no programa. Si algún paso da por sabido algo, es un error de esta guía y conviene avisarlo.</a:t>
            </a:r>
            <a:endParaRPr lang="en-US" sz="1200" dirty="0"/>
          </a:p>
        </p:txBody>
      </p:sp>
      <p:sp>
        <p:nvSpPr>
          <p:cNvPr id="5" name="Shape 3"/>
          <p:cNvSpPr/>
          <p:nvPr/>
        </p:nvSpPr>
        <p:spPr>
          <a:xfrm>
            <a:off x="777240" y="4617720"/>
            <a:ext cx="310896" cy="310896"/>
          </a:xfrm>
          <a:prstGeom prst="ellipse">
            <a:avLst/>
          </a:prstGeom>
          <a:solidFill>
            <a:srgbClr val="A87C4F"/>
          </a:solidFill>
          <a:ln/>
        </p:spPr>
      </p:sp>
      <p:sp>
        <p:nvSpPr>
          <p:cNvPr id="6" name="Text 4"/>
          <p:cNvSpPr/>
          <p:nvPr/>
        </p:nvSpPr>
        <p:spPr>
          <a:xfrm>
            <a:off x="777240" y="4617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97864" y="4636008"/>
            <a:ext cx="1874520" cy="274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Instalar Node.js</a:t>
            </a:r>
            <a:endParaRPr lang="en-US" sz="1150" dirty="0"/>
          </a:p>
        </p:txBody>
      </p:sp>
      <p:sp>
        <p:nvSpPr>
          <p:cNvPr id="8" name="Shape 6"/>
          <p:cNvSpPr/>
          <p:nvPr/>
        </p:nvSpPr>
        <p:spPr>
          <a:xfrm>
            <a:off x="3108960" y="4617720"/>
            <a:ext cx="310896" cy="310896"/>
          </a:xfrm>
          <a:prstGeom prst="ellipse">
            <a:avLst/>
          </a:prstGeom>
          <a:solidFill>
            <a:srgbClr val="A87C4F"/>
          </a:solidFill>
          <a:ln/>
        </p:spPr>
      </p:sp>
      <p:sp>
        <p:nvSpPr>
          <p:cNvPr id="9" name="Text 7"/>
          <p:cNvSpPr/>
          <p:nvPr/>
        </p:nvSpPr>
        <p:spPr>
          <a:xfrm>
            <a:off x="3108960" y="4617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3529584" y="4636008"/>
            <a:ext cx="1874520" cy="274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Descargar Responsa</a:t>
            </a:r>
            <a:endParaRPr lang="en-US" sz="1150" dirty="0"/>
          </a:p>
        </p:txBody>
      </p:sp>
      <p:sp>
        <p:nvSpPr>
          <p:cNvPr id="11" name="Shape 9"/>
          <p:cNvSpPr/>
          <p:nvPr/>
        </p:nvSpPr>
        <p:spPr>
          <a:xfrm>
            <a:off x="5440680" y="4617720"/>
            <a:ext cx="310896" cy="310896"/>
          </a:xfrm>
          <a:prstGeom prst="ellipse">
            <a:avLst/>
          </a:prstGeom>
          <a:solidFill>
            <a:srgbClr val="A87C4F"/>
          </a:solidFill>
          <a:ln/>
        </p:spPr>
      </p:sp>
      <p:sp>
        <p:nvSpPr>
          <p:cNvPr id="12" name="Text 10"/>
          <p:cNvSpPr/>
          <p:nvPr/>
        </p:nvSpPr>
        <p:spPr>
          <a:xfrm>
            <a:off x="5440680" y="4617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5861304" y="4636008"/>
            <a:ext cx="1874520" cy="274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Ejecutar el instalador</a:t>
            </a:r>
            <a:endParaRPr lang="en-US" sz="1150" dirty="0"/>
          </a:p>
        </p:txBody>
      </p:sp>
      <p:sp>
        <p:nvSpPr>
          <p:cNvPr id="14" name="Shape 12"/>
          <p:cNvSpPr/>
          <p:nvPr/>
        </p:nvSpPr>
        <p:spPr>
          <a:xfrm>
            <a:off x="777240" y="5184648"/>
            <a:ext cx="310896" cy="310896"/>
          </a:xfrm>
          <a:prstGeom prst="ellipse">
            <a:avLst/>
          </a:prstGeom>
          <a:solidFill>
            <a:srgbClr val="A87C4F"/>
          </a:solidFill>
          <a:ln/>
        </p:spPr>
      </p:sp>
      <p:sp>
        <p:nvSpPr>
          <p:cNvPr id="15" name="Text 13"/>
          <p:cNvSpPr/>
          <p:nvPr/>
        </p:nvSpPr>
        <p:spPr>
          <a:xfrm>
            <a:off x="777240" y="51846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1197864" y="5202936"/>
            <a:ext cx="1874520" cy="274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Reiniciar Claude</a:t>
            </a:r>
            <a:endParaRPr lang="en-US" sz="1150" dirty="0"/>
          </a:p>
        </p:txBody>
      </p:sp>
      <p:sp>
        <p:nvSpPr>
          <p:cNvPr id="17" name="Shape 15"/>
          <p:cNvSpPr/>
          <p:nvPr/>
        </p:nvSpPr>
        <p:spPr>
          <a:xfrm>
            <a:off x="3108960" y="5184648"/>
            <a:ext cx="310896" cy="310896"/>
          </a:xfrm>
          <a:prstGeom prst="ellipse">
            <a:avLst/>
          </a:prstGeom>
          <a:solidFill>
            <a:srgbClr val="A87C4F"/>
          </a:solidFill>
          <a:ln/>
        </p:spPr>
      </p:sp>
      <p:sp>
        <p:nvSpPr>
          <p:cNvPr id="18" name="Text 16"/>
          <p:cNvSpPr/>
          <p:nvPr/>
        </p:nvSpPr>
        <p:spPr>
          <a:xfrm>
            <a:off x="3108960" y="51846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3529584" y="5202936"/>
            <a:ext cx="1874520" cy="274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Comprobar que funciona</a:t>
            </a:r>
            <a:endParaRPr lang="en-US" sz="1150" dirty="0"/>
          </a:p>
        </p:txBody>
      </p:sp>
      <p:sp>
        <p:nvSpPr>
          <p:cNvPr id="20" name="Shape 18"/>
          <p:cNvSpPr/>
          <p:nvPr/>
        </p:nvSpPr>
        <p:spPr>
          <a:xfrm>
            <a:off x="7818120" y="2194560"/>
            <a:ext cx="3593592" cy="3675888"/>
          </a:xfrm>
          <a:prstGeom prst="roundRect">
            <a:avLst>
              <a:gd name="adj" fmla="val 1527"/>
            </a:avLst>
          </a:prstGeom>
          <a:solidFill>
            <a:srgbClr val="2A3446"/>
          </a:solidFill>
          <a:ln/>
        </p:spPr>
      </p:sp>
      <p:sp>
        <p:nvSpPr>
          <p:cNvPr id="21" name="Text 19"/>
          <p:cNvSpPr/>
          <p:nvPr/>
        </p:nvSpPr>
        <p:spPr>
          <a:xfrm>
            <a:off x="8183880" y="2487168"/>
            <a:ext cx="2926080" cy="256032"/>
          </a:xfrm>
          <a:prstGeom prst="rect">
            <a:avLst/>
          </a:prstGeom>
          <a:noFill/>
          <a:ln/>
        </p:spPr>
        <p:txBody>
          <a:bodyPr wrap="square" lIns="0" tIns="0" rIns="0" bIns="0" rtlCol="0" anchor="t"/>
          <a:lstStyle/>
          <a:p>
            <a:pPr indent="0" marL="0">
              <a:buNone/>
            </a:pPr>
            <a:r>
              <a:rPr lang="en-US" sz="1050" spc="150" kern="0" dirty="0">
                <a:solidFill>
                  <a:srgbClr val="C9A574"/>
                </a:solidFill>
                <a:latin typeface="Calibri" pitchFamily="34" charset="0"/>
                <a:ea typeface="Calibri" pitchFamily="34" charset="-122"/>
                <a:cs typeface="Calibri" pitchFamily="34" charset="-120"/>
              </a:rPr>
              <a:t>Qué queda instalado</a:t>
            </a:r>
            <a:endParaRPr lang="en-US" sz="1050" dirty="0"/>
          </a:p>
        </p:txBody>
      </p:sp>
      <p:sp>
        <p:nvSpPr>
          <p:cNvPr id="22" name="Text 20"/>
          <p:cNvSpPr/>
          <p:nvPr/>
        </p:nvSpPr>
        <p:spPr>
          <a:xfrm>
            <a:off x="8183880" y="2834640"/>
            <a:ext cx="2926080" cy="237744"/>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El servidor</a:t>
            </a:r>
            <a:endParaRPr lang="en-US" sz="1150" dirty="0"/>
          </a:p>
        </p:txBody>
      </p:sp>
      <p:sp>
        <p:nvSpPr>
          <p:cNvPr id="23" name="Text 21"/>
          <p:cNvSpPr/>
          <p:nvPr/>
        </p:nvSpPr>
        <p:spPr>
          <a:xfrm>
            <a:off x="8183880" y="3081528"/>
            <a:ext cx="2926080" cy="548640"/>
          </a:xfrm>
          <a:prstGeom prst="rect">
            <a:avLst/>
          </a:prstGeom>
          <a:noFill/>
          <a:ln/>
        </p:spPr>
        <p:txBody>
          <a:bodyPr wrap="square" lIns="0" tIns="0" rIns="0" bIns="0" rtlCol="0" anchor="t"/>
          <a:lstStyle/>
          <a:p>
            <a:pPr indent="0" marL="0">
              <a:lnSpc>
                <a:spcPct val="100000"/>
              </a:lnSpc>
              <a:buNone/>
            </a:pPr>
            <a:r>
              <a:rPr lang="en-US" sz="950" dirty="0">
                <a:solidFill>
                  <a:srgbClr val="8A93A5"/>
                </a:solidFill>
                <a:latin typeface="Calibri" pitchFamily="34" charset="0"/>
                <a:ea typeface="Calibri" pitchFamily="34" charset="-122"/>
                <a:cs typeface="Calibri" pitchFamily="34" charset="-120"/>
              </a:rPr>
              <a:t>Corre en tu computador, no en la nube. Sólo se activa cuando Claude le pregunta.</a:t>
            </a:r>
            <a:endParaRPr lang="en-US" sz="950" dirty="0"/>
          </a:p>
        </p:txBody>
      </p:sp>
      <p:sp>
        <p:nvSpPr>
          <p:cNvPr id="24" name="Text 22"/>
          <p:cNvSpPr/>
          <p:nvPr/>
        </p:nvSpPr>
        <p:spPr>
          <a:xfrm>
            <a:off x="8183880" y="3675888"/>
            <a:ext cx="2926080" cy="237744"/>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El registro en Claude</a:t>
            </a:r>
            <a:endParaRPr lang="en-US" sz="1150" dirty="0"/>
          </a:p>
        </p:txBody>
      </p:sp>
      <p:sp>
        <p:nvSpPr>
          <p:cNvPr id="25" name="Text 23"/>
          <p:cNvSpPr/>
          <p:nvPr/>
        </p:nvSpPr>
        <p:spPr>
          <a:xfrm>
            <a:off x="8183880" y="3922776"/>
            <a:ext cx="2926080" cy="548640"/>
          </a:xfrm>
          <a:prstGeom prst="rect">
            <a:avLst/>
          </a:prstGeom>
          <a:noFill/>
          <a:ln/>
        </p:spPr>
        <p:txBody>
          <a:bodyPr wrap="square" lIns="0" tIns="0" rIns="0" bIns="0" rtlCol="0" anchor="t"/>
          <a:lstStyle/>
          <a:p>
            <a:pPr indent="0" marL="0">
              <a:lnSpc>
                <a:spcPct val="100000"/>
              </a:lnSpc>
              <a:buNone/>
            </a:pPr>
            <a:r>
              <a:rPr lang="en-US" sz="950" dirty="0">
                <a:solidFill>
                  <a:srgbClr val="8A93A5"/>
                </a:solidFill>
                <a:latin typeface="Calibri" pitchFamily="34" charset="0"/>
                <a:ea typeface="Calibri" pitchFamily="34" charset="-122"/>
                <a:cs typeface="Calibri" pitchFamily="34" charset="-120"/>
              </a:rPr>
              <a:t>Una línea de configuración para que Claude sepa que Responsa existe.</a:t>
            </a:r>
            <a:endParaRPr lang="en-US" sz="950" dirty="0"/>
          </a:p>
        </p:txBody>
      </p:sp>
      <p:sp>
        <p:nvSpPr>
          <p:cNvPr id="26" name="Text 24"/>
          <p:cNvSpPr/>
          <p:nvPr/>
        </p:nvSpPr>
        <p:spPr>
          <a:xfrm>
            <a:off x="8183880" y="4517136"/>
            <a:ext cx="2926080" cy="237744"/>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La skill de método</a:t>
            </a:r>
            <a:endParaRPr lang="en-US" sz="1150" dirty="0"/>
          </a:p>
        </p:txBody>
      </p:sp>
      <p:sp>
        <p:nvSpPr>
          <p:cNvPr id="27" name="Text 25"/>
          <p:cNvSpPr/>
          <p:nvPr/>
        </p:nvSpPr>
        <p:spPr>
          <a:xfrm>
            <a:off x="8183880" y="4764024"/>
            <a:ext cx="2926080" cy="548640"/>
          </a:xfrm>
          <a:prstGeom prst="rect">
            <a:avLst/>
          </a:prstGeom>
          <a:noFill/>
          <a:ln/>
        </p:spPr>
        <p:txBody>
          <a:bodyPr wrap="square" lIns="0" tIns="0" rIns="0" bIns="0" rtlCol="0" anchor="t"/>
          <a:lstStyle/>
          <a:p>
            <a:pPr indent="0" marL="0">
              <a:lnSpc>
                <a:spcPct val="100000"/>
              </a:lnSpc>
              <a:buNone/>
            </a:pPr>
            <a:r>
              <a:rPr lang="en-US" sz="950" dirty="0">
                <a:solidFill>
                  <a:srgbClr val="8A93A5"/>
                </a:solidFill>
                <a:latin typeface="Calibri" pitchFamily="34" charset="0"/>
                <a:ea typeface="Calibri" pitchFamily="34" charset="-122"/>
                <a:cs typeface="Calibri" pitchFamily="34" charset="-120"/>
              </a:rPr>
              <a:t>Le indica a Claude cómo citar y qué no puede afirmar sin respaldo.</a:t>
            </a:r>
            <a:endParaRPr lang="en-US" sz="950" dirty="0"/>
          </a:p>
        </p:txBody>
      </p:sp>
      <p:sp>
        <p:nvSpPr>
          <p:cNvPr id="28" name="Text 26"/>
          <p:cNvSpPr/>
          <p:nvPr/>
        </p:nvSpPr>
        <p:spPr>
          <a:xfrm>
            <a:off x="8183880" y="5394960"/>
            <a:ext cx="3017520" cy="402336"/>
          </a:xfrm>
          <a:prstGeom prst="rect">
            <a:avLst/>
          </a:prstGeom>
          <a:noFill/>
          <a:ln/>
        </p:spPr>
        <p:txBody>
          <a:bodyPr wrap="square" lIns="0" tIns="0" rIns="0" bIns="0" rtlCol="0" anchor="t"/>
          <a:lstStyle/>
          <a:p>
            <a:pPr indent="0" marL="0">
              <a:lnSpc>
                <a:spcPct val="105000"/>
              </a:lnSpc>
              <a:buNone/>
            </a:pPr>
            <a:r>
              <a:rPr lang="en-US" sz="950" i="1" dirty="0">
                <a:solidFill>
                  <a:srgbClr val="C9A574"/>
                </a:solidFill>
                <a:latin typeface="Calibri" pitchFamily="34" charset="0"/>
                <a:ea typeface="Calibri" pitchFamily="34" charset="-122"/>
                <a:cs typeface="Calibri" pitchFamily="34" charset="-120"/>
              </a:rPr>
              <a:t>Nada se envía a terceros: las consultas van directo a los sitios oficiales.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Paso 1 · Instalar Node.js</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Es el motor que ejecuta Responsa. Software estándar y gratuito</a:t>
            </a:r>
            <a:endParaRPr lang="en-US" sz="1350" dirty="0"/>
          </a:p>
        </p:txBody>
      </p:sp>
      <p:sp>
        <p:nvSpPr>
          <p:cNvPr id="4" name="Text 2"/>
          <p:cNvSpPr/>
          <p:nvPr/>
        </p:nvSpPr>
        <p:spPr>
          <a:xfrm>
            <a:off x="777240" y="1828800"/>
            <a:ext cx="5669280" cy="27432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Primero, comprobar si ya está. Abre la terminal y escribe:</a:t>
            </a:r>
            <a:endParaRPr lang="en-US" sz="1200" dirty="0"/>
          </a:p>
        </p:txBody>
      </p:sp>
      <p:sp>
        <p:nvSpPr>
          <p:cNvPr id="5" name="Shape 3"/>
          <p:cNvSpPr/>
          <p:nvPr/>
        </p:nvSpPr>
        <p:spPr>
          <a:xfrm>
            <a:off x="777240" y="2157984"/>
            <a:ext cx="4572000" cy="457200"/>
          </a:xfrm>
          <a:prstGeom prst="roundRect">
            <a:avLst>
              <a:gd name="adj" fmla="val 10000"/>
            </a:avLst>
          </a:prstGeom>
          <a:solidFill>
            <a:srgbClr val="1B2230"/>
          </a:solidFill>
          <a:ln/>
        </p:spPr>
      </p:sp>
      <p:sp>
        <p:nvSpPr>
          <p:cNvPr id="6" name="Text 4"/>
          <p:cNvSpPr/>
          <p:nvPr/>
        </p:nvSpPr>
        <p:spPr>
          <a:xfrm>
            <a:off x="978408" y="2157984"/>
            <a:ext cx="4169664" cy="457200"/>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node --version</a:t>
            </a:r>
            <a:endParaRPr lang="en-US" sz="1150" dirty="0"/>
          </a:p>
        </p:txBody>
      </p:sp>
      <p:sp>
        <p:nvSpPr>
          <p:cNvPr id="7" name="Text 5"/>
          <p:cNvSpPr/>
          <p:nvPr/>
        </p:nvSpPr>
        <p:spPr>
          <a:xfrm>
            <a:off x="777240" y="2724912"/>
            <a:ext cx="4572000" cy="45720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Si responde v20 o superior, ya está: salta al paso 2. Si dice que no reconoce el comando, sigue aquí.</a:t>
            </a:r>
            <a:endParaRPr lang="en-US" sz="1100" dirty="0"/>
          </a:p>
        </p:txBody>
      </p:sp>
      <p:sp>
        <p:nvSpPr>
          <p:cNvPr id="8" name="Shape 6"/>
          <p:cNvSpPr/>
          <p:nvPr/>
        </p:nvSpPr>
        <p:spPr>
          <a:xfrm>
            <a:off x="777240" y="3364992"/>
            <a:ext cx="4572000" cy="1371600"/>
          </a:xfrm>
          <a:prstGeom prst="roundRect">
            <a:avLst>
              <a:gd name="adj" fmla="val 4000"/>
            </a:avLst>
          </a:prstGeom>
          <a:solidFill>
            <a:srgbClr val="FFFFFF"/>
          </a:solidFill>
          <a:ln w="9525">
            <a:solidFill>
              <a:srgbClr val="E3DED3"/>
            </a:solidFill>
            <a:prstDash val="solid"/>
          </a:ln>
        </p:spPr>
      </p:sp>
      <p:sp>
        <p:nvSpPr>
          <p:cNvPr id="9" name="Text 7"/>
          <p:cNvSpPr/>
          <p:nvPr/>
        </p:nvSpPr>
        <p:spPr>
          <a:xfrm>
            <a:off x="1051560" y="3566160"/>
            <a:ext cx="4023360" cy="256032"/>
          </a:xfrm>
          <a:prstGeom prst="rect">
            <a:avLst/>
          </a:prstGeom>
          <a:noFill/>
          <a:ln/>
        </p:spPr>
        <p:txBody>
          <a:bodyPr wrap="square" lIns="0" tIns="0" rIns="0" bIns="0" rtlCol="0" anchor="t"/>
          <a:lstStyle/>
          <a:p>
            <a:pPr indent="0" marL="0">
              <a:buNone/>
            </a:pPr>
            <a:r>
              <a:rPr lang="en-US" sz="1150" b="1" dirty="0">
                <a:solidFill>
                  <a:srgbClr val="1B2230"/>
                </a:solidFill>
                <a:latin typeface="Calibri" pitchFamily="34" charset="0"/>
                <a:ea typeface="Calibri" pitchFamily="34" charset="-122"/>
                <a:cs typeface="Calibri" pitchFamily="34" charset="-120"/>
              </a:rPr>
              <a:t>Cómo se abre la terminal</a:t>
            </a:r>
            <a:endParaRPr lang="en-US" sz="1150" dirty="0"/>
          </a:p>
        </p:txBody>
      </p:sp>
      <p:sp>
        <p:nvSpPr>
          <p:cNvPr id="10" name="Text 8"/>
          <p:cNvSpPr/>
          <p:nvPr/>
        </p:nvSpPr>
        <p:spPr>
          <a:xfrm>
            <a:off x="1051560" y="3877056"/>
            <a:ext cx="4023360" cy="2743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Windows:  menú Inicio → escribir «PowerShell» → abrirlo.</a:t>
            </a:r>
            <a:endParaRPr lang="en-US" sz="1050" dirty="0"/>
          </a:p>
        </p:txBody>
      </p:sp>
      <p:sp>
        <p:nvSpPr>
          <p:cNvPr id="11" name="Text 9"/>
          <p:cNvSpPr/>
          <p:nvPr/>
        </p:nvSpPr>
        <p:spPr>
          <a:xfrm>
            <a:off x="1051560" y="4206240"/>
            <a:ext cx="4023360" cy="2743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macOS:  Command + Espacio → escribir «Terminal» → Enter.</a:t>
            </a:r>
            <a:endParaRPr lang="en-US" sz="1050" dirty="0"/>
          </a:p>
        </p:txBody>
      </p:sp>
      <p:sp>
        <p:nvSpPr>
          <p:cNvPr id="12" name="Shape 10"/>
          <p:cNvSpPr/>
          <p:nvPr/>
        </p:nvSpPr>
        <p:spPr>
          <a:xfrm>
            <a:off x="5989320" y="1828800"/>
            <a:ext cx="1051560" cy="274320"/>
          </a:xfrm>
          <a:prstGeom prst="roundRect">
            <a:avLst>
              <a:gd name="adj" fmla="val 13333"/>
            </a:avLst>
          </a:prstGeom>
          <a:solidFill>
            <a:srgbClr val="A87C4F"/>
          </a:solidFill>
          <a:ln/>
        </p:spPr>
      </p:sp>
      <p:sp>
        <p:nvSpPr>
          <p:cNvPr id="13" name="Text 11"/>
          <p:cNvSpPr/>
          <p:nvPr/>
        </p:nvSpPr>
        <p:spPr>
          <a:xfrm>
            <a:off x="5989320" y="18288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Windows</a:t>
            </a:r>
            <a:endParaRPr lang="en-US" sz="1000" dirty="0"/>
          </a:p>
        </p:txBody>
      </p:sp>
      <p:sp>
        <p:nvSpPr>
          <p:cNvPr id="14" name="Text 12"/>
          <p:cNvSpPr/>
          <p:nvPr/>
        </p:nvSpPr>
        <p:spPr>
          <a:xfrm>
            <a:off x="5989320" y="2212848"/>
            <a:ext cx="4937760" cy="347472"/>
          </a:xfrm>
          <a:prstGeom prst="rect">
            <a:avLst/>
          </a:prstGeom>
          <a:noFill/>
          <a:ln/>
        </p:spPr>
        <p:txBody>
          <a:bodyPr wrap="square" lIns="0" tIns="0" rIns="0" bIns="0" rtlCol="0" anchor="t"/>
          <a:lstStyle/>
          <a:p>
            <a:pPr indent="0" marL="0">
              <a:buNone/>
            </a:pPr>
            <a:r>
              <a:rPr lang="en-US" sz="1100" dirty="0">
                <a:solidFill>
                  <a:srgbClr val="1B2230"/>
                </a:solidFill>
                <a:latin typeface="Calibri" pitchFamily="34" charset="0"/>
                <a:ea typeface="Calibri" pitchFamily="34" charset="-122"/>
                <a:cs typeface="Calibri" pitchFamily="34" charset="-120"/>
              </a:rPr>
              <a:t>1.  Entrar a nodejs.org</a:t>
            </a:r>
            <a:endParaRPr lang="en-US" sz="1100" dirty="0"/>
          </a:p>
        </p:txBody>
      </p:sp>
      <p:sp>
        <p:nvSpPr>
          <p:cNvPr id="15" name="Text 13"/>
          <p:cNvSpPr/>
          <p:nvPr/>
        </p:nvSpPr>
        <p:spPr>
          <a:xfrm>
            <a:off x="5989320" y="2596896"/>
            <a:ext cx="4937760" cy="347472"/>
          </a:xfrm>
          <a:prstGeom prst="rect">
            <a:avLst/>
          </a:prstGeom>
          <a:noFill/>
          <a:ln/>
        </p:spPr>
        <p:txBody>
          <a:bodyPr wrap="square" lIns="0" tIns="0" rIns="0" bIns="0" rtlCol="0" anchor="t"/>
          <a:lstStyle/>
          <a:p>
            <a:pPr indent="0" marL="0">
              <a:buNone/>
            </a:pPr>
            <a:r>
              <a:rPr lang="en-US" sz="1100" dirty="0">
                <a:solidFill>
                  <a:srgbClr val="1B2230"/>
                </a:solidFill>
                <a:latin typeface="Calibri" pitchFamily="34" charset="0"/>
                <a:ea typeface="Calibri" pitchFamily="34" charset="-122"/>
                <a:cs typeface="Calibri" pitchFamily="34" charset="-120"/>
              </a:rPr>
              <a:t>2.  Descargar la versión que dice LTS (la otra es para desarrolladores)</a:t>
            </a:r>
            <a:endParaRPr lang="en-US" sz="1100" dirty="0"/>
          </a:p>
        </p:txBody>
      </p:sp>
      <p:sp>
        <p:nvSpPr>
          <p:cNvPr id="16" name="Text 14"/>
          <p:cNvSpPr/>
          <p:nvPr/>
        </p:nvSpPr>
        <p:spPr>
          <a:xfrm>
            <a:off x="5989320" y="2980944"/>
            <a:ext cx="4937760" cy="347472"/>
          </a:xfrm>
          <a:prstGeom prst="rect">
            <a:avLst/>
          </a:prstGeom>
          <a:noFill/>
          <a:ln/>
        </p:spPr>
        <p:txBody>
          <a:bodyPr wrap="square" lIns="0" tIns="0" rIns="0" bIns="0" rtlCol="0" anchor="t"/>
          <a:lstStyle/>
          <a:p>
            <a:pPr indent="0" marL="0">
              <a:buNone/>
            </a:pPr>
            <a:r>
              <a:rPr lang="en-US" sz="1100" dirty="0">
                <a:solidFill>
                  <a:srgbClr val="1B2230"/>
                </a:solidFill>
                <a:latin typeface="Calibri" pitchFamily="34" charset="0"/>
                <a:ea typeface="Calibri" pitchFamily="34" charset="-122"/>
                <a:cs typeface="Calibri" pitchFamily="34" charset="-120"/>
              </a:rPr>
              <a:t>3.  Abrir el archivo .msi y aceptar todo por defecto</a:t>
            </a:r>
            <a:endParaRPr lang="en-US" sz="1100" dirty="0"/>
          </a:p>
        </p:txBody>
      </p:sp>
      <p:sp>
        <p:nvSpPr>
          <p:cNvPr id="17" name="Text 15"/>
          <p:cNvSpPr/>
          <p:nvPr/>
        </p:nvSpPr>
        <p:spPr>
          <a:xfrm>
            <a:off x="5989320" y="3364992"/>
            <a:ext cx="4937760" cy="347472"/>
          </a:xfrm>
          <a:prstGeom prst="rect">
            <a:avLst/>
          </a:prstGeom>
          <a:noFill/>
          <a:ln/>
        </p:spPr>
        <p:txBody>
          <a:bodyPr wrap="square" lIns="0" tIns="0" rIns="0" bIns="0" rtlCol="0" anchor="t"/>
          <a:lstStyle/>
          <a:p>
            <a:pPr indent="0" marL="0">
              <a:buNone/>
            </a:pPr>
            <a:r>
              <a:rPr lang="en-US" sz="1100" dirty="0">
                <a:solidFill>
                  <a:srgbClr val="1B2230"/>
                </a:solidFill>
                <a:latin typeface="Calibri" pitchFamily="34" charset="0"/>
                <a:ea typeface="Calibri" pitchFamily="34" charset="-122"/>
                <a:cs typeface="Calibri" pitchFamily="34" charset="-120"/>
              </a:rPr>
              <a:t>4.  Cerrar y volver a abrir la terminal</a:t>
            </a:r>
            <a:endParaRPr lang="en-US" sz="1100" dirty="0"/>
          </a:p>
        </p:txBody>
      </p:sp>
      <p:sp>
        <p:nvSpPr>
          <p:cNvPr id="18" name="Shape 16"/>
          <p:cNvSpPr/>
          <p:nvPr/>
        </p:nvSpPr>
        <p:spPr>
          <a:xfrm>
            <a:off x="5989320" y="3931920"/>
            <a:ext cx="1051560" cy="274320"/>
          </a:xfrm>
          <a:prstGeom prst="roundRect">
            <a:avLst>
              <a:gd name="adj" fmla="val 13333"/>
            </a:avLst>
          </a:prstGeom>
          <a:solidFill>
            <a:srgbClr val="A87C4F"/>
          </a:solidFill>
          <a:ln/>
        </p:spPr>
      </p:sp>
      <p:sp>
        <p:nvSpPr>
          <p:cNvPr id="19" name="Text 17"/>
          <p:cNvSpPr/>
          <p:nvPr/>
        </p:nvSpPr>
        <p:spPr>
          <a:xfrm>
            <a:off x="5989320" y="39319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macOS</a:t>
            </a:r>
            <a:endParaRPr lang="en-US" sz="1000" dirty="0"/>
          </a:p>
        </p:txBody>
      </p:sp>
      <p:sp>
        <p:nvSpPr>
          <p:cNvPr id="20" name="Text 18"/>
          <p:cNvSpPr/>
          <p:nvPr/>
        </p:nvSpPr>
        <p:spPr>
          <a:xfrm>
            <a:off x="5989320" y="4315968"/>
            <a:ext cx="4937760" cy="347472"/>
          </a:xfrm>
          <a:prstGeom prst="rect">
            <a:avLst/>
          </a:prstGeom>
          <a:noFill/>
          <a:ln/>
        </p:spPr>
        <p:txBody>
          <a:bodyPr wrap="square" lIns="0" tIns="0" rIns="0" bIns="0" rtlCol="0" anchor="t"/>
          <a:lstStyle/>
          <a:p>
            <a:pPr indent="0" marL="0">
              <a:buNone/>
            </a:pPr>
            <a:r>
              <a:rPr lang="en-US" sz="1100" dirty="0">
                <a:solidFill>
                  <a:srgbClr val="1B2230"/>
                </a:solidFill>
                <a:latin typeface="Calibri" pitchFamily="34" charset="0"/>
                <a:ea typeface="Calibri" pitchFamily="34" charset="-122"/>
                <a:cs typeface="Calibri" pitchFamily="34" charset="-120"/>
              </a:rPr>
              <a:t>1.  Entrar a nodejs.org</a:t>
            </a:r>
            <a:endParaRPr lang="en-US" sz="1100" dirty="0"/>
          </a:p>
        </p:txBody>
      </p:sp>
      <p:sp>
        <p:nvSpPr>
          <p:cNvPr id="21" name="Text 19"/>
          <p:cNvSpPr/>
          <p:nvPr/>
        </p:nvSpPr>
        <p:spPr>
          <a:xfrm>
            <a:off x="5989320" y="4700016"/>
            <a:ext cx="4937760" cy="347472"/>
          </a:xfrm>
          <a:prstGeom prst="rect">
            <a:avLst/>
          </a:prstGeom>
          <a:noFill/>
          <a:ln/>
        </p:spPr>
        <p:txBody>
          <a:bodyPr wrap="square" lIns="0" tIns="0" rIns="0" bIns="0" rtlCol="0" anchor="t"/>
          <a:lstStyle/>
          <a:p>
            <a:pPr indent="0" marL="0">
              <a:buNone/>
            </a:pPr>
            <a:r>
              <a:rPr lang="en-US" sz="1100" dirty="0">
                <a:solidFill>
                  <a:srgbClr val="1B2230"/>
                </a:solidFill>
                <a:latin typeface="Calibri" pitchFamily="34" charset="0"/>
                <a:ea typeface="Calibri" pitchFamily="34" charset="-122"/>
                <a:cs typeface="Calibri" pitchFamily="34" charset="-120"/>
              </a:rPr>
              <a:t>2.  Descargar la versión LTS para macOS</a:t>
            </a:r>
            <a:endParaRPr lang="en-US" sz="1100" dirty="0"/>
          </a:p>
        </p:txBody>
      </p:sp>
      <p:sp>
        <p:nvSpPr>
          <p:cNvPr id="22" name="Text 20"/>
          <p:cNvSpPr/>
          <p:nvPr/>
        </p:nvSpPr>
        <p:spPr>
          <a:xfrm>
            <a:off x="5989320" y="5084064"/>
            <a:ext cx="4937760" cy="347472"/>
          </a:xfrm>
          <a:prstGeom prst="rect">
            <a:avLst/>
          </a:prstGeom>
          <a:noFill/>
          <a:ln/>
        </p:spPr>
        <p:txBody>
          <a:bodyPr wrap="square" lIns="0" tIns="0" rIns="0" bIns="0" rtlCol="0" anchor="t"/>
          <a:lstStyle/>
          <a:p>
            <a:pPr indent="0" marL="0">
              <a:buNone/>
            </a:pPr>
            <a:r>
              <a:rPr lang="en-US" sz="1100" dirty="0">
                <a:solidFill>
                  <a:srgbClr val="1B2230"/>
                </a:solidFill>
                <a:latin typeface="Calibri" pitchFamily="34" charset="0"/>
                <a:ea typeface="Calibri" pitchFamily="34" charset="-122"/>
                <a:cs typeface="Calibri" pitchFamily="34" charset="-120"/>
              </a:rPr>
              <a:t>3.  Abrir el archivo .pkg y aceptar todo por defecto</a:t>
            </a:r>
            <a:endParaRPr lang="en-US" sz="1100" dirty="0"/>
          </a:p>
        </p:txBody>
      </p:sp>
      <p:sp>
        <p:nvSpPr>
          <p:cNvPr id="23" name="Text 21"/>
          <p:cNvSpPr/>
          <p:nvPr/>
        </p:nvSpPr>
        <p:spPr>
          <a:xfrm>
            <a:off x="5989320" y="5486400"/>
            <a:ext cx="4937760" cy="457200"/>
          </a:xfrm>
          <a:prstGeom prst="rect">
            <a:avLst/>
          </a:prstGeom>
          <a:noFill/>
          <a:ln/>
        </p:spPr>
        <p:txBody>
          <a:bodyPr wrap="square" lIns="0" tIns="0" rIns="0" bIns="0" rtlCol="0" anchor="t"/>
          <a:lstStyle/>
          <a:p>
            <a:pPr indent="0" marL="0">
              <a:buNone/>
            </a:pPr>
            <a:r>
              <a:rPr lang="en-US" sz="1000" i="1" dirty="0">
                <a:solidFill>
                  <a:srgbClr val="6B2C33"/>
                </a:solidFill>
                <a:latin typeface="Calibri" pitchFamily="34" charset="0"/>
                <a:ea typeface="Calibri" pitchFamily="34" charset="-122"/>
                <a:cs typeface="Calibri" pitchFamily="34" charset="-120"/>
              </a:rPr>
              <a:t>Si macOS advierte sobre «un desarrollador no identificado»: Ajustes del Sistema → Privacidad y seguridad → Abrir de todas formas.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Paso 2 · Descargar Responsa</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Y dejarlo en un lugar donde no se vaya a borrar por error</a:t>
            </a:r>
            <a:endParaRPr lang="en-US" sz="1350" dirty="0"/>
          </a:p>
        </p:txBody>
      </p:sp>
      <p:sp>
        <p:nvSpPr>
          <p:cNvPr id="4" name="Shape 2"/>
          <p:cNvSpPr/>
          <p:nvPr/>
        </p:nvSpPr>
        <p:spPr>
          <a:xfrm>
            <a:off x="777240" y="1828800"/>
            <a:ext cx="5120640" cy="2468880"/>
          </a:xfrm>
          <a:prstGeom prst="roundRect">
            <a:avLst>
              <a:gd name="adj" fmla="val 2222"/>
            </a:avLst>
          </a:prstGeom>
          <a:solidFill>
            <a:srgbClr val="FFFFFF"/>
          </a:solidFill>
          <a:ln w="9525">
            <a:solidFill>
              <a:srgbClr val="E3DED3"/>
            </a:solidFill>
            <a:prstDash val="solid"/>
          </a:ln>
        </p:spPr>
      </p:sp>
      <p:sp>
        <p:nvSpPr>
          <p:cNvPr id="5" name="Text 3"/>
          <p:cNvSpPr/>
          <p:nvPr/>
        </p:nvSpPr>
        <p:spPr>
          <a:xfrm>
            <a:off x="1069848" y="2066544"/>
            <a:ext cx="4480560" cy="274320"/>
          </a:xfrm>
          <a:prstGeom prst="rect">
            <a:avLst/>
          </a:prstGeom>
          <a:noFill/>
          <a:ln/>
        </p:spPr>
        <p:txBody>
          <a:bodyPr wrap="square" lIns="0" tIns="0" rIns="0" bIns="0" rtlCol="0" anchor="t"/>
          <a:lstStyle/>
          <a:p>
            <a:pPr indent="0" marL="0">
              <a:buNone/>
            </a:pPr>
            <a:r>
              <a:rPr lang="en-US" sz="1250" b="1" dirty="0">
                <a:solidFill>
                  <a:srgbClr val="1B2230"/>
                </a:solidFill>
                <a:latin typeface="Calibri" pitchFamily="34" charset="0"/>
                <a:ea typeface="Calibri" pitchFamily="34" charset="-122"/>
                <a:cs typeface="Calibri" pitchFamily="34" charset="-120"/>
              </a:rPr>
              <a:t>Opción A · descarga directa</a:t>
            </a:r>
            <a:endParaRPr lang="en-US" sz="1250" dirty="0"/>
          </a:p>
        </p:txBody>
      </p:sp>
      <p:sp>
        <p:nvSpPr>
          <p:cNvPr id="6" name="Text 4"/>
          <p:cNvSpPr/>
          <p:nvPr/>
        </p:nvSpPr>
        <p:spPr>
          <a:xfrm>
            <a:off x="1069848" y="2432304"/>
            <a:ext cx="4480560" cy="329184"/>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1.  Entrar a la página del proyecto en GitHub</a:t>
            </a:r>
            <a:endParaRPr lang="en-US" sz="1100" dirty="0"/>
          </a:p>
        </p:txBody>
      </p:sp>
      <p:sp>
        <p:nvSpPr>
          <p:cNvPr id="7" name="Text 5"/>
          <p:cNvSpPr/>
          <p:nvPr/>
        </p:nvSpPr>
        <p:spPr>
          <a:xfrm>
            <a:off x="1069848" y="2798064"/>
            <a:ext cx="4480560" cy="329184"/>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2.  Pulsar el botón verde Code → Download ZIP</a:t>
            </a:r>
            <a:endParaRPr lang="en-US" sz="1100" dirty="0"/>
          </a:p>
        </p:txBody>
      </p:sp>
      <p:sp>
        <p:nvSpPr>
          <p:cNvPr id="8" name="Text 6"/>
          <p:cNvSpPr/>
          <p:nvPr/>
        </p:nvSpPr>
        <p:spPr>
          <a:xfrm>
            <a:off x="1069848" y="3163824"/>
            <a:ext cx="4480560" cy="329184"/>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3.  Descomprimir el archivo</a:t>
            </a:r>
            <a:endParaRPr lang="en-US" sz="1100" dirty="0"/>
          </a:p>
        </p:txBody>
      </p:sp>
      <p:sp>
        <p:nvSpPr>
          <p:cNvPr id="9" name="Text 7"/>
          <p:cNvSpPr/>
          <p:nvPr/>
        </p:nvSpPr>
        <p:spPr>
          <a:xfrm>
            <a:off x="1069848" y="3529584"/>
            <a:ext cx="4480560" cy="329184"/>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4.  Mover la carpeta a tu carpeta de usuario</a:t>
            </a:r>
            <a:endParaRPr lang="en-US" sz="1100" dirty="0"/>
          </a:p>
        </p:txBody>
      </p:sp>
      <p:sp>
        <p:nvSpPr>
          <p:cNvPr id="10" name="Text 8"/>
          <p:cNvSpPr/>
          <p:nvPr/>
        </p:nvSpPr>
        <p:spPr>
          <a:xfrm>
            <a:off x="1069848" y="3840480"/>
            <a:ext cx="4572000" cy="274320"/>
          </a:xfrm>
          <a:prstGeom prst="rect">
            <a:avLst/>
          </a:prstGeom>
          <a:noFill/>
          <a:ln/>
        </p:spPr>
        <p:txBody>
          <a:bodyPr wrap="square" lIns="0" tIns="0" rIns="0" bIns="0" rtlCol="0" anchor="t"/>
          <a:lstStyle/>
          <a:p>
            <a:pPr indent="0" marL="0">
              <a:buNone/>
            </a:pPr>
            <a:r>
              <a:rPr lang="en-US" sz="950" dirty="0">
                <a:solidFill>
                  <a:srgbClr val="1B2230"/>
                </a:solidFill>
                <a:latin typeface="Courier New" pitchFamily="34" charset="0"/>
                <a:ea typeface="Courier New" pitchFamily="34" charset="-122"/>
                <a:cs typeface="Courier New" pitchFamily="34" charset="-120"/>
              </a:rPr>
              <a:t>Windows:  C:\Users\TU_USUARIO\Responsa          macOS:  ~/Responsa</a:t>
            </a:r>
            <a:endParaRPr lang="en-US" sz="950" dirty="0"/>
          </a:p>
        </p:txBody>
      </p:sp>
      <p:sp>
        <p:nvSpPr>
          <p:cNvPr id="11" name="Shape 9"/>
          <p:cNvSpPr/>
          <p:nvPr/>
        </p:nvSpPr>
        <p:spPr>
          <a:xfrm>
            <a:off x="777240" y="4526280"/>
            <a:ext cx="5120640" cy="1234440"/>
          </a:xfrm>
          <a:prstGeom prst="roundRect">
            <a:avLst>
              <a:gd name="adj" fmla="val 4444"/>
            </a:avLst>
          </a:prstGeom>
          <a:solidFill>
            <a:srgbClr val="FFFFFF"/>
          </a:solidFill>
          <a:ln w="9525">
            <a:solidFill>
              <a:srgbClr val="E3DED3"/>
            </a:solidFill>
            <a:prstDash val="solid"/>
          </a:ln>
        </p:spPr>
      </p:sp>
      <p:sp>
        <p:nvSpPr>
          <p:cNvPr id="12" name="Text 10"/>
          <p:cNvSpPr/>
          <p:nvPr/>
        </p:nvSpPr>
        <p:spPr>
          <a:xfrm>
            <a:off x="1069848" y="4736592"/>
            <a:ext cx="4480560" cy="274320"/>
          </a:xfrm>
          <a:prstGeom prst="rect">
            <a:avLst/>
          </a:prstGeom>
          <a:noFill/>
          <a:ln/>
        </p:spPr>
        <p:txBody>
          <a:bodyPr wrap="square" lIns="0" tIns="0" rIns="0" bIns="0" rtlCol="0" anchor="t"/>
          <a:lstStyle/>
          <a:p>
            <a:pPr indent="0" marL="0">
              <a:buNone/>
            </a:pPr>
            <a:r>
              <a:rPr lang="en-US" sz="1250" b="1" dirty="0">
                <a:solidFill>
                  <a:srgbClr val="1B2230"/>
                </a:solidFill>
                <a:latin typeface="Calibri" pitchFamily="34" charset="0"/>
                <a:ea typeface="Calibri" pitchFamily="34" charset="-122"/>
                <a:cs typeface="Calibri" pitchFamily="34" charset="-120"/>
              </a:rPr>
              <a:t>Opción B · con git</a:t>
            </a:r>
            <a:endParaRPr lang="en-US" sz="1250" dirty="0"/>
          </a:p>
        </p:txBody>
      </p:sp>
      <p:sp>
        <p:nvSpPr>
          <p:cNvPr id="13" name="Shape 11"/>
          <p:cNvSpPr/>
          <p:nvPr/>
        </p:nvSpPr>
        <p:spPr>
          <a:xfrm>
            <a:off x="1069848" y="5084064"/>
            <a:ext cx="4480560" cy="411480"/>
          </a:xfrm>
          <a:prstGeom prst="roundRect">
            <a:avLst>
              <a:gd name="adj" fmla="val 11111"/>
            </a:avLst>
          </a:prstGeom>
          <a:solidFill>
            <a:srgbClr val="1B2230"/>
          </a:solidFill>
          <a:ln/>
        </p:spPr>
      </p:sp>
      <p:sp>
        <p:nvSpPr>
          <p:cNvPr id="14" name="Text 12"/>
          <p:cNvSpPr/>
          <p:nvPr/>
        </p:nvSpPr>
        <p:spPr>
          <a:xfrm>
            <a:off x="1271016" y="5084064"/>
            <a:ext cx="4078224" cy="411480"/>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git clone &lt;URL&gt; Responsa</a:t>
            </a:r>
            <a:endParaRPr lang="en-US" sz="1150" dirty="0"/>
          </a:p>
        </p:txBody>
      </p:sp>
      <p:sp>
        <p:nvSpPr>
          <p:cNvPr id="15" name="Shape 13"/>
          <p:cNvSpPr/>
          <p:nvPr/>
        </p:nvSpPr>
        <p:spPr>
          <a:xfrm>
            <a:off x="6400800" y="1828800"/>
            <a:ext cx="5010912" cy="2194560"/>
          </a:xfrm>
          <a:prstGeom prst="roundRect">
            <a:avLst>
              <a:gd name="adj" fmla="val 2500"/>
            </a:avLst>
          </a:prstGeom>
          <a:solidFill>
            <a:srgbClr val="1B2230"/>
          </a:solidFill>
          <a:ln/>
        </p:spPr>
      </p:sp>
      <p:sp>
        <p:nvSpPr>
          <p:cNvPr id="16" name="Text 14"/>
          <p:cNvSpPr/>
          <p:nvPr/>
        </p:nvSpPr>
        <p:spPr>
          <a:xfrm>
            <a:off x="6766560" y="2103120"/>
            <a:ext cx="4297680" cy="292608"/>
          </a:xfrm>
          <a:prstGeom prst="rect">
            <a:avLst/>
          </a:prstGeom>
          <a:noFill/>
          <a:ln/>
        </p:spPr>
        <p:txBody>
          <a:bodyPr wrap="square" lIns="0" tIns="0" rIns="0" bIns="0" rtlCol="0" anchor="t"/>
          <a:lstStyle/>
          <a:p>
            <a:pPr indent="0" marL="0">
              <a:buNone/>
            </a:pPr>
            <a:r>
              <a:rPr lang="en-US" sz="1700" b="1" dirty="0">
                <a:solidFill>
                  <a:srgbClr val="C9A574"/>
                </a:solidFill>
                <a:latin typeface="Cambria" pitchFamily="34" charset="0"/>
                <a:ea typeface="Cambria" pitchFamily="34" charset="-122"/>
                <a:cs typeface="Cambria" pitchFamily="34" charset="-120"/>
              </a:rPr>
              <a:t>La carpeta se queda donde la dejes</a:t>
            </a:r>
            <a:endParaRPr lang="en-US" sz="1700" dirty="0"/>
          </a:p>
        </p:txBody>
      </p:sp>
      <p:sp>
        <p:nvSpPr>
          <p:cNvPr id="17" name="Text 15"/>
          <p:cNvSpPr/>
          <p:nvPr/>
        </p:nvSpPr>
        <p:spPr>
          <a:xfrm>
            <a:off x="6766560" y="2542032"/>
            <a:ext cx="4297680" cy="73152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Claude va a apuntar a esa ruta cada vez que arranque. Si después mueves la carpeta o la renombras, deja de encontrarla.</a:t>
            </a:r>
            <a:endParaRPr lang="en-US" sz="1150" dirty="0"/>
          </a:p>
        </p:txBody>
      </p:sp>
      <p:sp>
        <p:nvSpPr>
          <p:cNvPr id="18" name="Text 16"/>
          <p:cNvSpPr/>
          <p:nvPr/>
        </p:nvSpPr>
        <p:spPr>
          <a:xfrm>
            <a:off x="6766560" y="3310128"/>
            <a:ext cx="4297680" cy="548640"/>
          </a:xfrm>
          <a:prstGeom prst="rect">
            <a:avLst/>
          </a:prstGeom>
          <a:noFill/>
          <a:ln/>
        </p:spPr>
        <p:txBody>
          <a:bodyPr wrap="square" lIns="0" tIns="0" rIns="0" bIns="0" rtlCol="0" anchor="t"/>
          <a:lstStyle/>
          <a:p>
            <a:pPr indent="0" marL="0">
              <a:buNone/>
            </a:pPr>
            <a:r>
              <a:rPr lang="en-US" sz="1050" i="1" dirty="0">
                <a:solidFill>
                  <a:srgbClr val="8A93A5"/>
                </a:solidFill>
                <a:latin typeface="Calibri" pitchFamily="34" charset="0"/>
                <a:ea typeface="Calibri" pitchFamily="34" charset="-122"/>
                <a:cs typeface="Calibri" pitchFamily="34" charset="-120"/>
              </a:rPr>
              <a:t>No es grave si pasa: basta con volver a ejecutar el instalador desde la ubicación nueva.</a:t>
            </a:r>
            <a:endParaRPr lang="en-US" sz="1050" dirty="0"/>
          </a:p>
        </p:txBody>
      </p:sp>
      <p:sp>
        <p:nvSpPr>
          <p:cNvPr id="19" name="Text 17"/>
          <p:cNvSpPr/>
          <p:nvPr/>
        </p:nvSpPr>
        <p:spPr>
          <a:xfrm>
            <a:off x="6400800" y="4315968"/>
            <a:ext cx="5010912" cy="457200"/>
          </a:xfrm>
          <a:prstGeom prst="rect">
            <a:avLst/>
          </a:prstGeom>
          <a:noFill/>
          <a:ln/>
        </p:spPr>
        <p:txBody>
          <a:bodyPr wrap="square" lIns="0" tIns="0" rIns="0" bIns="0" rtlCol="0" anchor="t"/>
          <a:lstStyle/>
          <a:p>
            <a:pPr indent="0" marL="0">
              <a:buNone/>
            </a:pPr>
            <a:r>
              <a:rPr lang="en-US" sz="1100" i="1" dirty="0">
                <a:solidFill>
                  <a:srgbClr val="5A6478"/>
                </a:solidFill>
                <a:latin typeface="Calibri" pitchFamily="34" charset="0"/>
                <a:ea typeface="Calibri" pitchFamily="34" charset="-122"/>
                <a:cs typeface="Calibri" pitchFamily="34" charset="-120"/>
              </a:rPr>
              <a:t>No hace falta cuenta en ningún servicio, ni claves, ni suscripciones. Todas las fuentes son públicas y gratuitas.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Paso 3 · Ejecutar el instalador</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Un solo comando hace todo, y se puede repetir sin riesgo</a:t>
            </a:r>
            <a:endParaRPr lang="en-US" sz="1350" dirty="0"/>
          </a:p>
        </p:txBody>
      </p:sp>
      <p:sp>
        <p:nvSpPr>
          <p:cNvPr id="4" name="Text 2"/>
          <p:cNvSpPr/>
          <p:nvPr/>
        </p:nvSpPr>
        <p:spPr>
          <a:xfrm>
            <a:off x="777240" y="1810512"/>
            <a:ext cx="4846320" cy="256032"/>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Situarse en la carpeta:</a:t>
            </a:r>
            <a:endParaRPr lang="en-US" sz="1200" dirty="0"/>
          </a:p>
        </p:txBody>
      </p:sp>
      <p:sp>
        <p:nvSpPr>
          <p:cNvPr id="5" name="Shape 3"/>
          <p:cNvSpPr/>
          <p:nvPr/>
        </p:nvSpPr>
        <p:spPr>
          <a:xfrm>
            <a:off x="777240" y="2103120"/>
            <a:ext cx="1051560" cy="274320"/>
          </a:xfrm>
          <a:prstGeom prst="roundRect">
            <a:avLst>
              <a:gd name="adj" fmla="val 13333"/>
            </a:avLst>
          </a:prstGeom>
          <a:solidFill>
            <a:srgbClr val="A87C4F"/>
          </a:solidFill>
          <a:ln/>
        </p:spPr>
      </p:sp>
      <p:sp>
        <p:nvSpPr>
          <p:cNvPr id="6" name="Text 4"/>
          <p:cNvSpPr/>
          <p:nvPr/>
        </p:nvSpPr>
        <p:spPr>
          <a:xfrm>
            <a:off x="777240" y="21031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Windows</a:t>
            </a:r>
            <a:endParaRPr lang="en-US" sz="1000" dirty="0"/>
          </a:p>
        </p:txBody>
      </p:sp>
      <p:sp>
        <p:nvSpPr>
          <p:cNvPr id="7" name="Shape 5"/>
          <p:cNvSpPr/>
          <p:nvPr/>
        </p:nvSpPr>
        <p:spPr>
          <a:xfrm>
            <a:off x="1965960" y="2066544"/>
            <a:ext cx="3657600" cy="384048"/>
          </a:xfrm>
          <a:prstGeom prst="roundRect">
            <a:avLst>
              <a:gd name="adj" fmla="val 11905"/>
            </a:avLst>
          </a:prstGeom>
          <a:solidFill>
            <a:srgbClr val="1B2230"/>
          </a:solidFill>
          <a:ln/>
        </p:spPr>
      </p:sp>
      <p:sp>
        <p:nvSpPr>
          <p:cNvPr id="8" name="Text 6"/>
          <p:cNvSpPr/>
          <p:nvPr/>
        </p:nvSpPr>
        <p:spPr>
          <a:xfrm>
            <a:off x="2167128" y="2066544"/>
            <a:ext cx="3255264" cy="384048"/>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cd C:\Users\TU_USUARIO\Responsa</a:t>
            </a:r>
            <a:endParaRPr lang="en-US" sz="1150" dirty="0"/>
          </a:p>
        </p:txBody>
      </p:sp>
      <p:sp>
        <p:nvSpPr>
          <p:cNvPr id="9" name="Shape 7"/>
          <p:cNvSpPr/>
          <p:nvPr/>
        </p:nvSpPr>
        <p:spPr>
          <a:xfrm>
            <a:off x="777240" y="2578608"/>
            <a:ext cx="1051560" cy="274320"/>
          </a:xfrm>
          <a:prstGeom prst="roundRect">
            <a:avLst>
              <a:gd name="adj" fmla="val 13333"/>
            </a:avLst>
          </a:prstGeom>
          <a:solidFill>
            <a:srgbClr val="A87C4F"/>
          </a:solidFill>
          <a:ln/>
        </p:spPr>
      </p:sp>
      <p:sp>
        <p:nvSpPr>
          <p:cNvPr id="10" name="Text 8"/>
          <p:cNvSpPr/>
          <p:nvPr/>
        </p:nvSpPr>
        <p:spPr>
          <a:xfrm>
            <a:off x="777240" y="2578608"/>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macOS</a:t>
            </a:r>
            <a:endParaRPr lang="en-US" sz="1000" dirty="0"/>
          </a:p>
        </p:txBody>
      </p:sp>
      <p:sp>
        <p:nvSpPr>
          <p:cNvPr id="11" name="Shape 9"/>
          <p:cNvSpPr/>
          <p:nvPr/>
        </p:nvSpPr>
        <p:spPr>
          <a:xfrm>
            <a:off x="1965960" y="2542032"/>
            <a:ext cx="3657600" cy="384048"/>
          </a:xfrm>
          <a:prstGeom prst="roundRect">
            <a:avLst>
              <a:gd name="adj" fmla="val 11905"/>
            </a:avLst>
          </a:prstGeom>
          <a:solidFill>
            <a:srgbClr val="1B2230"/>
          </a:solidFill>
          <a:ln/>
        </p:spPr>
      </p:sp>
      <p:sp>
        <p:nvSpPr>
          <p:cNvPr id="12" name="Text 10"/>
          <p:cNvSpPr/>
          <p:nvPr/>
        </p:nvSpPr>
        <p:spPr>
          <a:xfrm>
            <a:off x="2167128" y="2542032"/>
            <a:ext cx="3255264" cy="384048"/>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cd ~/Responsa</a:t>
            </a:r>
            <a:endParaRPr lang="en-US" sz="1150" dirty="0"/>
          </a:p>
        </p:txBody>
      </p:sp>
      <p:sp>
        <p:nvSpPr>
          <p:cNvPr id="13" name="Text 11"/>
          <p:cNvSpPr/>
          <p:nvPr/>
        </p:nvSpPr>
        <p:spPr>
          <a:xfrm>
            <a:off x="777240" y="3035808"/>
            <a:ext cx="4846320" cy="365760"/>
          </a:xfrm>
          <a:prstGeom prst="rect">
            <a:avLst/>
          </a:prstGeom>
          <a:noFill/>
          <a:ln/>
        </p:spPr>
        <p:txBody>
          <a:bodyPr wrap="square" lIns="0" tIns="0" rIns="0" bIns="0" rtlCol="0" anchor="t"/>
          <a:lstStyle/>
          <a:p>
            <a:pPr indent="0" marL="0">
              <a:buNone/>
            </a:pPr>
            <a:r>
              <a:rPr lang="en-US" sz="1000" i="1" dirty="0">
                <a:solidFill>
                  <a:srgbClr val="5A6478"/>
                </a:solidFill>
                <a:latin typeface="Calibri" pitchFamily="34" charset="0"/>
                <a:ea typeface="Calibri" pitchFamily="34" charset="-122"/>
                <a:cs typeface="Calibri" pitchFamily="34" charset="-120"/>
              </a:rPr>
              <a:t>Truco: escribe «cd » y arrastra la carpeta a la ventana; la ruta se escribe sola.</a:t>
            </a:r>
            <a:endParaRPr lang="en-US" sz="1000" dirty="0"/>
          </a:p>
        </p:txBody>
      </p:sp>
      <p:sp>
        <p:nvSpPr>
          <p:cNvPr id="14" name="Text 12"/>
          <p:cNvSpPr/>
          <p:nvPr/>
        </p:nvSpPr>
        <p:spPr>
          <a:xfrm>
            <a:off x="777240" y="3529584"/>
            <a:ext cx="4846320" cy="256032"/>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Y ejecutar:</a:t>
            </a:r>
            <a:endParaRPr lang="en-US" sz="1200" dirty="0"/>
          </a:p>
        </p:txBody>
      </p:sp>
      <p:sp>
        <p:nvSpPr>
          <p:cNvPr id="15" name="Shape 13"/>
          <p:cNvSpPr/>
          <p:nvPr/>
        </p:nvSpPr>
        <p:spPr>
          <a:xfrm>
            <a:off x="777240" y="3822192"/>
            <a:ext cx="4846320" cy="566928"/>
          </a:xfrm>
          <a:prstGeom prst="roundRect">
            <a:avLst>
              <a:gd name="adj" fmla="val 8065"/>
            </a:avLst>
          </a:prstGeom>
          <a:solidFill>
            <a:srgbClr val="1B2230"/>
          </a:solidFill>
          <a:ln/>
        </p:spPr>
      </p:sp>
      <p:sp>
        <p:nvSpPr>
          <p:cNvPr id="16" name="Text 14"/>
          <p:cNvSpPr/>
          <p:nvPr/>
        </p:nvSpPr>
        <p:spPr>
          <a:xfrm>
            <a:off x="978408" y="3822192"/>
            <a:ext cx="4443984" cy="566928"/>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node instalar.mjs</a:t>
            </a:r>
            <a:endParaRPr lang="en-US" sz="1150" dirty="0"/>
          </a:p>
        </p:txBody>
      </p:sp>
      <p:sp>
        <p:nvSpPr>
          <p:cNvPr id="17" name="Text 15"/>
          <p:cNvSpPr/>
          <p:nvPr/>
        </p:nvSpPr>
        <p:spPr>
          <a:xfrm>
            <a:off x="777240" y="4572000"/>
            <a:ext cx="4846320" cy="822960"/>
          </a:xfrm>
          <a:prstGeom prst="rect">
            <a:avLst/>
          </a:prstGeom>
          <a:noFill/>
          <a:ln/>
        </p:spPr>
        <p:txBody>
          <a:bodyPr wrap="square" lIns="0" tIns="0" rIns="0" bIns="0" rtlCol="0" anchor="t"/>
          <a:lstStyle/>
          <a:p>
            <a:pPr indent="0" marL="0">
              <a:lnSpc>
                <a:spcPct val="110000"/>
              </a:lnSpc>
              <a:buNone/>
            </a:pPr>
            <a:r>
              <a:rPr lang="en-US" sz="1050" dirty="0">
                <a:solidFill>
                  <a:srgbClr val="5A6478"/>
                </a:solidFill>
                <a:latin typeface="Calibri" pitchFamily="34" charset="0"/>
                <a:ea typeface="Calibri" pitchFamily="34" charset="-122"/>
                <a:cs typeface="Calibri" pitchFamily="34" charset="-120"/>
              </a:rPr>
              <a:t>El paso 5 es el más lento, unos minutos. Es a propósito: la Biblioteca del Congreso limita las descargas grandes, y bajar los códigos con calma una vez evita topes durante el uso normal.</a:t>
            </a:r>
            <a:endParaRPr lang="en-US" sz="1050" dirty="0"/>
          </a:p>
        </p:txBody>
      </p:sp>
      <p:sp>
        <p:nvSpPr>
          <p:cNvPr id="18" name="Shape 16"/>
          <p:cNvSpPr/>
          <p:nvPr/>
        </p:nvSpPr>
        <p:spPr>
          <a:xfrm>
            <a:off x="6172200" y="1810512"/>
            <a:ext cx="5239512" cy="3246120"/>
          </a:xfrm>
          <a:prstGeom prst="roundRect">
            <a:avLst>
              <a:gd name="adj" fmla="val 1690"/>
            </a:avLst>
          </a:prstGeom>
          <a:solidFill>
            <a:srgbClr val="FFFFFF"/>
          </a:solidFill>
          <a:ln w="9525">
            <a:solidFill>
              <a:srgbClr val="E3DED3"/>
            </a:solidFill>
            <a:prstDash val="solid"/>
          </a:ln>
        </p:spPr>
      </p:sp>
      <p:sp>
        <p:nvSpPr>
          <p:cNvPr id="19" name="Text 17"/>
          <p:cNvSpPr/>
          <p:nvPr/>
        </p:nvSpPr>
        <p:spPr>
          <a:xfrm>
            <a:off x="6492240" y="2029968"/>
            <a:ext cx="4572000" cy="274320"/>
          </a:xfrm>
          <a:prstGeom prst="rect">
            <a:avLst/>
          </a:prstGeom>
          <a:noFill/>
          <a:ln/>
        </p:spPr>
        <p:txBody>
          <a:bodyPr wrap="square" lIns="0" tIns="0" rIns="0" bIns="0" rtlCol="0" anchor="t"/>
          <a:lstStyle/>
          <a:p>
            <a:pPr indent="0" marL="0">
              <a:buNone/>
            </a:pPr>
            <a:r>
              <a:rPr lang="en-US" sz="1200" b="1" dirty="0">
                <a:solidFill>
                  <a:srgbClr val="1B2230"/>
                </a:solidFill>
                <a:latin typeface="Calibri" pitchFamily="34" charset="0"/>
                <a:ea typeface="Calibri" pitchFamily="34" charset="-122"/>
                <a:cs typeface="Calibri" pitchFamily="34" charset="-120"/>
              </a:rPr>
              <a:t>Qué vas a ver en pantalla</a:t>
            </a:r>
            <a:endParaRPr lang="en-US" sz="1200" dirty="0"/>
          </a:p>
        </p:txBody>
      </p:sp>
      <p:sp>
        <p:nvSpPr>
          <p:cNvPr id="20" name="Shape 18"/>
          <p:cNvSpPr/>
          <p:nvPr/>
        </p:nvSpPr>
        <p:spPr>
          <a:xfrm>
            <a:off x="6492240" y="2395728"/>
            <a:ext cx="274320" cy="274320"/>
          </a:xfrm>
          <a:prstGeom prst="ellipse">
            <a:avLst/>
          </a:prstGeom>
          <a:solidFill>
            <a:srgbClr val="A87C4F"/>
          </a:solidFill>
          <a:ln/>
        </p:spPr>
      </p:sp>
      <p:sp>
        <p:nvSpPr>
          <p:cNvPr id="21" name="Text 19"/>
          <p:cNvSpPr/>
          <p:nvPr/>
        </p:nvSpPr>
        <p:spPr>
          <a:xfrm>
            <a:off x="6492240" y="23957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6876288" y="2414016"/>
            <a:ext cx="4206240" cy="27432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Comprueba Node</a:t>
            </a:r>
            <a:endParaRPr lang="en-US" sz="1100" dirty="0"/>
          </a:p>
        </p:txBody>
      </p:sp>
      <p:sp>
        <p:nvSpPr>
          <p:cNvPr id="23" name="Shape 21"/>
          <p:cNvSpPr/>
          <p:nvPr/>
        </p:nvSpPr>
        <p:spPr>
          <a:xfrm>
            <a:off x="6492240" y="2798064"/>
            <a:ext cx="274320" cy="274320"/>
          </a:xfrm>
          <a:prstGeom prst="ellipse">
            <a:avLst/>
          </a:prstGeom>
          <a:solidFill>
            <a:srgbClr val="A87C4F"/>
          </a:solidFill>
          <a:ln/>
        </p:spPr>
      </p:sp>
      <p:sp>
        <p:nvSpPr>
          <p:cNvPr id="24" name="Text 22"/>
          <p:cNvSpPr/>
          <p:nvPr/>
        </p:nvSpPr>
        <p:spPr>
          <a:xfrm>
            <a:off x="6492240" y="27980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p:nvPr/>
        </p:nvSpPr>
        <p:spPr>
          <a:xfrm>
            <a:off x="6876288" y="2816352"/>
            <a:ext cx="4206240" cy="27432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Instala dependencias</a:t>
            </a:r>
            <a:endParaRPr lang="en-US" sz="1100" dirty="0"/>
          </a:p>
        </p:txBody>
      </p:sp>
      <p:sp>
        <p:nvSpPr>
          <p:cNvPr id="26" name="Shape 24"/>
          <p:cNvSpPr/>
          <p:nvPr/>
        </p:nvSpPr>
        <p:spPr>
          <a:xfrm>
            <a:off x="6492240" y="3200400"/>
            <a:ext cx="274320" cy="274320"/>
          </a:xfrm>
          <a:prstGeom prst="ellipse">
            <a:avLst/>
          </a:prstGeom>
          <a:solidFill>
            <a:srgbClr val="A87C4F"/>
          </a:solidFill>
          <a:ln/>
        </p:spPr>
      </p:sp>
      <p:sp>
        <p:nvSpPr>
          <p:cNvPr id="27" name="Text 25"/>
          <p:cNvSpPr/>
          <p:nvPr/>
        </p:nvSpPr>
        <p:spPr>
          <a:xfrm>
            <a:off x="6492240" y="32004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6876288" y="3218688"/>
            <a:ext cx="4206240" cy="27432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Registra el servidor en Claude</a:t>
            </a:r>
            <a:endParaRPr lang="en-US" sz="1100" dirty="0"/>
          </a:p>
        </p:txBody>
      </p:sp>
      <p:sp>
        <p:nvSpPr>
          <p:cNvPr id="29" name="Shape 27"/>
          <p:cNvSpPr/>
          <p:nvPr/>
        </p:nvSpPr>
        <p:spPr>
          <a:xfrm>
            <a:off x="6492240" y="3602736"/>
            <a:ext cx="274320" cy="274320"/>
          </a:xfrm>
          <a:prstGeom prst="ellipse">
            <a:avLst/>
          </a:prstGeom>
          <a:solidFill>
            <a:srgbClr val="A87C4F"/>
          </a:solidFill>
          <a:ln/>
        </p:spPr>
      </p:sp>
      <p:sp>
        <p:nvSpPr>
          <p:cNvPr id="30" name="Text 28"/>
          <p:cNvSpPr/>
          <p:nvPr/>
        </p:nvSpPr>
        <p:spPr>
          <a:xfrm>
            <a:off x="6492240" y="3602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p:nvPr/>
        </p:nvSpPr>
        <p:spPr>
          <a:xfrm>
            <a:off x="6876288" y="3621024"/>
            <a:ext cx="4206240" cy="27432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Instala la skill de método</a:t>
            </a:r>
            <a:endParaRPr lang="en-US" sz="1100" dirty="0"/>
          </a:p>
        </p:txBody>
      </p:sp>
      <p:sp>
        <p:nvSpPr>
          <p:cNvPr id="32" name="Shape 30"/>
          <p:cNvSpPr/>
          <p:nvPr/>
        </p:nvSpPr>
        <p:spPr>
          <a:xfrm>
            <a:off x="6492240" y="4005072"/>
            <a:ext cx="274320" cy="274320"/>
          </a:xfrm>
          <a:prstGeom prst="ellipse">
            <a:avLst/>
          </a:prstGeom>
          <a:solidFill>
            <a:srgbClr val="A87C4F"/>
          </a:solidFill>
          <a:ln/>
        </p:spPr>
      </p:sp>
      <p:sp>
        <p:nvSpPr>
          <p:cNvPr id="33" name="Text 31"/>
          <p:cNvSpPr/>
          <p:nvPr/>
        </p:nvSpPr>
        <p:spPr>
          <a:xfrm>
            <a:off x="6492240" y="40050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Text 32"/>
          <p:cNvSpPr/>
          <p:nvPr/>
        </p:nvSpPr>
        <p:spPr>
          <a:xfrm>
            <a:off x="6876288" y="4023360"/>
            <a:ext cx="4206240" cy="27432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Precarga los códigos más citados</a:t>
            </a:r>
            <a:endParaRPr lang="en-US" sz="1100" dirty="0"/>
          </a:p>
        </p:txBody>
      </p:sp>
      <p:sp>
        <p:nvSpPr>
          <p:cNvPr id="35" name="Shape 33"/>
          <p:cNvSpPr/>
          <p:nvPr/>
        </p:nvSpPr>
        <p:spPr>
          <a:xfrm>
            <a:off x="6492240" y="4407408"/>
            <a:ext cx="274320" cy="274320"/>
          </a:xfrm>
          <a:prstGeom prst="ellipse">
            <a:avLst/>
          </a:prstGeom>
          <a:solidFill>
            <a:srgbClr val="A87C4F"/>
          </a:solidFill>
          <a:ln/>
        </p:spPr>
      </p:sp>
      <p:sp>
        <p:nvSpPr>
          <p:cNvPr id="36" name="Text 34"/>
          <p:cNvSpPr/>
          <p:nvPr/>
        </p:nvSpPr>
        <p:spPr>
          <a:xfrm>
            <a:off x="6492240"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6876288" y="4425696"/>
            <a:ext cx="4206240" cy="27432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Verifica las diez fuentes</a:t>
            </a:r>
            <a:endParaRPr lang="en-US" sz="1100" dirty="0"/>
          </a:p>
        </p:txBody>
      </p:sp>
      <p:sp>
        <p:nvSpPr>
          <p:cNvPr id="38" name="Shape 36"/>
          <p:cNvSpPr/>
          <p:nvPr/>
        </p:nvSpPr>
        <p:spPr>
          <a:xfrm>
            <a:off x="6172200" y="5230368"/>
            <a:ext cx="5239512" cy="658368"/>
          </a:xfrm>
          <a:prstGeom prst="roundRect">
            <a:avLst>
              <a:gd name="adj" fmla="val 6944"/>
            </a:avLst>
          </a:prstGeom>
          <a:solidFill>
            <a:srgbClr val="1B2230"/>
          </a:solidFill>
          <a:ln/>
        </p:spPr>
      </p:sp>
      <p:sp>
        <p:nvSpPr>
          <p:cNvPr id="39" name="Text 37"/>
          <p:cNvSpPr/>
          <p:nvPr/>
        </p:nvSpPr>
        <p:spPr>
          <a:xfrm>
            <a:off x="6400800" y="5230368"/>
            <a:ext cx="4754880" cy="658368"/>
          </a:xfrm>
          <a:prstGeom prst="rect">
            <a:avLst/>
          </a:prstGeom>
          <a:noFill/>
          <a:ln/>
        </p:spPr>
        <p:txBody>
          <a:bodyPr wrap="square" lIns="0" tIns="0" rIns="0" bIns="0" rtlCol="0" anchor="ctr"/>
          <a:lstStyle/>
          <a:p>
            <a:pPr indent="0" marL="0">
              <a:buNone/>
            </a:pPr>
            <a:r>
              <a:rPr lang="en-US" sz="1200" b="1" dirty="0">
                <a:solidFill>
                  <a:srgbClr val="C9A574"/>
                </a:solidFill>
                <a:latin typeface="Courier New" pitchFamily="34" charset="0"/>
                <a:ea typeface="Courier New" pitchFamily="34" charset="-122"/>
                <a:cs typeface="Courier New" pitchFamily="34" charset="-120"/>
              </a:rPr>
              <a:t>Instalado.  10/10 fuentes responden.</a:t>
            </a:r>
            <a:endParaRPr lang="en-US" sz="1200" dirty="0"/>
          </a:p>
        </p:txBody>
      </p:sp>
      <p:sp>
        <p:nvSpPr>
          <p:cNvPr id="40" name="Text 38"/>
          <p:cNvSpPr/>
          <p:nvPr/>
        </p:nvSpPr>
        <p:spPr>
          <a:xfrm>
            <a:off x="6172200" y="5943600"/>
            <a:ext cx="5239512" cy="365760"/>
          </a:xfrm>
          <a:prstGeom prst="rect">
            <a:avLst/>
          </a:prstGeom>
          <a:noFill/>
          <a:ln/>
        </p:spPr>
        <p:txBody>
          <a:bodyPr wrap="square" lIns="0" tIns="0" rIns="0" bIns="0" rtlCol="0" anchor="t"/>
          <a:lstStyle/>
          <a:p>
            <a:pPr indent="0" marL="0">
              <a:buNone/>
            </a:pPr>
            <a:r>
              <a:rPr lang="en-US" sz="1000" i="1" dirty="0">
                <a:solidFill>
                  <a:srgbClr val="5A6478"/>
                </a:solidFill>
                <a:latin typeface="Calibri" pitchFamily="34" charset="0"/>
                <a:ea typeface="Calibri" pitchFamily="34" charset="-122"/>
                <a:cs typeface="Calibri" pitchFamily="34" charset="-120"/>
              </a:rPr>
              <a:t>Si dice menos de 10, algún organismo tenía su sitio caído. Se comprueba después.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Pasos 4 y 5 · Reiniciar y comprobar</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El reinicio es obligatorio: Claude carga los servidores al arrancar</a:t>
            </a:r>
            <a:endParaRPr lang="en-US" sz="1350" dirty="0"/>
          </a:p>
        </p:txBody>
      </p:sp>
      <p:sp>
        <p:nvSpPr>
          <p:cNvPr id="4" name="Shape 2"/>
          <p:cNvSpPr/>
          <p:nvPr/>
        </p:nvSpPr>
        <p:spPr>
          <a:xfrm>
            <a:off x="777240" y="1810512"/>
            <a:ext cx="5029200" cy="2331720"/>
          </a:xfrm>
          <a:prstGeom prst="roundRect">
            <a:avLst>
              <a:gd name="adj" fmla="val 2353"/>
            </a:avLst>
          </a:prstGeom>
          <a:solidFill>
            <a:srgbClr val="1B2230"/>
          </a:solidFill>
          <a:ln/>
        </p:spPr>
      </p:sp>
      <p:sp>
        <p:nvSpPr>
          <p:cNvPr id="5" name="Shape 3"/>
          <p:cNvSpPr/>
          <p:nvPr/>
        </p:nvSpPr>
        <p:spPr>
          <a:xfrm>
            <a:off x="1069848" y="2048256"/>
            <a:ext cx="365760" cy="365760"/>
          </a:xfrm>
          <a:prstGeom prst="ellipse">
            <a:avLst/>
          </a:prstGeom>
          <a:solidFill>
            <a:srgbClr val="A87C4F"/>
          </a:solidFill>
          <a:ln/>
        </p:spPr>
      </p:sp>
      <p:sp>
        <p:nvSpPr>
          <p:cNvPr id="6" name="Text 4"/>
          <p:cNvSpPr/>
          <p:nvPr/>
        </p:nvSpPr>
        <p:spPr>
          <a:xfrm>
            <a:off x="1069848" y="20482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 name="Text 5"/>
          <p:cNvSpPr/>
          <p:nvPr/>
        </p:nvSpPr>
        <p:spPr>
          <a:xfrm>
            <a:off x="1581912" y="2048256"/>
            <a:ext cx="3931920" cy="310896"/>
          </a:xfrm>
          <a:prstGeom prst="rect">
            <a:avLst/>
          </a:prstGeom>
          <a:noFill/>
          <a:ln/>
        </p:spPr>
        <p:txBody>
          <a:bodyPr wrap="square" lIns="0" tIns="0" rIns="0" bIns="0" rtlCol="0" anchor="t"/>
          <a:lstStyle/>
          <a:p>
            <a:pPr indent="0" marL="0">
              <a:buNone/>
            </a:pPr>
            <a:r>
              <a:rPr lang="en-US" sz="1350" b="1" dirty="0">
                <a:solidFill>
                  <a:srgbClr val="C9A574"/>
                </a:solidFill>
                <a:latin typeface="Calibri" pitchFamily="34" charset="0"/>
                <a:ea typeface="Calibri" pitchFamily="34" charset="-122"/>
                <a:cs typeface="Calibri" pitchFamily="34" charset="-120"/>
              </a:rPr>
              <a:t>Reiniciar Claude por completo</a:t>
            </a:r>
            <a:endParaRPr lang="en-US" sz="1350" dirty="0"/>
          </a:p>
        </p:txBody>
      </p:sp>
      <p:sp>
        <p:nvSpPr>
          <p:cNvPr id="8" name="Text 6"/>
          <p:cNvSpPr/>
          <p:nvPr/>
        </p:nvSpPr>
        <p:spPr>
          <a:xfrm>
            <a:off x="1069848" y="2596896"/>
            <a:ext cx="448056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Windows</a:t>
            </a:r>
            <a:endParaRPr lang="en-US" sz="1100" dirty="0"/>
          </a:p>
        </p:txBody>
      </p:sp>
      <p:sp>
        <p:nvSpPr>
          <p:cNvPr id="9" name="Text 7"/>
          <p:cNvSpPr/>
          <p:nvPr/>
        </p:nvSpPr>
        <p:spPr>
          <a:xfrm>
            <a:off x="1069848" y="2852928"/>
            <a:ext cx="4480560" cy="548640"/>
          </a:xfrm>
          <a:prstGeom prst="rect">
            <a:avLst/>
          </a:prstGeom>
          <a:noFill/>
          <a:ln/>
        </p:spPr>
        <p:txBody>
          <a:bodyPr wrap="square" lIns="0" tIns="0" rIns="0" bIns="0" rtlCol="0" anchor="t"/>
          <a:lstStyle/>
          <a:p>
            <a:pPr indent="0" marL="0">
              <a:lnSpc>
                <a:spcPct val="105000"/>
              </a:lnSpc>
              <a:buNone/>
            </a:pPr>
            <a:r>
              <a:rPr lang="en-US" sz="1050" dirty="0">
                <a:solidFill>
                  <a:srgbClr val="8A93A5"/>
                </a:solidFill>
                <a:latin typeface="Calibri" pitchFamily="34" charset="0"/>
                <a:ea typeface="Calibri" pitchFamily="34" charset="-122"/>
                <a:cs typeface="Calibri" pitchFamily="34" charset="-120"/>
              </a:rPr>
              <a:t>No basta con cerrar la ventana. Busca el ícono junto al reloj (puede estar tras la flecha ^), clic derecho → Quit. Después ábrelo de nuevo.</a:t>
            </a:r>
            <a:endParaRPr lang="en-US" sz="1050" dirty="0"/>
          </a:p>
        </p:txBody>
      </p:sp>
      <p:sp>
        <p:nvSpPr>
          <p:cNvPr id="10" name="Text 8"/>
          <p:cNvSpPr/>
          <p:nvPr/>
        </p:nvSpPr>
        <p:spPr>
          <a:xfrm>
            <a:off x="1069848" y="3438144"/>
            <a:ext cx="448056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macOS</a:t>
            </a:r>
            <a:endParaRPr lang="en-US" sz="1100" dirty="0"/>
          </a:p>
        </p:txBody>
      </p:sp>
      <p:sp>
        <p:nvSpPr>
          <p:cNvPr id="11" name="Text 9"/>
          <p:cNvSpPr/>
          <p:nvPr/>
        </p:nvSpPr>
        <p:spPr>
          <a:xfrm>
            <a:off x="1069848" y="3694176"/>
            <a:ext cx="4480560" cy="365760"/>
          </a:xfrm>
          <a:prstGeom prst="rect">
            <a:avLst/>
          </a:prstGeom>
          <a:noFill/>
          <a:ln/>
        </p:spPr>
        <p:txBody>
          <a:bodyPr wrap="square" lIns="0" tIns="0" rIns="0" bIns="0" rtlCol="0" anchor="t"/>
          <a:lstStyle/>
          <a:p>
            <a:pPr indent="0" marL="0">
              <a:buNone/>
            </a:pPr>
            <a:r>
              <a:rPr lang="en-US" sz="1050" dirty="0">
                <a:solidFill>
                  <a:srgbClr val="8A93A5"/>
                </a:solidFill>
                <a:latin typeface="Calibri" pitchFamily="34" charset="0"/>
                <a:ea typeface="Calibri" pitchFamily="34" charset="-122"/>
                <a:cs typeface="Calibri" pitchFamily="34" charset="-120"/>
              </a:rPr>
              <a:t>Command + Q con Claude en primer plano. Cerrar con la bolita roja no basta.</a:t>
            </a:r>
            <a:endParaRPr lang="en-US" sz="1050" dirty="0"/>
          </a:p>
        </p:txBody>
      </p:sp>
      <p:sp>
        <p:nvSpPr>
          <p:cNvPr id="12" name="Shape 10"/>
          <p:cNvSpPr/>
          <p:nvPr/>
        </p:nvSpPr>
        <p:spPr>
          <a:xfrm>
            <a:off x="6172200" y="1883664"/>
            <a:ext cx="365760" cy="365760"/>
          </a:xfrm>
          <a:prstGeom prst="ellipse">
            <a:avLst/>
          </a:prstGeom>
          <a:solidFill>
            <a:srgbClr val="A87C4F"/>
          </a:solidFill>
          <a:ln/>
        </p:spPr>
      </p:sp>
      <p:sp>
        <p:nvSpPr>
          <p:cNvPr id="13" name="Text 11"/>
          <p:cNvSpPr/>
          <p:nvPr/>
        </p:nvSpPr>
        <p:spPr>
          <a:xfrm>
            <a:off x="6172200" y="18836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4" name="Text 12"/>
          <p:cNvSpPr/>
          <p:nvPr/>
        </p:nvSpPr>
        <p:spPr>
          <a:xfrm>
            <a:off x="6684264" y="1883664"/>
            <a:ext cx="4663440" cy="310896"/>
          </a:xfrm>
          <a:prstGeom prst="rect">
            <a:avLst/>
          </a:prstGeom>
          <a:noFill/>
          <a:ln/>
        </p:spPr>
        <p:txBody>
          <a:bodyPr wrap="square" lIns="0" tIns="0" rIns="0" bIns="0" rtlCol="0" anchor="t"/>
          <a:lstStyle/>
          <a:p>
            <a:pPr indent="0" marL="0">
              <a:buNone/>
            </a:pPr>
            <a:r>
              <a:rPr lang="en-US" sz="1350" b="1" dirty="0">
                <a:solidFill>
                  <a:srgbClr val="1B2230"/>
                </a:solidFill>
                <a:latin typeface="Calibri" pitchFamily="34" charset="0"/>
                <a:ea typeface="Calibri" pitchFamily="34" charset="-122"/>
                <a:cs typeface="Calibri" pitchFamily="34" charset="-120"/>
              </a:rPr>
              <a:t>Comprobar que funciona</a:t>
            </a:r>
            <a:endParaRPr lang="en-US" sz="1350" dirty="0"/>
          </a:p>
        </p:txBody>
      </p:sp>
      <p:sp>
        <p:nvSpPr>
          <p:cNvPr id="15" name="Text 13"/>
          <p:cNvSpPr/>
          <p:nvPr/>
        </p:nvSpPr>
        <p:spPr>
          <a:xfrm>
            <a:off x="6172200" y="2340864"/>
            <a:ext cx="5120640" cy="256032"/>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Abre Claude y pregunta:</a:t>
            </a:r>
            <a:endParaRPr lang="en-US" sz="1100" dirty="0"/>
          </a:p>
        </p:txBody>
      </p:sp>
      <p:sp>
        <p:nvSpPr>
          <p:cNvPr id="16" name="Text 14"/>
          <p:cNvSpPr/>
          <p:nvPr/>
        </p:nvSpPr>
        <p:spPr>
          <a:xfrm>
            <a:off x="6172200" y="2615184"/>
            <a:ext cx="5120640" cy="365760"/>
          </a:xfrm>
          <a:prstGeom prst="rect">
            <a:avLst/>
          </a:prstGeom>
          <a:noFill/>
          <a:ln/>
        </p:spPr>
        <p:txBody>
          <a:bodyPr wrap="square" lIns="0" tIns="0" rIns="0" bIns="0" rtlCol="0" anchor="t"/>
          <a:lstStyle/>
          <a:p>
            <a:pPr indent="0" marL="0">
              <a:buNone/>
            </a:pPr>
            <a:r>
              <a:rPr lang="en-US" sz="1400" dirty="0">
                <a:solidFill>
                  <a:srgbClr val="1B2230"/>
                </a:solidFill>
                <a:latin typeface="Cambria" pitchFamily="34" charset="0"/>
                <a:ea typeface="Cambria" pitchFamily="34" charset="-122"/>
                <a:cs typeface="Cambria" pitchFamily="34" charset="-120"/>
              </a:rPr>
              <a:t>«¿Qué ha resuelto la Corte Suprema sobre nulidad del despido?»</a:t>
            </a:r>
            <a:endParaRPr lang="en-US" sz="1400" dirty="0"/>
          </a:p>
        </p:txBody>
      </p:sp>
      <p:sp>
        <p:nvSpPr>
          <p:cNvPr id="17" name="Shape 15"/>
          <p:cNvSpPr/>
          <p:nvPr/>
        </p:nvSpPr>
        <p:spPr>
          <a:xfrm>
            <a:off x="6172200" y="3127248"/>
            <a:ext cx="5239512" cy="1051560"/>
          </a:xfrm>
          <a:prstGeom prst="roundRect">
            <a:avLst>
              <a:gd name="adj" fmla="val 5217"/>
            </a:avLst>
          </a:prstGeom>
          <a:solidFill>
            <a:srgbClr val="FFFFFF"/>
          </a:solidFill>
          <a:ln w="9525">
            <a:solidFill>
              <a:srgbClr val="E3DED3"/>
            </a:solidFill>
            <a:prstDash val="solid"/>
          </a:ln>
        </p:spPr>
      </p:sp>
      <p:sp>
        <p:nvSpPr>
          <p:cNvPr id="18" name="Text 16"/>
          <p:cNvSpPr/>
          <p:nvPr/>
        </p:nvSpPr>
        <p:spPr>
          <a:xfrm>
            <a:off x="6446520" y="3291840"/>
            <a:ext cx="4663440" cy="237744"/>
          </a:xfrm>
          <a:prstGeom prst="rect">
            <a:avLst/>
          </a:prstGeom>
          <a:noFill/>
          <a:ln/>
        </p:spPr>
        <p:txBody>
          <a:bodyPr wrap="square" lIns="0" tIns="0" rIns="0" bIns="0" rtlCol="0" anchor="t"/>
          <a:lstStyle/>
          <a:p>
            <a:pPr indent="0" marL="0">
              <a:buNone/>
            </a:pPr>
            <a:r>
              <a:rPr lang="en-US" sz="1100" b="1" dirty="0">
                <a:solidFill>
                  <a:srgbClr val="A87C4F"/>
                </a:solidFill>
                <a:latin typeface="Calibri" pitchFamily="34" charset="0"/>
                <a:ea typeface="Calibri" pitchFamily="34" charset="-122"/>
                <a:cs typeface="Calibri" pitchFamily="34" charset="-120"/>
              </a:rPr>
              <a:t>Funciona si…</a:t>
            </a:r>
            <a:endParaRPr lang="en-US" sz="1100" dirty="0"/>
          </a:p>
        </p:txBody>
      </p:sp>
      <p:sp>
        <p:nvSpPr>
          <p:cNvPr id="19" name="Text 17"/>
          <p:cNvSpPr/>
          <p:nvPr/>
        </p:nvSpPr>
        <p:spPr>
          <a:xfrm>
            <a:off x="6446520" y="3547872"/>
            <a:ext cx="4663440" cy="45720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…la respuesta trae roles, tribunales, fechas y enlaces concretos.</a:t>
            </a:r>
            <a:endParaRPr lang="en-US" sz="1050" dirty="0"/>
          </a:p>
        </p:txBody>
      </p:sp>
      <p:sp>
        <p:nvSpPr>
          <p:cNvPr id="20" name="Shape 18"/>
          <p:cNvSpPr/>
          <p:nvPr/>
        </p:nvSpPr>
        <p:spPr>
          <a:xfrm>
            <a:off x="6172200" y="4279392"/>
            <a:ext cx="5239512" cy="1051560"/>
          </a:xfrm>
          <a:prstGeom prst="roundRect">
            <a:avLst>
              <a:gd name="adj" fmla="val 5217"/>
            </a:avLst>
          </a:prstGeom>
          <a:solidFill>
            <a:srgbClr val="FFFFFF"/>
          </a:solidFill>
          <a:ln w="9525">
            <a:solidFill>
              <a:srgbClr val="E3DED3"/>
            </a:solidFill>
            <a:prstDash val="solid"/>
          </a:ln>
        </p:spPr>
      </p:sp>
      <p:sp>
        <p:nvSpPr>
          <p:cNvPr id="21" name="Text 19"/>
          <p:cNvSpPr/>
          <p:nvPr/>
        </p:nvSpPr>
        <p:spPr>
          <a:xfrm>
            <a:off x="6446520" y="4443984"/>
            <a:ext cx="4663440" cy="237744"/>
          </a:xfrm>
          <a:prstGeom prst="rect">
            <a:avLst/>
          </a:prstGeom>
          <a:noFill/>
          <a:ln/>
        </p:spPr>
        <p:txBody>
          <a:bodyPr wrap="square" lIns="0" tIns="0" rIns="0" bIns="0" rtlCol="0" anchor="t"/>
          <a:lstStyle/>
          <a:p>
            <a:pPr indent="0" marL="0">
              <a:buNone/>
            </a:pPr>
            <a:r>
              <a:rPr lang="en-US" sz="1100" b="1" dirty="0">
                <a:solidFill>
                  <a:srgbClr val="6B2C33"/>
                </a:solidFill>
                <a:latin typeface="Calibri" pitchFamily="34" charset="0"/>
                <a:ea typeface="Calibri" pitchFamily="34" charset="-122"/>
                <a:cs typeface="Calibri" pitchFamily="34" charset="-120"/>
              </a:rPr>
              <a:t>No funciona si…</a:t>
            </a:r>
            <a:endParaRPr lang="en-US" sz="1100" dirty="0"/>
          </a:p>
        </p:txBody>
      </p:sp>
      <p:sp>
        <p:nvSpPr>
          <p:cNvPr id="22" name="Text 20"/>
          <p:cNvSpPr/>
          <p:nvPr/>
        </p:nvSpPr>
        <p:spPr>
          <a:xfrm>
            <a:off x="6446520" y="4700016"/>
            <a:ext cx="4663440" cy="5029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…explica en general qué es la nulidad del despido sin citar ni un fallo. Revisa el paso 4.</a:t>
            </a:r>
            <a:endParaRPr lang="en-US" sz="1050" dirty="0"/>
          </a:p>
        </p:txBody>
      </p:sp>
      <p:sp>
        <p:nvSpPr>
          <p:cNvPr id="23" name="Text 21"/>
          <p:cNvSpPr/>
          <p:nvPr/>
        </p:nvSpPr>
        <p:spPr>
          <a:xfrm>
            <a:off x="777240" y="4443984"/>
            <a:ext cx="5029200" cy="256032"/>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También desde la terminal:</a:t>
            </a:r>
            <a:endParaRPr lang="en-US" sz="1100" dirty="0"/>
          </a:p>
        </p:txBody>
      </p:sp>
      <p:sp>
        <p:nvSpPr>
          <p:cNvPr id="24" name="Shape 22"/>
          <p:cNvSpPr/>
          <p:nvPr/>
        </p:nvSpPr>
        <p:spPr>
          <a:xfrm>
            <a:off x="777240" y="4736592"/>
            <a:ext cx="5029200" cy="457200"/>
          </a:xfrm>
          <a:prstGeom prst="roundRect">
            <a:avLst>
              <a:gd name="adj" fmla="val 10000"/>
            </a:avLst>
          </a:prstGeom>
          <a:solidFill>
            <a:srgbClr val="1B2230"/>
          </a:solidFill>
          <a:ln/>
        </p:spPr>
      </p:sp>
      <p:sp>
        <p:nvSpPr>
          <p:cNvPr id="25" name="Text 23"/>
          <p:cNvSpPr/>
          <p:nvPr/>
        </p:nvSpPr>
        <p:spPr>
          <a:xfrm>
            <a:off x="978408" y="4736592"/>
            <a:ext cx="4626864" cy="457200"/>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npm run salud</a:t>
            </a:r>
            <a:endParaRPr lang="en-US" sz="1150" dirty="0"/>
          </a:p>
        </p:txBody>
      </p:sp>
      <p:sp>
        <p:nvSpPr>
          <p:cNvPr id="26" name="Text 24"/>
          <p:cNvSpPr/>
          <p:nvPr/>
        </p:nvSpPr>
        <p:spPr>
          <a:xfrm>
            <a:off x="777240" y="5303520"/>
            <a:ext cx="5029200" cy="457200"/>
          </a:xfrm>
          <a:prstGeom prst="rect">
            <a:avLst/>
          </a:prstGeom>
          <a:noFill/>
          <a:ln/>
        </p:spPr>
        <p:txBody>
          <a:bodyPr wrap="square" lIns="0" tIns="0" rIns="0" bIns="0" rtlCol="0" anchor="t"/>
          <a:lstStyle/>
          <a:p>
            <a:pPr indent="0" marL="0">
              <a:buNone/>
            </a:pPr>
            <a:r>
              <a:rPr lang="en-US" sz="1000" i="1" dirty="0">
                <a:solidFill>
                  <a:srgbClr val="5A6478"/>
                </a:solidFill>
                <a:latin typeface="Calibri" pitchFamily="34" charset="0"/>
                <a:ea typeface="Calibri" pitchFamily="34" charset="-122"/>
                <a:cs typeface="Calibri" pitchFamily="34" charset="-120"/>
              </a:rPr>
              <a:t>Consulta las diez fuentes con preguntas de respuesta conocida y dice cuál responde y cuál no.</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Problemas frecuentes</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Los cinco que aparecen de verdad, y qué hacer con cada uno</a:t>
            </a:r>
            <a:endParaRPr lang="en-US" sz="1350" dirty="0"/>
          </a:p>
        </p:txBody>
      </p:sp>
      <p:sp>
        <p:nvSpPr>
          <p:cNvPr id="4" name="Shape 2"/>
          <p:cNvSpPr/>
          <p:nvPr/>
        </p:nvSpPr>
        <p:spPr>
          <a:xfrm>
            <a:off x="777240" y="1865376"/>
            <a:ext cx="310896" cy="310896"/>
          </a:xfrm>
          <a:prstGeom prst="ellipse">
            <a:avLst/>
          </a:prstGeom>
          <a:solidFill>
            <a:srgbClr val="A87C4F"/>
          </a:solidFill>
          <a:ln/>
        </p:spPr>
      </p:sp>
      <p:sp>
        <p:nvSpPr>
          <p:cNvPr id="5" name="Text 3"/>
          <p:cNvSpPr/>
          <p:nvPr/>
        </p:nvSpPr>
        <p:spPr>
          <a:xfrm>
            <a:off x="777240" y="18653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234440" y="1828800"/>
            <a:ext cx="3657600" cy="274320"/>
          </a:xfrm>
          <a:prstGeom prst="rect">
            <a:avLst/>
          </a:prstGeom>
          <a:noFill/>
          <a:ln/>
        </p:spPr>
        <p:txBody>
          <a:bodyPr wrap="square" lIns="0" tIns="0" rIns="0" bIns="0" rtlCol="0" anchor="t"/>
          <a:lstStyle/>
          <a:p>
            <a:pPr indent="0" marL="0">
              <a:buNone/>
            </a:pPr>
            <a:r>
              <a:rPr lang="en-US" sz="1200" b="1" dirty="0">
                <a:solidFill>
                  <a:srgbClr val="1B2230"/>
                </a:solidFill>
                <a:latin typeface="Calibri" pitchFamily="34" charset="0"/>
                <a:ea typeface="Calibri" pitchFamily="34" charset="-122"/>
                <a:cs typeface="Calibri" pitchFamily="34" charset="-120"/>
              </a:rPr>
              <a:t>Claude responde sin citar fuentes</a:t>
            </a:r>
            <a:endParaRPr lang="en-US" sz="1200" dirty="0"/>
          </a:p>
        </p:txBody>
      </p:sp>
      <p:sp>
        <p:nvSpPr>
          <p:cNvPr id="7" name="Text 5"/>
          <p:cNvSpPr/>
          <p:nvPr/>
        </p:nvSpPr>
        <p:spPr>
          <a:xfrm>
            <a:off x="5074920" y="1810512"/>
            <a:ext cx="6309360" cy="713232"/>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Casi siempre es que no se reinició Claude por completo. En Windows hay que salir desde el ícono junto al reloj; en macOS con Command + Q. Si ya lo hiciste, vuelve a ejecutar el instalador.</a:t>
            </a:r>
            <a:endParaRPr lang="en-US" sz="1050" dirty="0"/>
          </a:p>
        </p:txBody>
      </p:sp>
      <p:sp>
        <p:nvSpPr>
          <p:cNvPr id="8" name="Shape 6"/>
          <p:cNvSpPr/>
          <p:nvPr/>
        </p:nvSpPr>
        <p:spPr>
          <a:xfrm>
            <a:off x="777240" y="2706624"/>
            <a:ext cx="310896" cy="310896"/>
          </a:xfrm>
          <a:prstGeom prst="ellipse">
            <a:avLst/>
          </a:prstGeom>
          <a:solidFill>
            <a:srgbClr val="A87C4F"/>
          </a:solidFill>
          <a:ln/>
        </p:spPr>
      </p:sp>
      <p:sp>
        <p:nvSpPr>
          <p:cNvPr id="9" name="Text 7"/>
          <p:cNvSpPr/>
          <p:nvPr/>
        </p:nvSpPr>
        <p:spPr>
          <a:xfrm>
            <a:off x="777240" y="2706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234440" y="2670048"/>
            <a:ext cx="3657600" cy="274320"/>
          </a:xfrm>
          <a:prstGeom prst="rect">
            <a:avLst/>
          </a:prstGeom>
          <a:noFill/>
          <a:ln/>
        </p:spPr>
        <p:txBody>
          <a:bodyPr wrap="square" lIns="0" tIns="0" rIns="0" bIns="0" rtlCol="0" anchor="t"/>
          <a:lstStyle/>
          <a:p>
            <a:pPr indent="0" marL="0">
              <a:buNone/>
            </a:pPr>
            <a:r>
              <a:rPr lang="en-US" sz="1200" b="1" dirty="0">
                <a:solidFill>
                  <a:srgbClr val="1B2230"/>
                </a:solidFill>
                <a:latin typeface="Calibri" pitchFamily="34" charset="0"/>
                <a:ea typeface="Calibri" pitchFamily="34" charset="-122"/>
                <a:cs typeface="Calibri" pitchFamily="34" charset="-120"/>
              </a:rPr>
              <a:t>«node no se reconoce como un comando»</a:t>
            </a:r>
            <a:endParaRPr lang="en-US" sz="1200" dirty="0"/>
          </a:p>
        </p:txBody>
      </p:sp>
      <p:sp>
        <p:nvSpPr>
          <p:cNvPr id="11" name="Text 9"/>
          <p:cNvSpPr/>
          <p:nvPr/>
        </p:nvSpPr>
        <p:spPr>
          <a:xfrm>
            <a:off x="5074920" y="2651760"/>
            <a:ext cx="6309360" cy="713232"/>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Node.js no quedó instalado, o la terminal se abrió antes de instalarlo. Ciérrala, ábrela de nuevo y prueba node --version.</a:t>
            </a:r>
            <a:endParaRPr lang="en-US" sz="1050" dirty="0"/>
          </a:p>
        </p:txBody>
      </p:sp>
      <p:sp>
        <p:nvSpPr>
          <p:cNvPr id="12" name="Shape 10"/>
          <p:cNvSpPr/>
          <p:nvPr/>
        </p:nvSpPr>
        <p:spPr>
          <a:xfrm>
            <a:off x="777240" y="3547872"/>
            <a:ext cx="310896" cy="310896"/>
          </a:xfrm>
          <a:prstGeom prst="ellipse">
            <a:avLst/>
          </a:prstGeom>
          <a:solidFill>
            <a:srgbClr val="A87C4F"/>
          </a:solidFill>
          <a:ln/>
        </p:spPr>
      </p:sp>
      <p:sp>
        <p:nvSpPr>
          <p:cNvPr id="13" name="Text 11"/>
          <p:cNvSpPr/>
          <p:nvPr/>
        </p:nvSpPr>
        <p:spPr>
          <a:xfrm>
            <a:off x="777240" y="3547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234440" y="3511296"/>
            <a:ext cx="3657600" cy="274320"/>
          </a:xfrm>
          <a:prstGeom prst="rect">
            <a:avLst/>
          </a:prstGeom>
          <a:noFill/>
          <a:ln/>
        </p:spPr>
        <p:txBody>
          <a:bodyPr wrap="square" lIns="0" tIns="0" rIns="0" bIns="0" rtlCol="0" anchor="t"/>
          <a:lstStyle/>
          <a:p>
            <a:pPr indent="0" marL="0">
              <a:buNone/>
            </a:pPr>
            <a:r>
              <a:rPr lang="en-US" sz="1200" b="1" dirty="0">
                <a:solidFill>
                  <a:srgbClr val="1B2230"/>
                </a:solidFill>
                <a:latin typeface="Calibri" pitchFamily="34" charset="0"/>
                <a:ea typeface="Calibri" pitchFamily="34" charset="-122"/>
                <a:cs typeface="Calibri" pitchFamily="34" charset="-120"/>
              </a:rPr>
              <a:t>«Ley Chile alcanzó su límite de servicio»</a:t>
            </a:r>
            <a:endParaRPr lang="en-US" sz="1200" dirty="0"/>
          </a:p>
        </p:txBody>
      </p:sp>
      <p:sp>
        <p:nvSpPr>
          <p:cNvPr id="15" name="Text 13"/>
          <p:cNvSpPr/>
          <p:nvPr/>
        </p:nvSpPr>
        <p:spPr>
          <a:xfrm>
            <a:off x="5074920" y="3493008"/>
            <a:ext cx="6309360" cy="713232"/>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La Biblioteca del Congreso limita las descargas grandes. Espera un minuto o ejecuta npm run precargar, que retoma sólo lo que falta.</a:t>
            </a:r>
            <a:endParaRPr lang="en-US" sz="1050" dirty="0"/>
          </a:p>
        </p:txBody>
      </p:sp>
      <p:sp>
        <p:nvSpPr>
          <p:cNvPr id="16" name="Shape 14"/>
          <p:cNvSpPr/>
          <p:nvPr/>
        </p:nvSpPr>
        <p:spPr>
          <a:xfrm>
            <a:off x="777240" y="4389120"/>
            <a:ext cx="310896" cy="310896"/>
          </a:xfrm>
          <a:prstGeom prst="ellipse">
            <a:avLst/>
          </a:prstGeom>
          <a:solidFill>
            <a:srgbClr val="A87C4F"/>
          </a:solidFill>
          <a:ln/>
        </p:spPr>
      </p:sp>
      <p:sp>
        <p:nvSpPr>
          <p:cNvPr id="17" name="Text 15"/>
          <p:cNvSpPr/>
          <p:nvPr/>
        </p:nvSpPr>
        <p:spPr>
          <a:xfrm>
            <a:off x="777240" y="43891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234440" y="4352544"/>
            <a:ext cx="3657600" cy="274320"/>
          </a:xfrm>
          <a:prstGeom prst="rect">
            <a:avLst/>
          </a:prstGeom>
          <a:noFill/>
          <a:ln/>
        </p:spPr>
        <p:txBody>
          <a:bodyPr wrap="square" lIns="0" tIns="0" rIns="0" bIns="0" rtlCol="0" anchor="t"/>
          <a:lstStyle/>
          <a:p>
            <a:pPr indent="0" marL="0">
              <a:buNone/>
            </a:pPr>
            <a:r>
              <a:rPr lang="en-US" sz="1200" b="1" dirty="0">
                <a:solidFill>
                  <a:srgbClr val="1B2230"/>
                </a:solidFill>
                <a:latin typeface="Calibri" pitchFamily="34" charset="0"/>
                <a:ea typeface="Calibri" pitchFamily="34" charset="-122"/>
                <a:cs typeface="Calibri" pitchFamily="34" charset="-120"/>
              </a:rPr>
              <a:t>Una fuente aparece caída</a:t>
            </a:r>
            <a:endParaRPr lang="en-US" sz="1200" dirty="0"/>
          </a:p>
        </p:txBody>
      </p:sp>
      <p:sp>
        <p:nvSpPr>
          <p:cNvPr id="19" name="Text 17"/>
          <p:cNvSpPr/>
          <p:nvPr/>
        </p:nvSpPr>
        <p:spPr>
          <a:xfrm>
            <a:off x="5074920" y="4334256"/>
            <a:ext cx="6309360" cy="713232"/>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Son sitios de organismos públicos y a veces se caen. No es la instalación: npm run salud dice cuál está fallando.</a:t>
            </a:r>
            <a:endParaRPr lang="en-US" sz="1050" dirty="0"/>
          </a:p>
        </p:txBody>
      </p:sp>
      <p:sp>
        <p:nvSpPr>
          <p:cNvPr id="20" name="Shape 18"/>
          <p:cNvSpPr/>
          <p:nvPr/>
        </p:nvSpPr>
        <p:spPr>
          <a:xfrm>
            <a:off x="777240" y="5230368"/>
            <a:ext cx="310896" cy="310896"/>
          </a:xfrm>
          <a:prstGeom prst="ellipse">
            <a:avLst/>
          </a:prstGeom>
          <a:solidFill>
            <a:srgbClr val="A87C4F"/>
          </a:solidFill>
          <a:ln/>
        </p:spPr>
      </p:sp>
      <p:sp>
        <p:nvSpPr>
          <p:cNvPr id="21" name="Text 19"/>
          <p:cNvSpPr/>
          <p:nvPr/>
        </p:nvSpPr>
        <p:spPr>
          <a:xfrm>
            <a:off x="777240" y="52303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1234440" y="5193792"/>
            <a:ext cx="3657600" cy="274320"/>
          </a:xfrm>
          <a:prstGeom prst="rect">
            <a:avLst/>
          </a:prstGeom>
          <a:noFill/>
          <a:ln/>
        </p:spPr>
        <p:txBody>
          <a:bodyPr wrap="square" lIns="0" tIns="0" rIns="0" bIns="0" rtlCol="0" anchor="t"/>
          <a:lstStyle/>
          <a:p>
            <a:pPr indent="0" marL="0">
              <a:buNone/>
            </a:pPr>
            <a:r>
              <a:rPr lang="en-US" sz="1200" b="1" dirty="0">
                <a:solidFill>
                  <a:srgbClr val="1B2230"/>
                </a:solidFill>
                <a:latin typeface="Calibri" pitchFamily="34" charset="0"/>
                <a:ea typeface="Calibri" pitchFamily="34" charset="-122"/>
                <a:cs typeface="Calibri" pitchFamily="34" charset="-120"/>
              </a:rPr>
              <a:t>Cambiaste la carpeta de lugar</a:t>
            </a:r>
            <a:endParaRPr lang="en-US" sz="1200" dirty="0"/>
          </a:p>
        </p:txBody>
      </p:sp>
      <p:sp>
        <p:nvSpPr>
          <p:cNvPr id="23" name="Text 21"/>
          <p:cNvSpPr/>
          <p:nvPr/>
        </p:nvSpPr>
        <p:spPr>
          <a:xfrm>
            <a:off x="5074920" y="5175504"/>
            <a:ext cx="6309360" cy="713232"/>
          </a:xfrm>
          <a:prstGeom prst="rect">
            <a:avLst/>
          </a:prstGeom>
          <a:noFill/>
          <a:ln/>
        </p:spPr>
        <p:txBody>
          <a:bodyPr wrap="square" lIns="0" tIns="0" rIns="0" bIns="0" rtlCol="0" anchor="t"/>
          <a:lstStyle/>
          <a:p>
            <a:pPr indent="0" marL="0">
              <a:lnSpc>
                <a:spcPct val="105000"/>
              </a:lnSpc>
              <a:buNone/>
            </a:pPr>
            <a:r>
              <a:rPr lang="en-US" sz="1050" dirty="0">
                <a:solidFill>
                  <a:srgbClr val="5A6478"/>
                </a:solidFill>
                <a:latin typeface="Calibri" pitchFamily="34" charset="0"/>
                <a:ea typeface="Calibri" pitchFamily="34" charset="-122"/>
                <a:cs typeface="Calibri" pitchFamily="34" charset="-120"/>
              </a:rPr>
              <a:t>Claude sigue apuntando a la ruta antigua. Ejecuta node instalar.mjs desde la ubicación nueva.</a:t>
            </a:r>
            <a:endParaRPr lang="en-US" sz="1050" dirty="0"/>
          </a:p>
        </p:txBody>
      </p:sp>
      <p:sp>
        <p:nvSpPr>
          <p:cNvPr id="24" name="Shape 22"/>
          <p:cNvSpPr/>
          <p:nvPr/>
        </p:nvSpPr>
        <p:spPr>
          <a:xfrm>
            <a:off x="777240" y="5943600"/>
            <a:ext cx="10634472" cy="566928"/>
          </a:xfrm>
          <a:prstGeom prst="roundRect">
            <a:avLst>
              <a:gd name="adj" fmla="val 8065"/>
            </a:avLst>
          </a:prstGeom>
          <a:solidFill>
            <a:srgbClr val="FDF7E8"/>
          </a:solidFill>
          <a:ln/>
        </p:spPr>
      </p:sp>
      <p:sp>
        <p:nvSpPr>
          <p:cNvPr id="25" name="Text 23"/>
          <p:cNvSpPr/>
          <p:nvPr/>
        </p:nvSpPr>
        <p:spPr>
          <a:xfrm>
            <a:off x="1033272" y="5943600"/>
            <a:ext cx="10149840" cy="566928"/>
          </a:xfrm>
          <a:prstGeom prst="rect">
            <a:avLst/>
          </a:prstGeom>
          <a:noFill/>
          <a:ln/>
        </p:spPr>
        <p:txBody>
          <a:bodyPr wrap="square" lIns="0" tIns="0" rIns="0" bIns="0" rtlCol="0" anchor="ctr"/>
          <a:lstStyle/>
          <a:p>
            <a:pPr indent="0" marL="0">
              <a:buNone/>
            </a:pPr>
            <a:r>
              <a:rPr lang="en-US" sz="1100" b="1" dirty="0">
                <a:solidFill>
                  <a:srgbClr val="6B2C33"/>
                </a:solidFill>
                <a:latin typeface="Calibri" pitchFamily="34" charset="0"/>
                <a:ea typeface="Calibri" pitchFamily="34" charset="-122"/>
                <a:cs typeface="Calibri" pitchFamily="34" charset="-120"/>
              </a:rPr>
              <a:t>Cuando una fuente no responde, Claude debe decirlo y no rellenar el hueco con conocimiento propio. Si alguna vez entrega citas sin haberlas consultado, no las des por buenas.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566928"/>
            <a:ext cx="10634472" cy="566928"/>
          </a:xfrm>
          <a:prstGeom prst="rect">
            <a:avLst/>
          </a:prstGeom>
          <a:noFill/>
          <a:ln/>
        </p:spPr>
        <p:txBody>
          <a:bodyPr wrap="square" lIns="0" tIns="0" rIns="0" bIns="0" rtlCol="0" anchor="ctr"/>
          <a:lstStyle/>
          <a:p>
            <a:pPr indent="0" marL="0">
              <a:buNone/>
            </a:pPr>
            <a:r>
              <a:rPr lang="en-US" sz="3200" b="1" dirty="0">
                <a:solidFill>
                  <a:srgbClr val="1B2230"/>
                </a:solidFill>
                <a:latin typeface="Cambria" pitchFamily="34" charset="0"/>
                <a:ea typeface="Cambria" pitchFamily="34" charset="-122"/>
                <a:cs typeface="Cambria" pitchFamily="34" charset="-120"/>
              </a:rPr>
              <a:t>Mantención</a:t>
            </a:r>
            <a:endParaRPr lang="en-US" sz="3200" dirty="0"/>
          </a:p>
        </p:txBody>
      </p:sp>
      <p:sp>
        <p:nvSpPr>
          <p:cNvPr id="3" name="Text 1"/>
          <p:cNvSpPr/>
          <p:nvPr/>
        </p:nvSpPr>
        <p:spPr>
          <a:xfrm>
            <a:off x="777240" y="1152144"/>
            <a:ext cx="9537192" cy="384048"/>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Cómo actualizar, comprobar que sigue en pie, y desinstalar</a:t>
            </a:r>
            <a:endParaRPr lang="en-US" sz="1350" dirty="0"/>
          </a:p>
        </p:txBody>
      </p:sp>
      <p:sp>
        <p:nvSpPr>
          <p:cNvPr id="4" name="Text 2"/>
          <p:cNvSpPr/>
          <p:nvPr/>
        </p:nvSpPr>
        <p:spPr>
          <a:xfrm>
            <a:off x="777240" y="1810512"/>
            <a:ext cx="5486400" cy="274320"/>
          </a:xfrm>
          <a:prstGeom prst="rect">
            <a:avLst/>
          </a:prstGeom>
          <a:noFill/>
          <a:ln/>
        </p:spPr>
        <p:txBody>
          <a:bodyPr wrap="square" lIns="0" tIns="0" rIns="0" bIns="0" rtlCol="0" anchor="t"/>
          <a:lstStyle/>
          <a:p>
            <a:pPr indent="0" marL="0">
              <a:buNone/>
            </a:pPr>
            <a:r>
              <a:rPr lang="en-US" sz="1250" b="1" dirty="0">
                <a:solidFill>
                  <a:srgbClr val="1B2230"/>
                </a:solidFill>
                <a:latin typeface="Calibri" pitchFamily="34" charset="0"/>
                <a:ea typeface="Calibri" pitchFamily="34" charset="-122"/>
                <a:cs typeface="Calibri" pitchFamily="34" charset="-120"/>
              </a:rPr>
              <a:t>Comandos</a:t>
            </a:r>
            <a:endParaRPr lang="en-US" sz="1250" dirty="0"/>
          </a:p>
        </p:txBody>
      </p:sp>
      <p:sp>
        <p:nvSpPr>
          <p:cNvPr id="5" name="Shape 3"/>
          <p:cNvSpPr/>
          <p:nvPr/>
        </p:nvSpPr>
        <p:spPr>
          <a:xfrm>
            <a:off x="777240" y="2176272"/>
            <a:ext cx="3017520" cy="402336"/>
          </a:xfrm>
          <a:prstGeom prst="roundRect">
            <a:avLst>
              <a:gd name="adj" fmla="val 11364"/>
            </a:avLst>
          </a:prstGeom>
          <a:solidFill>
            <a:srgbClr val="1B2230"/>
          </a:solidFill>
          <a:ln/>
        </p:spPr>
      </p:sp>
      <p:sp>
        <p:nvSpPr>
          <p:cNvPr id="6" name="Text 4"/>
          <p:cNvSpPr/>
          <p:nvPr/>
        </p:nvSpPr>
        <p:spPr>
          <a:xfrm>
            <a:off x="978408" y="2176272"/>
            <a:ext cx="2615184" cy="402336"/>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node instalar.mjs</a:t>
            </a:r>
            <a:endParaRPr lang="en-US" sz="1150" dirty="0"/>
          </a:p>
        </p:txBody>
      </p:sp>
      <p:sp>
        <p:nvSpPr>
          <p:cNvPr id="7" name="Text 5"/>
          <p:cNvSpPr/>
          <p:nvPr/>
        </p:nvSpPr>
        <p:spPr>
          <a:xfrm>
            <a:off x="3977640" y="2212848"/>
            <a:ext cx="2651760" cy="457200"/>
          </a:xfrm>
          <a:prstGeom prst="rect">
            <a:avLst/>
          </a:prstGeom>
          <a:noFill/>
          <a:ln/>
        </p:spPr>
        <p:txBody>
          <a:bodyPr wrap="square" lIns="0" tIns="0" rIns="0" bIns="0" rtlCol="0" anchor="t"/>
          <a:lstStyle/>
          <a:p>
            <a:pPr indent="0" marL="0">
              <a:lnSpc>
                <a:spcPct val="100000"/>
              </a:lnSpc>
              <a:buNone/>
            </a:pPr>
            <a:r>
              <a:rPr lang="en-US" sz="1000" dirty="0">
                <a:solidFill>
                  <a:srgbClr val="5A6478"/>
                </a:solidFill>
                <a:latin typeface="Calibri" pitchFamily="34" charset="0"/>
                <a:ea typeface="Calibri" pitchFamily="34" charset="-122"/>
                <a:cs typeface="Calibri" pitchFamily="34" charset="-120"/>
              </a:rPr>
              <a:t>Instala todo. Se puede repetir sin riesgo</a:t>
            </a:r>
            <a:endParaRPr lang="en-US" sz="1000" dirty="0"/>
          </a:p>
        </p:txBody>
      </p:sp>
      <p:sp>
        <p:nvSpPr>
          <p:cNvPr id="8" name="Shape 6"/>
          <p:cNvSpPr/>
          <p:nvPr/>
        </p:nvSpPr>
        <p:spPr>
          <a:xfrm>
            <a:off x="777240" y="2889504"/>
            <a:ext cx="3017520" cy="402336"/>
          </a:xfrm>
          <a:prstGeom prst="roundRect">
            <a:avLst>
              <a:gd name="adj" fmla="val 11364"/>
            </a:avLst>
          </a:prstGeom>
          <a:solidFill>
            <a:srgbClr val="1B2230"/>
          </a:solidFill>
          <a:ln/>
        </p:spPr>
      </p:sp>
      <p:sp>
        <p:nvSpPr>
          <p:cNvPr id="9" name="Text 7"/>
          <p:cNvSpPr/>
          <p:nvPr/>
        </p:nvSpPr>
        <p:spPr>
          <a:xfrm>
            <a:off x="978408" y="2889504"/>
            <a:ext cx="2615184" cy="402336"/>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npm run salud</a:t>
            </a:r>
            <a:endParaRPr lang="en-US" sz="1150" dirty="0"/>
          </a:p>
        </p:txBody>
      </p:sp>
      <p:sp>
        <p:nvSpPr>
          <p:cNvPr id="10" name="Text 8"/>
          <p:cNvSpPr/>
          <p:nvPr/>
        </p:nvSpPr>
        <p:spPr>
          <a:xfrm>
            <a:off x="3977640" y="2926080"/>
            <a:ext cx="2651760" cy="457200"/>
          </a:xfrm>
          <a:prstGeom prst="rect">
            <a:avLst/>
          </a:prstGeom>
          <a:noFill/>
          <a:ln/>
        </p:spPr>
        <p:txBody>
          <a:bodyPr wrap="square" lIns="0" tIns="0" rIns="0" bIns="0" rtlCol="0" anchor="t"/>
          <a:lstStyle/>
          <a:p>
            <a:pPr indent="0" marL="0">
              <a:lnSpc>
                <a:spcPct val="100000"/>
              </a:lnSpc>
              <a:buNone/>
            </a:pPr>
            <a:r>
              <a:rPr lang="en-US" sz="1000" dirty="0">
                <a:solidFill>
                  <a:srgbClr val="5A6478"/>
                </a:solidFill>
                <a:latin typeface="Calibri" pitchFamily="34" charset="0"/>
                <a:ea typeface="Calibri" pitchFamily="34" charset="-122"/>
                <a:cs typeface="Calibri" pitchFamily="34" charset="-120"/>
              </a:rPr>
              <a:t>Comprueba que las diez fuentes respondan (segundos)</a:t>
            </a:r>
            <a:endParaRPr lang="en-US" sz="1000" dirty="0"/>
          </a:p>
        </p:txBody>
      </p:sp>
      <p:sp>
        <p:nvSpPr>
          <p:cNvPr id="11" name="Shape 9"/>
          <p:cNvSpPr/>
          <p:nvPr/>
        </p:nvSpPr>
        <p:spPr>
          <a:xfrm>
            <a:off x="777240" y="3602736"/>
            <a:ext cx="3017520" cy="402336"/>
          </a:xfrm>
          <a:prstGeom prst="roundRect">
            <a:avLst>
              <a:gd name="adj" fmla="val 11364"/>
            </a:avLst>
          </a:prstGeom>
          <a:solidFill>
            <a:srgbClr val="1B2230"/>
          </a:solidFill>
          <a:ln/>
        </p:spPr>
      </p:sp>
      <p:sp>
        <p:nvSpPr>
          <p:cNvPr id="12" name="Text 10"/>
          <p:cNvSpPr/>
          <p:nvPr/>
        </p:nvSpPr>
        <p:spPr>
          <a:xfrm>
            <a:off x="978408" y="3602736"/>
            <a:ext cx="2615184" cy="402336"/>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npm run prueba</a:t>
            </a:r>
            <a:endParaRPr lang="en-US" sz="1150" dirty="0"/>
          </a:p>
        </p:txBody>
      </p:sp>
      <p:sp>
        <p:nvSpPr>
          <p:cNvPr id="13" name="Text 11"/>
          <p:cNvSpPr/>
          <p:nvPr/>
        </p:nvSpPr>
        <p:spPr>
          <a:xfrm>
            <a:off x="3977640" y="3639312"/>
            <a:ext cx="2651760" cy="457200"/>
          </a:xfrm>
          <a:prstGeom prst="rect">
            <a:avLst/>
          </a:prstGeom>
          <a:noFill/>
          <a:ln/>
        </p:spPr>
        <p:txBody>
          <a:bodyPr wrap="square" lIns="0" tIns="0" rIns="0" bIns="0" rtlCol="0" anchor="t"/>
          <a:lstStyle/>
          <a:p>
            <a:pPr indent="0" marL="0">
              <a:lnSpc>
                <a:spcPct val="100000"/>
              </a:lnSpc>
              <a:buNone/>
            </a:pPr>
            <a:r>
              <a:rPr lang="en-US" sz="1000" dirty="0">
                <a:solidFill>
                  <a:srgbClr val="5A6478"/>
                </a:solidFill>
                <a:latin typeface="Calibri" pitchFamily="34" charset="0"/>
                <a:ea typeface="Calibri" pitchFamily="34" charset="-122"/>
                <a:cs typeface="Calibri" pitchFamily="34" charset="-120"/>
              </a:rPr>
              <a:t>Banco completo, 68 comprobaciones (minutos)</a:t>
            </a:r>
            <a:endParaRPr lang="en-US" sz="1000" dirty="0"/>
          </a:p>
        </p:txBody>
      </p:sp>
      <p:sp>
        <p:nvSpPr>
          <p:cNvPr id="14" name="Shape 12"/>
          <p:cNvSpPr/>
          <p:nvPr/>
        </p:nvSpPr>
        <p:spPr>
          <a:xfrm>
            <a:off x="777240" y="4315968"/>
            <a:ext cx="3017520" cy="402336"/>
          </a:xfrm>
          <a:prstGeom prst="roundRect">
            <a:avLst>
              <a:gd name="adj" fmla="val 11364"/>
            </a:avLst>
          </a:prstGeom>
          <a:solidFill>
            <a:srgbClr val="1B2230"/>
          </a:solidFill>
          <a:ln/>
        </p:spPr>
      </p:sp>
      <p:sp>
        <p:nvSpPr>
          <p:cNvPr id="15" name="Text 13"/>
          <p:cNvSpPr/>
          <p:nvPr/>
        </p:nvSpPr>
        <p:spPr>
          <a:xfrm>
            <a:off x="978408" y="4315968"/>
            <a:ext cx="2615184" cy="402336"/>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npm run auditoria</a:t>
            </a:r>
            <a:endParaRPr lang="en-US" sz="1150" dirty="0"/>
          </a:p>
        </p:txBody>
      </p:sp>
      <p:sp>
        <p:nvSpPr>
          <p:cNvPr id="16" name="Text 14"/>
          <p:cNvSpPr/>
          <p:nvPr/>
        </p:nvSpPr>
        <p:spPr>
          <a:xfrm>
            <a:off x="3977640" y="4352544"/>
            <a:ext cx="2651760" cy="457200"/>
          </a:xfrm>
          <a:prstGeom prst="rect">
            <a:avLst/>
          </a:prstGeom>
          <a:noFill/>
          <a:ln/>
        </p:spPr>
        <p:txBody>
          <a:bodyPr wrap="square" lIns="0" tIns="0" rIns="0" bIns="0" rtlCol="0" anchor="t"/>
          <a:lstStyle/>
          <a:p>
            <a:pPr indent="0" marL="0">
              <a:lnSpc>
                <a:spcPct val="100000"/>
              </a:lnSpc>
              <a:buNone/>
            </a:pPr>
            <a:r>
              <a:rPr lang="en-US" sz="1000" dirty="0">
                <a:solidFill>
                  <a:srgbClr val="5A6478"/>
                </a:solidFill>
                <a:latin typeface="Calibri" pitchFamily="34" charset="0"/>
                <a:ea typeface="Calibri" pitchFamily="34" charset="-122"/>
                <a:cs typeface="Calibri" pitchFamily="34" charset="-120"/>
              </a:rPr>
              <a:t>Verifica que los datos del código sigan siendo ciertos</a:t>
            </a:r>
            <a:endParaRPr lang="en-US" sz="1000" dirty="0"/>
          </a:p>
        </p:txBody>
      </p:sp>
      <p:sp>
        <p:nvSpPr>
          <p:cNvPr id="17" name="Shape 15"/>
          <p:cNvSpPr/>
          <p:nvPr/>
        </p:nvSpPr>
        <p:spPr>
          <a:xfrm>
            <a:off x="777240" y="5029200"/>
            <a:ext cx="3017520" cy="402336"/>
          </a:xfrm>
          <a:prstGeom prst="roundRect">
            <a:avLst>
              <a:gd name="adj" fmla="val 11364"/>
            </a:avLst>
          </a:prstGeom>
          <a:solidFill>
            <a:srgbClr val="1B2230"/>
          </a:solidFill>
          <a:ln/>
        </p:spPr>
      </p:sp>
      <p:sp>
        <p:nvSpPr>
          <p:cNvPr id="18" name="Text 16"/>
          <p:cNvSpPr/>
          <p:nvPr/>
        </p:nvSpPr>
        <p:spPr>
          <a:xfrm>
            <a:off x="978408" y="5029200"/>
            <a:ext cx="2615184" cy="402336"/>
          </a:xfrm>
          <a:prstGeom prst="rect">
            <a:avLst/>
          </a:prstGeom>
          <a:noFill/>
          <a:ln/>
        </p:spPr>
        <p:txBody>
          <a:bodyPr wrap="square" lIns="0" tIns="0" rIns="0" bIns="0" rtlCol="0" anchor="ctr"/>
          <a:lstStyle/>
          <a:p>
            <a:pPr indent="0" marL="0">
              <a:buNone/>
            </a:pPr>
            <a:r>
              <a:rPr lang="en-US" sz="1150" b="1" dirty="0">
                <a:solidFill>
                  <a:srgbClr val="C9A574"/>
                </a:solidFill>
                <a:latin typeface="Courier New" pitchFamily="34" charset="0"/>
                <a:ea typeface="Courier New" pitchFamily="34" charset="-122"/>
                <a:cs typeface="Courier New" pitchFamily="34" charset="-120"/>
              </a:rPr>
              <a:t>npm run precargar</a:t>
            </a:r>
            <a:endParaRPr lang="en-US" sz="1150" dirty="0"/>
          </a:p>
        </p:txBody>
      </p:sp>
      <p:sp>
        <p:nvSpPr>
          <p:cNvPr id="19" name="Text 17"/>
          <p:cNvSpPr/>
          <p:nvPr/>
        </p:nvSpPr>
        <p:spPr>
          <a:xfrm>
            <a:off x="3977640" y="5065776"/>
            <a:ext cx="2651760" cy="457200"/>
          </a:xfrm>
          <a:prstGeom prst="rect">
            <a:avLst/>
          </a:prstGeom>
          <a:noFill/>
          <a:ln/>
        </p:spPr>
        <p:txBody>
          <a:bodyPr wrap="square" lIns="0" tIns="0" rIns="0" bIns="0" rtlCol="0" anchor="t"/>
          <a:lstStyle/>
          <a:p>
            <a:pPr indent="0" marL="0">
              <a:lnSpc>
                <a:spcPct val="100000"/>
              </a:lnSpc>
              <a:buNone/>
            </a:pPr>
            <a:r>
              <a:rPr lang="en-US" sz="1000" dirty="0">
                <a:solidFill>
                  <a:srgbClr val="5A6478"/>
                </a:solidFill>
                <a:latin typeface="Calibri" pitchFamily="34" charset="0"/>
                <a:ea typeface="Calibri" pitchFamily="34" charset="-122"/>
                <a:cs typeface="Calibri" pitchFamily="34" charset="-120"/>
              </a:rPr>
              <a:t>Reintenta la precarga de códigos y leyes</a:t>
            </a:r>
            <a:endParaRPr lang="en-US" sz="1000" dirty="0"/>
          </a:p>
        </p:txBody>
      </p:sp>
      <p:sp>
        <p:nvSpPr>
          <p:cNvPr id="20" name="Shape 18"/>
          <p:cNvSpPr/>
          <p:nvPr/>
        </p:nvSpPr>
        <p:spPr>
          <a:xfrm>
            <a:off x="6675120" y="1810512"/>
            <a:ext cx="4736592" cy="1920240"/>
          </a:xfrm>
          <a:prstGeom prst="roundRect">
            <a:avLst>
              <a:gd name="adj" fmla="val 2857"/>
            </a:avLst>
          </a:prstGeom>
          <a:solidFill>
            <a:srgbClr val="1B2230"/>
          </a:solidFill>
          <a:ln/>
        </p:spPr>
      </p:sp>
      <p:sp>
        <p:nvSpPr>
          <p:cNvPr id="21" name="Text 19"/>
          <p:cNvSpPr/>
          <p:nvPr/>
        </p:nvSpPr>
        <p:spPr>
          <a:xfrm>
            <a:off x="6995160" y="2048256"/>
            <a:ext cx="4114800" cy="274320"/>
          </a:xfrm>
          <a:prstGeom prst="rect">
            <a:avLst/>
          </a:prstGeom>
          <a:noFill/>
          <a:ln/>
        </p:spPr>
        <p:txBody>
          <a:bodyPr wrap="square" lIns="0" tIns="0" rIns="0" bIns="0" rtlCol="0" anchor="t"/>
          <a:lstStyle/>
          <a:p>
            <a:pPr indent="0" marL="0">
              <a:buNone/>
            </a:pPr>
            <a:r>
              <a:rPr lang="en-US" sz="1100" spc="120" kern="0" dirty="0">
                <a:solidFill>
                  <a:srgbClr val="C9A574"/>
                </a:solidFill>
                <a:latin typeface="Calibri" pitchFamily="34" charset="0"/>
                <a:ea typeface="Calibri" pitchFamily="34" charset="-122"/>
                <a:cs typeface="Calibri" pitchFamily="34" charset="-120"/>
              </a:rPr>
              <a:t>Por qué existe la auditoría</a:t>
            </a:r>
            <a:endParaRPr lang="en-US" sz="1100" dirty="0"/>
          </a:p>
        </p:txBody>
      </p:sp>
      <p:sp>
        <p:nvSpPr>
          <p:cNvPr id="22" name="Text 20"/>
          <p:cNvSpPr/>
          <p:nvPr/>
        </p:nvSpPr>
        <p:spPr>
          <a:xfrm>
            <a:off x="6995160" y="2377440"/>
            <a:ext cx="4114800" cy="9144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Comprueba contra las fuentes reales que cada identificador de norma apunte a la norma que dice, que los códigos de corte sean los correctos y que cada revista sea la declarada.</a:t>
            </a:r>
            <a:endParaRPr lang="en-US" sz="1100" dirty="0"/>
          </a:p>
        </p:txBody>
      </p:sp>
      <p:sp>
        <p:nvSpPr>
          <p:cNvPr id="23" name="Text 21"/>
          <p:cNvSpPr/>
          <p:nvPr/>
        </p:nvSpPr>
        <p:spPr>
          <a:xfrm>
            <a:off x="6995160" y="3255264"/>
            <a:ext cx="4114800" cy="365760"/>
          </a:xfrm>
          <a:prstGeom prst="rect">
            <a:avLst/>
          </a:prstGeom>
          <a:noFill/>
          <a:ln/>
        </p:spPr>
        <p:txBody>
          <a:bodyPr wrap="square" lIns="0" tIns="0" rIns="0" bIns="0" rtlCol="0" anchor="t"/>
          <a:lstStyle/>
          <a:p>
            <a:pPr indent="0" marL="0">
              <a:buNone/>
            </a:pPr>
            <a:r>
              <a:rPr lang="en-US" sz="1050" i="1" dirty="0">
                <a:solidFill>
                  <a:srgbClr val="C9A574"/>
                </a:solidFill>
                <a:latin typeface="Calibri" pitchFamily="34" charset="0"/>
                <a:ea typeface="Calibri" pitchFamily="34" charset="-122"/>
                <a:cs typeface="Calibri" pitchFamily="34" charset="-120"/>
              </a:rPr>
              <a:t>Es la comprobación que importa cuando se trabaja con citas.</a:t>
            </a:r>
            <a:endParaRPr lang="en-US" sz="1050" dirty="0"/>
          </a:p>
        </p:txBody>
      </p:sp>
      <p:sp>
        <p:nvSpPr>
          <p:cNvPr id="24" name="Text 22"/>
          <p:cNvSpPr/>
          <p:nvPr/>
        </p:nvSpPr>
        <p:spPr>
          <a:xfrm>
            <a:off x="6675120" y="3950208"/>
            <a:ext cx="4572000" cy="274320"/>
          </a:xfrm>
          <a:prstGeom prst="rect">
            <a:avLst/>
          </a:prstGeom>
          <a:noFill/>
          <a:ln/>
        </p:spPr>
        <p:txBody>
          <a:bodyPr wrap="square" lIns="0" tIns="0" rIns="0" bIns="0" rtlCol="0" anchor="t"/>
          <a:lstStyle/>
          <a:p>
            <a:pPr indent="0" marL="0">
              <a:buNone/>
            </a:pPr>
            <a:r>
              <a:rPr lang="en-US" sz="1250" b="1" dirty="0">
                <a:solidFill>
                  <a:srgbClr val="1B2230"/>
                </a:solidFill>
                <a:latin typeface="Calibri" pitchFamily="34" charset="0"/>
                <a:ea typeface="Calibri" pitchFamily="34" charset="-122"/>
                <a:cs typeface="Calibri" pitchFamily="34" charset="-120"/>
              </a:rPr>
              <a:t>Desinstalar</a:t>
            </a:r>
            <a:endParaRPr lang="en-US" sz="1250" dirty="0"/>
          </a:p>
        </p:txBody>
      </p:sp>
      <p:sp>
        <p:nvSpPr>
          <p:cNvPr id="25" name="Text 23"/>
          <p:cNvSpPr/>
          <p:nvPr/>
        </p:nvSpPr>
        <p:spPr>
          <a:xfrm>
            <a:off x="6675120" y="4297680"/>
            <a:ext cx="4736592" cy="3657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1.  Borrar la entrada "responsa" del archivo de configuración de Claude Desktop</a:t>
            </a:r>
            <a:endParaRPr lang="en-US" sz="1050" dirty="0"/>
          </a:p>
        </p:txBody>
      </p:sp>
      <p:sp>
        <p:nvSpPr>
          <p:cNvPr id="26" name="Text 24"/>
          <p:cNvSpPr/>
          <p:nvPr/>
        </p:nvSpPr>
        <p:spPr>
          <a:xfrm>
            <a:off x="6675120" y="4681728"/>
            <a:ext cx="4736592" cy="3657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2.  Borrar la carpeta ~/.claude/skills/responsa</a:t>
            </a:r>
            <a:endParaRPr lang="en-US" sz="1050" dirty="0"/>
          </a:p>
        </p:txBody>
      </p:sp>
      <p:sp>
        <p:nvSpPr>
          <p:cNvPr id="27" name="Text 25"/>
          <p:cNvSpPr/>
          <p:nvPr/>
        </p:nvSpPr>
        <p:spPr>
          <a:xfrm>
            <a:off x="6675120" y="5065776"/>
            <a:ext cx="4736592" cy="3657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3.  Borrar la carpeta ~/.responsa (los datos guardados)</a:t>
            </a:r>
            <a:endParaRPr lang="en-US" sz="1050" dirty="0"/>
          </a:p>
        </p:txBody>
      </p:sp>
      <p:sp>
        <p:nvSpPr>
          <p:cNvPr id="28" name="Text 26"/>
          <p:cNvSpPr/>
          <p:nvPr/>
        </p:nvSpPr>
        <p:spPr>
          <a:xfrm>
            <a:off x="6675120" y="5449824"/>
            <a:ext cx="4736592" cy="36576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4.  Borrar la carpeta de Responsa</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77240" y="2148840"/>
            <a:ext cx="6400800" cy="868680"/>
          </a:xfrm>
          <a:prstGeom prst="rect">
            <a:avLst/>
          </a:prstGeom>
          <a:noFill/>
          <a:ln/>
        </p:spPr>
        <p:txBody>
          <a:bodyPr wrap="square" lIns="0" tIns="0" rIns="0" bIns="0" rtlCol="0" anchor="ctr"/>
          <a:lstStyle/>
          <a:p>
            <a:pPr indent="0" marL="0">
              <a:buNone/>
            </a:pPr>
            <a:r>
              <a:rPr lang="en-US" sz="5400" b="1" spc="400" kern="0" dirty="0">
                <a:solidFill>
                  <a:srgbClr val="1B2230"/>
                </a:solidFill>
                <a:latin typeface="Cambria" pitchFamily="34" charset="0"/>
                <a:ea typeface="Cambria" pitchFamily="34" charset="-122"/>
                <a:cs typeface="Cambria" pitchFamily="34" charset="-120"/>
              </a:rPr>
              <a:t>RESPONSA</a:t>
            </a:r>
            <a:endParaRPr lang="en-US" sz="5400" dirty="0"/>
          </a:p>
        </p:txBody>
      </p:sp>
      <p:sp>
        <p:nvSpPr>
          <p:cNvPr id="3" name="Text 1"/>
          <p:cNvSpPr/>
          <p:nvPr/>
        </p:nvSpPr>
        <p:spPr>
          <a:xfrm>
            <a:off x="777240" y="3090672"/>
            <a:ext cx="6400800" cy="457200"/>
          </a:xfrm>
          <a:prstGeom prst="rect">
            <a:avLst/>
          </a:prstGeom>
          <a:noFill/>
          <a:ln/>
        </p:spPr>
        <p:txBody>
          <a:bodyPr wrap="square" lIns="0" tIns="0" rIns="0" bIns="0" rtlCol="0" anchor="ctr"/>
          <a:lstStyle/>
          <a:p>
            <a:pPr indent="0" marL="0">
              <a:buNone/>
            </a:pPr>
            <a:r>
              <a:rPr lang="en-US" sz="2100" i="1" dirty="0">
                <a:solidFill>
                  <a:srgbClr val="A87C4F"/>
                </a:solidFill>
                <a:latin typeface="Cambria" pitchFamily="34" charset="0"/>
                <a:ea typeface="Cambria" pitchFamily="34" charset="-122"/>
                <a:cs typeface="Cambria" pitchFamily="34" charset="-120"/>
              </a:rPr>
              <a:t>Responder con fundamento verificable.</a:t>
            </a:r>
            <a:endParaRPr lang="en-US" sz="2100" dirty="0"/>
          </a:p>
        </p:txBody>
      </p:sp>
      <p:sp>
        <p:nvSpPr>
          <p:cNvPr id="4" name="Text 2"/>
          <p:cNvSpPr/>
          <p:nvPr/>
        </p:nvSpPr>
        <p:spPr>
          <a:xfrm>
            <a:off x="777240" y="4041648"/>
            <a:ext cx="2011680" cy="777240"/>
          </a:xfrm>
          <a:prstGeom prst="rect">
            <a:avLst/>
          </a:prstGeom>
          <a:noFill/>
          <a:ln/>
        </p:spPr>
        <p:txBody>
          <a:bodyPr wrap="square" lIns="0" tIns="0" rIns="0" bIns="0" rtlCol="0" anchor="ctr"/>
          <a:lstStyle/>
          <a:p>
            <a:pPr indent="0" marL="0">
              <a:buNone/>
            </a:pPr>
            <a:r>
              <a:rPr lang="en-US" sz="5200" b="1" dirty="0">
                <a:solidFill>
                  <a:srgbClr val="A87C4F"/>
                </a:solidFill>
                <a:latin typeface="Cambria" pitchFamily="34" charset="0"/>
                <a:ea typeface="Cambria" pitchFamily="34" charset="-122"/>
                <a:cs typeface="Cambria" pitchFamily="34" charset="-120"/>
              </a:rPr>
              <a:t>10</a:t>
            </a:r>
            <a:endParaRPr lang="en-US" sz="5200" dirty="0"/>
          </a:p>
        </p:txBody>
      </p:sp>
      <p:sp>
        <p:nvSpPr>
          <p:cNvPr id="5" name="Text 3"/>
          <p:cNvSpPr/>
          <p:nvPr/>
        </p:nvSpPr>
        <p:spPr>
          <a:xfrm>
            <a:off x="777240" y="4828032"/>
            <a:ext cx="20116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fuentes oficiales</a:t>
            </a:r>
            <a:endParaRPr lang="en-US" sz="1150" dirty="0"/>
          </a:p>
        </p:txBody>
      </p:sp>
      <p:sp>
        <p:nvSpPr>
          <p:cNvPr id="6" name="Text 4"/>
          <p:cNvSpPr/>
          <p:nvPr/>
        </p:nvSpPr>
        <p:spPr>
          <a:xfrm>
            <a:off x="3063240" y="4041648"/>
            <a:ext cx="2011680" cy="777240"/>
          </a:xfrm>
          <a:prstGeom prst="rect">
            <a:avLst/>
          </a:prstGeom>
          <a:noFill/>
          <a:ln/>
        </p:spPr>
        <p:txBody>
          <a:bodyPr wrap="square" lIns="0" tIns="0" rIns="0" bIns="0" rtlCol="0" anchor="ctr"/>
          <a:lstStyle/>
          <a:p>
            <a:pPr indent="0" marL="0">
              <a:buNone/>
            </a:pPr>
            <a:r>
              <a:rPr lang="en-US" sz="5200" b="1" dirty="0">
                <a:solidFill>
                  <a:srgbClr val="A87C4F"/>
                </a:solidFill>
                <a:latin typeface="Cambria" pitchFamily="34" charset="0"/>
                <a:ea typeface="Cambria" pitchFamily="34" charset="-122"/>
                <a:cs typeface="Cambria" pitchFamily="34" charset="-120"/>
              </a:rPr>
              <a:t>20</a:t>
            </a:r>
            <a:endParaRPr lang="en-US" sz="5200" dirty="0"/>
          </a:p>
        </p:txBody>
      </p:sp>
      <p:sp>
        <p:nvSpPr>
          <p:cNvPr id="7" name="Text 5"/>
          <p:cNvSpPr/>
          <p:nvPr/>
        </p:nvSpPr>
        <p:spPr>
          <a:xfrm>
            <a:off x="3063240" y="4828032"/>
            <a:ext cx="20116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herramientas</a:t>
            </a:r>
            <a:endParaRPr lang="en-US" sz="1150" dirty="0"/>
          </a:p>
        </p:txBody>
      </p:sp>
      <p:sp>
        <p:nvSpPr>
          <p:cNvPr id="8" name="Text 6"/>
          <p:cNvSpPr/>
          <p:nvPr/>
        </p:nvSpPr>
        <p:spPr>
          <a:xfrm>
            <a:off x="5349240" y="4041648"/>
            <a:ext cx="2011680" cy="777240"/>
          </a:xfrm>
          <a:prstGeom prst="rect">
            <a:avLst/>
          </a:prstGeom>
          <a:noFill/>
          <a:ln/>
        </p:spPr>
        <p:txBody>
          <a:bodyPr wrap="square" lIns="0" tIns="0" rIns="0" bIns="0" rtlCol="0" anchor="ctr"/>
          <a:lstStyle/>
          <a:p>
            <a:pPr indent="0" marL="0">
              <a:buNone/>
            </a:pPr>
            <a:r>
              <a:rPr lang="en-US" sz="5200" b="1" dirty="0">
                <a:solidFill>
                  <a:srgbClr val="A87C4F"/>
                </a:solidFill>
                <a:latin typeface="Cambria" pitchFamily="34" charset="0"/>
                <a:ea typeface="Cambria" pitchFamily="34" charset="-122"/>
                <a:cs typeface="Cambria" pitchFamily="34" charset="-120"/>
              </a:rPr>
              <a:t>0</a:t>
            </a:r>
            <a:endParaRPr lang="en-US" sz="5200" dirty="0"/>
          </a:p>
        </p:txBody>
      </p:sp>
      <p:sp>
        <p:nvSpPr>
          <p:cNvPr id="9" name="Text 7"/>
          <p:cNvSpPr/>
          <p:nvPr/>
        </p:nvSpPr>
        <p:spPr>
          <a:xfrm>
            <a:off x="5349240" y="4828032"/>
            <a:ext cx="20116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bases de suscripción</a:t>
            </a:r>
            <a:endParaRPr lang="en-US" sz="1150" dirty="0"/>
          </a:p>
        </p:txBody>
      </p:sp>
      <p:sp>
        <p:nvSpPr>
          <p:cNvPr id="10" name="Shape 8"/>
          <p:cNvSpPr/>
          <p:nvPr/>
        </p:nvSpPr>
        <p:spPr>
          <a:xfrm>
            <a:off x="7498080" y="2148840"/>
            <a:ext cx="3913632" cy="3200400"/>
          </a:xfrm>
          <a:prstGeom prst="roundRect">
            <a:avLst>
              <a:gd name="adj" fmla="val 1714"/>
            </a:avLst>
          </a:prstGeom>
          <a:solidFill>
            <a:srgbClr val="1B2230"/>
          </a:solidFill>
          <a:ln/>
        </p:spPr>
      </p:sp>
      <p:sp>
        <p:nvSpPr>
          <p:cNvPr id="11" name="Text 9"/>
          <p:cNvSpPr/>
          <p:nvPr/>
        </p:nvSpPr>
        <p:spPr>
          <a:xfrm>
            <a:off x="7863840" y="2487168"/>
            <a:ext cx="3200400" cy="256032"/>
          </a:xfrm>
          <a:prstGeom prst="rect">
            <a:avLst/>
          </a:prstGeom>
          <a:noFill/>
          <a:ln/>
        </p:spPr>
        <p:txBody>
          <a:bodyPr wrap="square" lIns="0" tIns="0" rIns="0" bIns="0" rtlCol="0" anchor="t"/>
          <a:lstStyle/>
          <a:p>
            <a:pPr indent="0" marL="0">
              <a:buNone/>
            </a:pPr>
            <a:r>
              <a:rPr lang="en-US" sz="1050" spc="150" kern="0" dirty="0">
                <a:solidFill>
                  <a:srgbClr val="C9A574"/>
                </a:solidFill>
                <a:latin typeface="Calibri" pitchFamily="34" charset="0"/>
                <a:ea typeface="Calibri" pitchFamily="34" charset="-122"/>
                <a:cs typeface="Calibri" pitchFamily="34" charset="-120"/>
              </a:rPr>
              <a:t>Creado por</a:t>
            </a:r>
            <a:endParaRPr lang="en-US" sz="1050" dirty="0"/>
          </a:p>
        </p:txBody>
      </p:sp>
      <p:sp>
        <p:nvSpPr>
          <p:cNvPr id="12" name="Text 10"/>
          <p:cNvSpPr/>
          <p:nvPr/>
        </p:nvSpPr>
        <p:spPr>
          <a:xfrm>
            <a:off x="7863840" y="2779776"/>
            <a:ext cx="3291840" cy="4114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Joaquín Larraín Guimoye</a:t>
            </a:r>
            <a:endParaRPr lang="en-US" sz="2100" dirty="0"/>
          </a:p>
        </p:txBody>
      </p:sp>
      <p:sp>
        <p:nvSpPr>
          <p:cNvPr id="13" name="Text 11"/>
          <p:cNvSpPr/>
          <p:nvPr/>
        </p:nvSpPr>
        <p:spPr>
          <a:xfrm>
            <a:off x="7863840" y="3401568"/>
            <a:ext cx="3200400" cy="1005840"/>
          </a:xfrm>
          <a:prstGeom prst="rect">
            <a:avLst/>
          </a:prstGeom>
          <a:noFill/>
          <a:ln/>
        </p:spPr>
        <p:txBody>
          <a:bodyPr wrap="square" lIns="0" tIns="0" rIns="0" bIns="0" rtlCol="0" anchor="t"/>
          <a:lstStyle/>
          <a:p>
            <a:pPr indent="0" marL="0">
              <a:buNone/>
            </a:pPr>
            <a:r>
              <a:rPr lang="en-US" sz="1100" dirty="0">
                <a:solidFill>
                  <a:srgbClr val="8A93A5"/>
                </a:solidFill>
                <a:latin typeface="Calibri" pitchFamily="34" charset="0"/>
                <a:ea typeface="Calibri" pitchFamily="34" charset="-122"/>
                <a:cs typeface="Calibri" pitchFamily="34" charset="-120"/>
              </a:rPr>
              <a:t>Todas las fuentes son públicas y gratuitas. La herramienta se puede compartir sin comprometer licencias de nadie.</a:t>
            </a:r>
            <a:endParaRPr lang="en-US" sz="1100" dirty="0"/>
          </a:p>
        </p:txBody>
      </p:sp>
      <p:sp>
        <p:nvSpPr>
          <p:cNvPr id="14" name="Shape 12"/>
          <p:cNvSpPr/>
          <p:nvPr/>
        </p:nvSpPr>
        <p:spPr>
          <a:xfrm>
            <a:off x="7863840" y="4498848"/>
            <a:ext cx="566928" cy="566928"/>
          </a:xfrm>
          <a:prstGeom prst="ellipse">
            <a:avLst/>
          </a:prstGeom>
          <a:solidFill>
            <a:srgbClr val="A87C4F"/>
          </a:solidFill>
          <a:ln/>
        </p:spPr>
      </p:sp>
      <p:sp>
        <p:nvSpPr>
          <p:cNvPr id="15" name="Text 13"/>
          <p:cNvSpPr/>
          <p:nvPr/>
        </p:nvSpPr>
        <p:spPr>
          <a:xfrm>
            <a:off x="7863840" y="4498848"/>
            <a:ext cx="566928" cy="566928"/>
          </a:xfrm>
          <a:prstGeom prst="rect">
            <a:avLst/>
          </a:prstGeom>
          <a:noFill/>
          <a:ln/>
        </p:spPr>
        <p:txBody>
          <a:bodyPr wrap="square" lIns="0" tIns="0" rIns="0" bIns="0" rtlCol="0" anchor="ctr"/>
          <a:lstStyle/>
          <a:p>
            <a:pPr algn="ctr" indent="0" marL="0">
              <a:buNone/>
            </a:pPr>
            <a:r>
              <a:rPr lang="en-US" sz="2500" b="1" dirty="0">
                <a:solidFill>
                  <a:srgbClr val="1B2230"/>
                </a:solidFill>
                <a:latin typeface="Cambria" pitchFamily="34" charset="0"/>
                <a:ea typeface="Cambria" pitchFamily="34" charset="-122"/>
                <a:cs typeface="Cambria" pitchFamily="34" charset="-120"/>
              </a:rPr>
              <a:t>R</a:t>
            </a:r>
            <a:endParaRPr lang="en-US"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Responsa</dc:title>
  <dc:subject>Fuentes jurídicas chilenas verificables</dc:subject>
  <dc:creator>Joaquín Larraín Guimoye</dc:creator>
  <cp:lastModifiedBy>Joaquín Larraín Guimoye</cp:lastModifiedBy>
  <cp:revision>1</cp:revision>
  <dcterms:created xsi:type="dcterms:W3CDTF">2026-08-15T21:21:04Z</dcterms:created>
  <dcterms:modified xsi:type="dcterms:W3CDTF">2026-08-15T21:21:04Z</dcterms:modified>
</cp:coreProperties>
</file>