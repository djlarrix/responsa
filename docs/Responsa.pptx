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121408"/>
            <a:ext cx="8412480" cy="1234440"/>
          </a:xfrm>
          <a:prstGeom prst="rect">
            <a:avLst/>
          </a:prstGeom>
          <a:noFill/>
          <a:ln/>
        </p:spPr>
        <p:txBody>
          <a:bodyPr wrap="square" lIns="0" tIns="0" rIns="0" bIns="0" rtlCol="0" anchor="ctr"/>
          <a:lstStyle/>
          <a:p>
            <a:pPr indent="0" marL="0">
              <a:buNone/>
            </a:pPr>
            <a:r>
              <a:rPr lang="en-US" sz="7600" b="1" spc="600" kern="0" dirty="0">
                <a:solidFill>
                  <a:srgbClr val="FFFFFF"/>
                </a:solidFill>
                <a:latin typeface="Cambria" pitchFamily="34" charset="0"/>
                <a:ea typeface="Cambria" pitchFamily="34" charset="-122"/>
                <a:cs typeface="Cambria" pitchFamily="34" charset="-120"/>
              </a:rPr>
              <a:t>RESPONSA</a:t>
            </a:r>
            <a:endParaRPr lang="en-US" sz="7600" dirty="0"/>
          </a:p>
        </p:txBody>
      </p:sp>
      <p:sp>
        <p:nvSpPr>
          <p:cNvPr id="3" name="Text 1"/>
          <p:cNvSpPr/>
          <p:nvPr/>
        </p:nvSpPr>
        <p:spPr>
          <a:xfrm>
            <a:off x="777240" y="3401568"/>
            <a:ext cx="8412480" cy="411480"/>
          </a:xfrm>
          <a:prstGeom prst="rect">
            <a:avLst/>
          </a:prstGeom>
          <a:noFill/>
          <a:ln/>
        </p:spPr>
        <p:txBody>
          <a:bodyPr wrap="square" lIns="0" tIns="0" rIns="0" bIns="0" rtlCol="0" anchor="ctr"/>
          <a:lstStyle/>
          <a:p>
            <a:pPr indent="0" marL="0">
              <a:buNone/>
            </a:pPr>
            <a:r>
              <a:rPr lang="en-US" sz="1900" dirty="0">
                <a:solidFill>
                  <a:srgbClr val="C9A574"/>
                </a:solidFill>
                <a:latin typeface="Calibri" pitchFamily="34" charset="0"/>
                <a:ea typeface="Calibri" pitchFamily="34" charset="-122"/>
                <a:cs typeface="Calibri" pitchFamily="34" charset="-120"/>
              </a:rPr>
              <a:t>Fuentes jurídicas chilenas verificables para Claude</a:t>
            </a:r>
            <a:endParaRPr lang="en-US" sz="1900" dirty="0"/>
          </a:p>
        </p:txBody>
      </p:sp>
      <p:sp>
        <p:nvSpPr>
          <p:cNvPr id="4" name="Text 2"/>
          <p:cNvSpPr/>
          <p:nvPr/>
        </p:nvSpPr>
        <p:spPr>
          <a:xfrm>
            <a:off x="777240" y="3968496"/>
            <a:ext cx="8778240" cy="329184"/>
          </a:xfrm>
          <a:prstGeom prst="rect">
            <a:avLst/>
          </a:prstGeom>
          <a:noFill/>
          <a:ln/>
        </p:spPr>
        <p:txBody>
          <a:bodyPr wrap="square" lIns="0" tIns="0" rIns="0" bIns="0" rtlCol="0" anchor="ctr"/>
          <a:lstStyle/>
          <a:p>
            <a:pPr indent="0" marL="0">
              <a:buNone/>
            </a:pPr>
            <a:r>
              <a:rPr lang="en-US" sz="1300" dirty="0">
                <a:solidFill>
                  <a:srgbClr val="8A93A5"/>
                </a:solidFill>
                <a:latin typeface="Calibri" pitchFamily="34" charset="0"/>
                <a:ea typeface="Calibri" pitchFamily="34" charset="-122"/>
                <a:cs typeface="Calibri" pitchFamily="34" charset="-120"/>
              </a:rPr>
              <a:t>Jurisprudencia · Legislación · Dictámenes · Arbitraje · Doctrina · Estadísticas</a:t>
            </a:r>
            <a:endParaRPr lang="en-US" sz="1300" dirty="0"/>
          </a:p>
        </p:txBody>
      </p:sp>
      <p:sp>
        <p:nvSpPr>
          <p:cNvPr id="5" name="Text 3"/>
          <p:cNvSpPr/>
          <p:nvPr/>
        </p:nvSpPr>
        <p:spPr>
          <a:xfrm>
            <a:off x="777240" y="5230368"/>
            <a:ext cx="2743200" cy="237744"/>
          </a:xfrm>
          <a:prstGeom prst="rect">
            <a:avLst/>
          </a:prstGeom>
          <a:noFill/>
          <a:ln/>
        </p:spPr>
        <p:txBody>
          <a:bodyPr wrap="square" lIns="0" tIns="0" rIns="0" bIns="0" rtlCol="0" anchor="ctr"/>
          <a:lstStyle/>
          <a:p>
            <a:pPr indent="0" marL="0">
              <a:buNone/>
            </a:pPr>
            <a:r>
              <a:rPr lang="en-US" sz="1100" spc="150" kern="0" dirty="0">
                <a:solidFill>
                  <a:srgbClr val="5A6478"/>
                </a:solidFill>
                <a:latin typeface="Calibri" pitchFamily="34" charset="0"/>
                <a:ea typeface="Calibri" pitchFamily="34" charset="-122"/>
                <a:cs typeface="Calibri" pitchFamily="34" charset="-120"/>
              </a:rPr>
              <a:t>Creado por</a:t>
            </a:r>
            <a:endParaRPr lang="en-US" sz="1100" dirty="0"/>
          </a:p>
        </p:txBody>
      </p:sp>
      <p:sp>
        <p:nvSpPr>
          <p:cNvPr id="6" name="Text 4"/>
          <p:cNvSpPr/>
          <p:nvPr/>
        </p:nvSpPr>
        <p:spPr>
          <a:xfrm>
            <a:off x="777240" y="5477256"/>
            <a:ext cx="548640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Joaquín Larraín Guimoye</a:t>
            </a:r>
            <a:endParaRPr lang="en-US" sz="1900" dirty="0"/>
          </a:p>
        </p:txBody>
      </p:sp>
      <p:sp>
        <p:nvSpPr>
          <p:cNvPr id="7" name="Text 5"/>
          <p:cNvSpPr/>
          <p:nvPr/>
        </p:nvSpPr>
        <p:spPr>
          <a:xfrm>
            <a:off x="5669280" y="658368"/>
            <a:ext cx="5852160" cy="822960"/>
          </a:xfrm>
          <a:prstGeom prst="rect">
            <a:avLst/>
          </a:prstGeom>
          <a:noFill/>
          <a:ln/>
        </p:spPr>
        <p:txBody>
          <a:bodyPr wrap="square" lIns="0" tIns="0" rIns="0" bIns="0" rtlCol="0" anchor="ctr"/>
          <a:lstStyle/>
          <a:p>
            <a:pPr algn="r" indent="0" marL="0">
              <a:buNone/>
            </a:pPr>
            <a:r>
              <a:rPr lang="en-US" sz="3000" i="1" dirty="0">
                <a:solidFill>
                  <a:srgbClr val="2A3446"/>
                </a:solidFill>
                <a:latin typeface="Cambria" pitchFamily="34" charset="0"/>
                <a:ea typeface="Cambria" pitchFamily="34" charset="-122"/>
                <a:cs typeface="Cambria" pitchFamily="34" charset="-120"/>
              </a:rPr>
              <a:t>responsa prudentium</a:t>
            </a:r>
            <a:endParaRPr lang="en-US" sz="3000" dirty="0"/>
          </a:p>
        </p:txBody>
      </p:sp>
      <p:sp>
        <p:nvSpPr>
          <p:cNvPr id="8" name="Shape 6"/>
          <p:cNvSpPr/>
          <p:nvPr/>
        </p:nvSpPr>
        <p:spPr>
          <a:xfrm>
            <a:off x="10607040" y="5349240"/>
            <a:ext cx="777240" cy="777240"/>
          </a:xfrm>
          <a:prstGeom prst="ellipse">
            <a:avLst/>
          </a:prstGeom>
          <a:solidFill>
            <a:srgbClr val="A87C4F"/>
          </a:solidFill>
          <a:ln/>
        </p:spPr>
      </p:sp>
      <p:sp>
        <p:nvSpPr>
          <p:cNvPr id="9" name="Text 7"/>
          <p:cNvSpPr/>
          <p:nvPr/>
        </p:nvSpPr>
        <p:spPr>
          <a:xfrm>
            <a:off x="10607040" y="5349240"/>
            <a:ext cx="777240" cy="777240"/>
          </a:xfrm>
          <a:prstGeom prst="rect">
            <a:avLst/>
          </a:prstGeom>
          <a:noFill/>
          <a:ln/>
        </p:spPr>
        <p:txBody>
          <a:bodyPr wrap="square" lIns="0" tIns="0" rIns="0" bIns="0" rtlCol="0" anchor="ctr"/>
          <a:lstStyle/>
          <a:p>
            <a:pPr algn="ctr" indent="0" marL="0">
              <a:buNone/>
            </a:pPr>
            <a:r>
              <a:rPr lang="en-US" sz="3400" b="1" dirty="0">
                <a:solidFill>
                  <a:srgbClr val="1B2230"/>
                </a:solidFill>
                <a:latin typeface="Cambria" pitchFamily="34" charset="0"/>
                <a:ea typeface="Cambria" pitchFamily="34" charset="-122"/>
                <a:cs typeface="Cambria" pitchFamily="34" charset="-120"/>
              </a:rPr>
              <a:t>R</a:t>
            </a:r>
            <a:endParaRPr lang="en-US" sz="3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El problema que resuelve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Por qué no basta con preguntarle a una IA general</a:t>
            </a:r>
            <a:endParaRPr lang="en-US" sz="1350" dirty="0"/>
          </a:p>
        </p:txBody>
      </p:sp>
      <p:sp>
        <p:nvSpPr>
          <p:cNvPr id="4" name="Shape 2"/>
          <p:cNvSpPr/>
          <p:nvPr/>
        </p:nvSpPr>
        <p:spPr>
          <a:xfrm>
            <a:off x="777240" y="1901952"/>
            <a:ext cx="5989320" cy="1243584"/>
          </a:xfrm>
          <a:prstGeom prst="roundRect">
            <a:avLst>
              <a:gd name="adj" fmla="val 4412"/>
            </a:avLst>
          </a:prstGeom>
          <a:solidFill>
            <a:srgbClr val="FFFFFF"/>
          </a:solidFill>
          <a:ln w="9525">
            <a:solidFill>
              <a:srgbClr val="E3DED3"/>
            </a:solidFill>
            <a:prstDash val="solid"/>
          </a:ln>
        </p:spPr>
      </p:sp>
      <p:sp>
        <p:nvSpPr>
          <p:cNvPr id="5" name="Shape 3"/>
          <p:cNvSpPr/>
          <p:nvPr/>
        </p:nvSpPr>
        <p:spPr>
          <a:xfrm>
            <a:off x="1069848" y="2157984"/>
            <a:ext cx="384048" cy="384048"/>
          </a:xfrm>
          <a:prstGeom prst="ellipse">
            <a:avLst/>
          </a:prstGeom>
          <a:solidFill>
            <a:srgbClr val="6B2C33"/>
          </a:solidFill>
          <a:ln/>
        </p:spPr>
      </p:sp>
      <p:sp>
        <p:nvSpPr>
          <p:cNvPr id="6" name="Text 4"/>
          <p:cNvSpPr/>
          <p:nvPr/>
        </p:nvSpPr>
        <p:spPr>
          <a:xfrm>
            <a:off x="1069848" y="21579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18488" y="208483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Inventa citas que parecen reales</a:t>
            </a:r>
            <a:endParaRPr lang="en-US" sz="1450" dirty="0"/>
          </a:p>
        </p:txBody>
      </p:sp>
      <p:sp>
        <p:nvSpPr>
          <p:cNvPr id="8" name="Text 6"/>
          <p:cNvSpPr/>
          <p:nvPr/>
        </p:nvSpPr>
        <p:spPr>
          <a:xfrm>
            <a:off x="1618488" y="240487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Un rol plausible, una carátula verosímil, un considerando que suena bien. Se parecen lo suficiente a los verdaderos para pasar desapercibidos en un escrito.</a:t>
            </a:r>
            <a:endParaRPr lang="en-US" sz="1150" dirty="0"/>
          </a:p>
        </p:txBody>
      </p:sp>
      <p:sp>
        <p:nvSpPr>
          <p:cNvPr id="9" name="Shape 7"/>
          <p:cNvSpPr/>
          <p:nvPr/>
        </p:nvSpPr>
        <p:spPr>
          <a:xfrm>
            <a:off x="777240" y="3364992"/>
            <a:ext cx="5989320" cy="1243584"/>
          </a:xfrm>
          <a:prstGeom prst="roundRect">
            <a:avLst>
              <a:gd name="adj" fmla="val 4412"/>
            </a:avLst>
          </a:prstGeom>
          <a:solidFill>
            <a:srgbClr val="FFFFFF"/>
          </a:solidFill>
          <a:ln w="9525">
            <a:solidFill>
              <a:srgbClr val="E3DED3"/>
            </a:solidFill>
            <a:prstDash val="solid"/>
          </a:ln>
        </p:spPr>
      </p:sp>
      <p:sp>
        <p:nvSpPr>
          <p:cNvPr id="10" name="Shape 8"/>
          <p:cNvSpPr/>
          <p:nvPr/>
        </p:nvSpPr>
        <p:spPr>
          <a:xfrm>
            <a:off x="1069848" y="3621024"/>
            <a:ext cx="384048" cy="384048"/>
          </a:xfrm>
          <a:prstGeom prst="ellipse">
            <a:avLst/>
          </a:prstGeom>
          <a:solidFill>
            <a:srgbClr val="6B2C33"/>
          </a:solidFill>
          <a:ln/>
        </p:spPr>
      </p:sp>
      <p:sp>
        <p:nvSpPr>
          <p:cNvPr id="11" name="Text 9"/>
          <p:cNvSpPr/>
          <p:nvPr/>
        </p:nvSpPr>
        <p:spPr>
          <a:xfrm>
            <a:off x="1069848" y="3621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18488" y="354787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Cita normas derogadas</a:t>
            </a:r>
            <a:endParaRPr lang="en-US" sz="1450" dirty="0"/>
          </a:p>
        </p:txBody>
      </p:sp>
      <p:sp>
        <p:nvSpPr>
          <p:cNvPr id="13" name="Text 11"/>
          <p:cNvSpPr/>
          <p:nvPr/>
        </p:nvSpPr>
        <p:spPr>
          <a:xfrm>
            <a:off x="1618488" y="386791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Recuerda la versión que leyó, no la vigente. En derecho eso no es un matiz: cambia el resultado.</a:t>
            </a:r>
            <a:endParaRPr lang="en-US" sz="1150" dirty="0"/>
          </a:p>
        </p:txBody>
      </p:sp>
      <p:sp>
        <p:nvSpPr>
          <p:cNvPr id="14" name="Shape 12"/>
          <p:cNvSpPr/>
          <p:nvPr/>
        </p:nvSpPr>
        <p:spPr>
          <a:xfrm>
            <a:off x="777240" y="4828032"/>
            <a:ext cx="5989320" cy="1243584"/>
          </a:xfrm>
          <a:prstGeom prst="roundRect">
            <a:avLst>
              <a:gd name="adj" fmla="val 4412"/>
            </a:avLst>
          </a:prstGeom>
          <a:solidFill>
            <a:srgbClr val="FFFFFF"/>
          </a:solidFill>
          <a:ln w="9525">
            <a:solidFill>
              <a:srgbClr val="E3DED3"/>
            </a:solidFill>
            <a:prstDash val="solid"/>
          </a:ln>
        </p:spPr>
      </p:sp>
      <p:sp>
        <p:nvSpPr>
          <p:cNvPr id="15" name="Shape 13"/>
          <p:cNvSpPr/>
          <p:nvPr/>
        </p:nvSpPr>
        <p:spPr>
          <a:xfrm>
            <a:off x="1069848" y="5084064"/>
            <a:ext cx="384048" cy="384048"/>
          </a:xfrm>
          <a:prstGeom prst="ellipse">
            <a:avLst/>
          </a:prstGeom>
          <a:solidFill>
            <a:srgbClr val="6B2C33"/>
          </a:solidFill>
          <a:ln/>
        </p:spPr>
      </p:sp>
      <p:sp>
        <p:nvSpPr>
          <p:cNvPr id="16" name="Text 14"/>
          <p:cNvSpPr/>
          <p:nvPr/>
        </p:nvSpPr>
        <p:spPr>
          <a:xfrm>
            <a:off x="1069848" y="50840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18488" y="501091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No sabe lo que no sabe</a:t>
            </a:r>
            <a:endParaRPr lang="en-US" sz="1450" dirty="0"/>
          </a:p>
        </p:txBody>
      </p:sp>
      <p:sp>
        <p:nvSpPr>
          <p:cNvPr id="18" name="Text 16"/>
          <p:cNvSpPr/>
          <p:nvPr/>
        </p:nvSpPr>
        <p:spPr>
          <a:xfrm>
            <a:off x="1618488" y="533095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Ante un vacío, completa. Y el relleno es indistinguible del dato bueno.</a:t>
            </a:r>
            <a:endParaRPr lang="en-US" sz="1150" dirty="0"/>
          </a:p>
        </p:txBody>
      </p:sp>
      <p:sp>
        <p:nvSpPr>
          <p:cNvPr id="19" name="Shape 17"/>
          <p:cNvSpPr/>
          <p:nvPr/>
        </p:nvSpPr>
        <p:spPr>
          <a:xfrm>
            <a:off x="7315200" y="1901952"/>
            <a:ext cx="4096512" cy="3950208"/>
          </a:xfrm>
          <a:prstGeom prst="roundRect">
            <a:avLst>
              <a:gd name="adj" fmla="val 1389"/>
            </a:avLst>
          </a:prstGeom>
          <a:solidFill>
            <a:srgbClr val="1B2230"/>
          </a:solidFill>
          <a:ln/>
        </p:spPr>
      </p:sp>
      <p:sp>
        <p:nvSpPr>
          <p:cNvPr id="20" name="Text 18"/>
          <p:cNvSpPr/>
          <p:nvPr/>
        </p:nvSpPr>
        <p:spPr>
          <a:xfrm>
            <a:off x="7699248" y="2286000"/>
            <a:ext cx="33832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El principio</a:t>
            </a:r>
            <a:endParaRPr lang="en-US" sz="1100" dirty="0"/>
          </a:p>
        </p:txBody>
      </p:sp>
      <p:sp>
        <p:nvSpPr>
          <p:cNvPr id="21" name="Text 19"/>
          <p:cNvSpPr/>
          <p:nvPr/>
        </p:nvSpPr>
        <p:spPr>
          <a:xfrm>
            <a:off x="7699248" y="2670048"/>
            <a:ext cx="3383280" cy="91440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Responsa no busca que Claude sepa derecho chileno.</a:t>
            </a:r>
            <a:endParaRPr lang="en-US" sz="1900" dirty="0"/>
          </a:p>
        </p:txBody>
      </p:sp>
      <p:sp>
        <p:nvSpPr>
          <p:cNvPr id="22" name="Text 20"/>
          <p:cNvSpPr/>
          <p:nvPr/>
        </p:nvSpPr>
        <p:spPr>
          <a:xfrm>
            <a:off x="7699248" y="3639312"/>
            <a:ext cx="3383280" cy="777240"/>
          </a:xfrm>
          <a:prstGeom prst="rect">
            <a:avLst/>
          </a:prstGeom>
          <a:noFill/>
          <a:ln/>
        </p:spPr>
        <p:txBody>
          <a:bodyPr wrap="square" lIns="0" tIns="0" rIns="0" bIns="0" rtlCol="0" anchor="ctr"/>
          <a:lstStyle/>
          <a:p>
            <a:pPr indent="0" marL="0">
              <a:buNone/>
            </a:pPr>
            <a:r>
              <a:rPr lang="en-US" sz="2100" b="1" dirty="0">
                <a:solidFill>
                  <a:srgbClr val="C9A574"/>
                </a:solidFill>
                <a:latin typeface="Cambria" pitchFamily="34" charset="0"/>
                <a:ea typeface="Cambria" pitchFamily="34" charset="-122"/>
                <a:cs typeface="Cambria" pitchFamily="34" charset="-120"/>
              </a:rPr>
              <a:t>Busca que no pueda inventarlo.</a:t>
            </a:r>
            <a:endParaRPr lang="en-US" sz="2100" dirty="0"/>
          </a:p>
        </p:txBody>
      </p:sp>
      <p:sp>
        <p:nvSpPr>
          <p:cNvPr id="23" name="Text 21"/>
          <p:cNvSpPr/>
          <p:nvPr/>
        </p:nvSpPr>
        <p:spPr>
          <a:xfrm>
            <a:off x="7699248" y="4572000"/>
            <a:ext cx="3383280" cy="105156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Cada afirmación queda anclada a un fallo con rol y enlace, a un artículo con su texto oficial o a un dictamen con su número. Lo que no se pudo verificar, se declara.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640080"/>
            <a:ext cx="54864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El nombre</a:t>
            </a:r>
            <a:endParaRPr lang="en-US" sz="3200" dirty="0"/>
          </a:p>
        </p:txBody>
      </p:sp>
      <p:sp>
        <p:nvSpPr>
          <p:cNvPr id="3" name="Text 1"/>
          <p:cNvSpPr/>
          <p:nvPr/>
        </p:nvSpPr>
        <p:spPr>
          <a:xfrm>
            <a:off x="777240" y="1572768"/>
            <a:ext cx="6583680" cy="603504"/>
          </a:xfrm>
          <a:prstGeom prst="rect">
            <a:avLst/>
          </a:prstGeom>
          <a:noFill/>
          <a:ln/>
        </p:spPr>
        <p:txBody>
          <a:bodyPr wrap="square" lIns="0" tIns="0" rIns="0" bIns="0" rtlCol="0" anchor="ctr"/>
          <a:lstStyle/>
          <a:p>
            <a:pPr indent="0" marL="0">
              <a:buNone/>
            </a:pPr>
            <a:r>
              <a:rPr lang="en-US" sz="4000" i="1" dirty="0">
                <a:solidFill>
                  <a:srgbClr val="C9A574"/>
                </a:solidFill>
                <a:latin typeface="Cambria" pitchFamily="34" charset="0"/>
                <a:ea typeface="Cambria" pitchFamily="34" charset="-122"/>
                <a:cs typeface="Cambria" pitchFamily="34" charset="-120"/>
              </a:rPr>
              <a:t>responsa prudentium</a:t>
            </a:r>
            <a:endParaRPr lang="en-US" sz="4000" dirty="0"/>
          </a:p>
        </p:txBody>
      </p:sp>
      <p:sp>
        <p:nvSpPr>
          <p:cNvPr id="4" name="Text 2"/>
          <p:cNvSpPr/>
          <p:nvPr/>
        </p:nvSpPr>
        <p:spPr>
          <a:xfrm>
            <a:off x="777240" y="2340864"/>
            <a:ext cx="6035040" cy="1097280"/>
          </a:xfrm>
          <a:prstGeom prst="rect">
            <a:avLst/>
          </a:prstGeom>
          <a:noFill/>
          <a:ln/>
        </p:spPr>
        <p:txBody>
          <a:bodyPr wrap="square" lIns="0" tIns="0" rIns="0" bIns="0" rtlCol="0" anchor="ctr"/>
          <a:lstStyle/>
          <a:p>
            <a:pPr indent="0" marL="0">
              <a:lnSpc>
                <a:spcPct val="125000"/>
              </a:lnSpc>
              <a:buNone/>
            </a:pPr>
            <a:r>
              <a:rPr lang="en-US" sz="1450" dirty="0">
                <a:solidFill>
                  <a:srgbClr val="FFFFFF"/>
                </a:solidFill>
                <a:latin typeface="Calibri" pitchFamily="34" charset="0"/>
                <a:ea typeface="Calibri" pitchFamily="34" charset="-122"/>
                <a:cs typeface="Calibri" pitchFamily="34" charset="-120"/>
              </a:rPr>
              <a:t>En Roma, las respuestas fundadas que los juristas daban a consultas concretas. Su fuerza no venía del cargo que ocupaban, sino de la autoridad de quien respondía y de las fuentes que invocaba.</a:t>
            </a:r>
            <a:endParaRPr lang="en-US" sz="1450" dirty="0"/>
          </a:p>
        </p:txBody>
      </p:sp>
      <p:sp>
        <p:nvSpPr>
          <p:cNvPr id="5" name="Text 3"/>
          <p:cNvSpPr/>
          <p:nvPr/>
        </p:nvSpPr>
        <p:spPr>
          <a:xfrm>
            <a:off x="777240" y="3584448"/>
            <a:ext cx="6035040" cy="822960"/>
          </a:xfrm>
          <a:prstGeom prst="rect">
            <a:avLst/>
          </a:prstGeom>
          <a:noFill/>
          <a:ln/>
        </p:spPr>
        <p:txBody>
          <a:bodyPr wrap="square" lIns="0" tIns="0" rIns="0" bIns="0" rtlCol="0" anchor="t"/>
          <a:lstStyle/>
          <a:p>
            <a:pPr indent="0" marL="0">
              <a:buNone/>
            </a:pPr>
            <a:r>
              <a:rPr lang="en-US" sz="1300" i="1" dirty="0">
                <a:solidFill>
                  <a:srgbClr val="8A93A5"/>
                </a:solidFill>
                <a:latin typeface="Calibri" pitchFamily="34" charset="0"/>
                <a:ea typeface="Calibri" pitchFamily="34" charset="-122"/>
                <a:cs typeface="Calibri" pitchFamily="34" charset="-120"/>
              </a:rPr>
              <a:t>Un responsum sin fundamento no valía nada. Con fundamento, obligaba. Es exactamente la distinción que hace esta herramienta.</a:t>
            </a:r>
            <a:endParaRPr lang="en-US" sz="1300" dirty="0"/>
          </a:p>
        </p:txBody>
      </p:sp>
      <p:sp>
        <p:nvSpPr>
          <p:cNvPr id="6" name="Text 4"/>
          <p:cNvSpPr/>
          <p:nvPr/>
        </p:nvSpPr>
        <p:spPr>
          <a:xfrm>
            <a:off x="777240" y="4553712"/>
            <a:ext cx="603504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Una respuesta sin fuente es una opinión.</a:t>
            </a:r>
            <a:endParaRPr lang="en-US" sz="2400" dirty="0"/>
          </a:p>
        </p:txBody>
      </p:sp>
      <p:sp>
        <p:nvSpPr>
          <p:cNvPr id="7" name="Text 5"/>
          <p:cNvSpPr/>
          <p:nvPr/>
        </p:nvSpPr>
        <p:spPr>
          <a:xfrm>
            <a:off x="777240" y="5029200"/>
            <a:ext cx="6035040" cy="457200"/>
          </a:xfrm>
          <a:prstGeom prst="rect">
            <a:avLst/>
          </a:prstGeom>
          <a:noFill/>
          <a:ln/>
        </p:spPr>
        <p:txBody>
          <a:bodyPr wrap="square" lIns="0" tIns="0" rIns="0" bIns="0" rtlCol="0" anchor="t"/>
          <a:lstStyle/>
          <a:p>
            <a:pPr indent="0" marL="0">
              <a:buNone/>
            </a:pPr>
            <a:r>
              <a:rPr lang="en-US" sz="2400" b="1" dirty="0">
                <a:solidFill>
                  <a:srgbClr val="C9A574"/>
                </a:solidFill>
                <a:latin typeface="Cambria" pitchFamily="34" charset="0"/>
                <a:ea typeface="Cambria" pitchFamily="34" charset="-122"/>
                <a:cs typeface="Cambria" pitchFamily="34" charset="-120"/>
              </a:rPr>
              <a:t>Con fuente, es un fundamento.</a:t>
            </a:r>
            <a:endParaRPr lang="en-US" sz="2400" dirty="0"/>
          </a:p>
        </p:txBody>
      </p:sp>
      <p:sp>
        <p:nvSpPr>
          <p:cNvPr id="8" name="Shape 6"/>
          <p:cNvSpPr/>
          <p:nvPr/>
        </p:nvSpPr>
        <p:spPr>
          <a:xfrm>
            <a:off x="7406640" y="1572768"/>
            <a:ext cx="4005072" cy="3931920"/>
          </a:xfrm>
          <a:prstGeom prst="roundRect">
            <a:avLst>
              <a:gd name="adj" fmla="val 1395"/>
            </a:avLst>
          </a:prstGeom>
          <a:solidFill>
            <a:srgbClr val="2A3446"/>
          </a:solidFill>
          <a:ln/>
        </p:spPr>
      </p:sp>
      <p:sp>
        <p:nvSpPr>
          <p:cNvPr id="9" name="Text 7"/>
          <p:cNvSpPr/>
          <p:nvPr/>
        </p:nvSpPr>
        <p:spPr>
          <a:xfrm>
            <a:off x="7772400" y="1883664"/>
            <a:ext cx="329184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Qué era un responsum</a:t>
            </a:r>
            <a:endParaRPr lang="en-US" sz="1100" dirty="0"/>
          </a:p>
        </p:txBody>
      </p:sp>
      <p:sp>
        <p:nvSpPr>
          <p:cNvPr id="10" name="Text 8"/>
          <p:cNvSpPr/>
          <p:nvPr/>
        </p:nvSpPr>
        <p:spPr>
          <a:xfrm>
            <a:off x="7772400" y="2304288"/>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Sobre un caso concreto</a:t>
            </a:r>
            <a:endParaRPr lang="en-US" sz="1400" dirty="0"/>
          </a:p>
        </p:txBody>
      </p:sp>
      <p:sp>
        <p:nvSpPr>
          <p:cNvPr id="11" name="Text 9"/>
          <p:cNvSpPr/>
          <p:nvPr/>
        </p:nvSpPr>
        <p:spPr>
          <a:xfrm>
            <a:off x="7772400" y="2569464"/>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una disertación abstracta: la respuesta a la consulta que alguien traía.</a:t>
            </a:r>
            <a:endParaRPr lang="en-US" sz="950" dirty="0"/>
          </a:p>
        </p:txBody>
      </p:sp>
      <p:sp>
        <p:nvSpPr>
          <p:cNvPr id="12" name="Text 10"/>
          <p:cNvSpPr/>
          <p:nvPr/>
        </p:nvSpPr>
        <p:spPr>
          <a:xfrm>
            <a:off x="7772400" y="3026664"/>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se pregunta en lenguaje natural, por un problema real</a:t>
            </a:r>
            <a:endParaRPr lang="en-US" sz="900" dirty="0"/>
          </a:p>
        </p:txBody>
      </p:sp>
      <p:sp>
        <p:nvSpPr>
          <p:cNvPr id="13" name="Text 11"/>
          <p:cNvSpPr/>
          <p:nvPr/>
        </p:nvSpPr>
        <p:spPr>
          <a:xfrm>
            <a:off x="7772400" y="3383280"/>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Con las fuentes a la vista</a:t>
            </a:r>
            <a:endParaRPr lang="en-US" sz="1400" dirty="0"/>
          </a:p>
        </p:txBody>
      </p:sp>
      <p:sp>
        <p:nvSpPr>
          <p:cNvPr id="14" name="Text 12"/>
          <p:cNvSpPr/>
          <p:nvPr/>
        </p:nvSpPr>
        <p:spPr>
          <a:xfrm>
            <a:off x="7772400" y="3648456"/>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El jurista mostraba en qué se apoyaba. Quien recibía la respuesta podía comprobarla.</a:t>
            </a:r>
            <a:endParaRPr lang="en-US" sz="950" dirty="0"/>
          </a:p>
        </p:txBody>
      </p:sp>
      <p:sp>
        <p:nvSpPr>
          <p:cNvPr id="15" name="Text 13"/>
          <p:cNvSpPr/>
          <p:nvPr/>
        </p:nvSpPr>
        <p:spPr>
          <a:xfrm>
            <a:off x="7772400" y="4105656"/>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rol, tribunal, fecha y enlace en cada cita</a:t>
            </a:r>
            <a:endParaRPr lang="en-US" sz="900" dirty="0"/>
          </a:p>
        </p:txBody>
      </p:sp>
      <p:sp>
        <p:nvSpPr>
          <p:cNvPr id="16" name="Text 14"/>
          <p:cNvSpPr/>
          <p:nvPr/>
        </p:nvSpPr>
        <p:spPr>
          <a:xfrm>
            <a:off x="7772400" y="4462272"/>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Valía por su fundamento</a:t>
            </a:r>
            <a:endParaRPr lang="en-US" sz="1400" dirty="0"/>
          </a:p>
        </p:txBody>
      </p:sp>
      <p:sp>
        <p:nvSpPr>
          <p:cNvPr id="17" name="Text 15"/>
          <p:cNvSpPr/>
          <p:nvPr/>
        </p:nvSpPr>
        <p:spPr>
          <a:xfrm>
            <a:off x="7772400" y="4727448"/>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por el cargo de quien respondía. Sin respaldo, no valía nada.</a:t>
            </a:r>
            <a:endParaRPr lang="en-US" sz="950" dirty="0"/>
          </a:p>
        </p:txBody>
      </p:sp>
      <p:sp>
        <p:nvSpPr>
          <p:cNvPr id="18" name="Text 16"/>
          <p:cNvSpPr/>
          <p:nvPr/>
        </p:nvSpPr>
        <p:spPr>
          <a:xfrm>
            <a:off x="7772400" y="5184648"/>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lo que no se pudo verificar, se declara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Diez fuentes, todas oficiales y gratuitas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Ninguna base de suscripción: la herramienta se puede compartir sin comprometer licencias</a:t>
            </a:r>
            <a:endParaRPr lang="en-US" sz="1350" dirty="0"/>
          </a:p>
        </p:txBody>
      </p:sp>
      <p:sp>
        <p:nvSpPr>
          <p:cNvPr id="4" name="Shape 2"/>
          <p:cNvSpPr/>
          <p:nvPr/>
        </p:nvSpPr>
        <p:spPr>
          <a:xfrm>
            <a:off x="777240" y="1883664"/>
            <a:ext cx="310896" cy="310896"/>
          </a:xfrm>
          <a:prstGeom prst="ellipse">
            <a:avLst/>
          </a:prstGeom>
          <a:solidFill>
            <a:srgbClr val="A87C4F"/>
          </a:solidFill>
          <a:ln/>
        </p:spPr>
      </p:sp>
      <p:sp>
        <p:nvSpPr>
          <p:cNvPr id="5" name="Text 3"/>
          <p:cNvSpPr/>
          <p:nvPr/>
        </p:nvSpPr>
        <p:spPr>
          <a:xfrm>
            <a:off x="77724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3444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Poder Judicial</a:t>
            </a:r>
            <a:endParaRPr lang="en-US" sz="1300" dirty="0"/>
          </a:p>
        </p:txBody>
      </p:sp>
      <p:sp>
        <p:nvSpPr>
          <p:cNvPr id="7" name="Text 5"/>
          <p:cNvSpPr/>
          <p:nvPr/>
        </p:nvSpPr>
        <p:spPr>
          <a:xfrm>
            <a:off x="123444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Siete buscadores: Corte Suprema, Cortes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Apelaciones, Laboral, Penal, Familia,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Cobranza y Civil</a:t>
            </a:r>
            <a:endParaRPr lang="en-US" sz="950" dirty="0"/>
          </a:p>
        </p:txBody>
      </p:sp>
      <p:sp>
        <p:nvSpPr>
          <p:cNvPr id="8" name="Shape 6"/>
          <p:cNvSpPr/>
          <p:nvPr/>
        </p:nvSpPr>
        <p:spPr>
          <a:xfrm>
            <a:off x="6217920" y="1883664"/>
            <a:ext cx="310896" cy="310896"/>
          </a:xfrm>
          <a:prstGeom prst="ellipse">
            <a:avLst/>
          </a:prstGeom>
          <a:solidFill>
            <a:srgbClr val="A87C4F"/>
          </a:solidFill>
          <a:ln/>
        </p:spPr>
      </p:sp>
      <p:sp>
        <p:nvSpPr>
          <p:cNvPr id="9" name="Text 7"/>
          <p:cNvSpPr/>
          <p:nvPr/>
        </p:nvSpPr>
        <p:spPr>
          <a:xfrm>
            <a:off x="621792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667512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Tribunal Constitucional</a:t>
            </a:r>
            <a:endParaRPr lang="en-US" sz="1300" dirty="0"/>
          </a:p>
        </p:txBody>
      </p:sp>
      <p:sp>
        <p:nvSpPr>
          <p:cNvPr id="11" name="Text 9"/>
          <p:cNvSpPr/>
          <p:nvPr/>
        </p:nvSpPr>
        <p:spPr>
          <a:xfrm>
            <a:off x="667512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Sentencias a texto completo y fichas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jurisprudencia, con descarga del PDF</a:t>
            </a:r>
            <a:endParaRPr lang="en-US" sz="950" dirty="0"/>
          </a:p>
        </p:txBody>
      </p:sp>
      <p:sp>
        <p:nvSpPr>
          <p:cNvPr id="12" name="Shape 10"/>
          <p:cNvSpPr/>
          <p:nvPr/>
        </p:nvSpPr>
        <p:spPr>
          <a:xfrm>
            <a:off x="777240" y="2816352"/>
            <a:ext cx="310896" cy="310896"/>
          </a:xfrm>
          <a:prstGeom prst="ellipse">
            <a:avLst/>
          </a:prstGeom>
          <a:solidFill>
            <a:srgbClr val="A87C4F"/>
          </a:solidFill>
          <a:ln/>
        </p:spPr>
      </p:sp>
      <p:sp>
        <p:nvSpPr>
          <p:cNvPr id="13" name="Text 11"/>
          <p:cNvSpPr/>
          <p:nvPr/>
        </p:nvSpPr>
        <p:spPr>
          <a:xfrm>
            <a:off x="77724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3444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Contraloría</a:t>
            </a:r>
            <a:endParaRPr lang="en-US" sz="1300" dirty="0"/>
          </a:p>
        </p:txBody>
      </p:sp>
      <p:sp>
        <p:nvSpPr>
          <p:cNvPr id="15" name="Text 13"/>
          <p:cNvSpPr/>
          <p:nvPr/>
        </p:nvSpPr>
        <p:spPr>
          <a:xfrm>
            <a:off x="123444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6.910 dictámenes, con su estado de vigencia: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 fue reconsiderado, ya no sirve para fundar</a:t>
            </a:r>
            <a:endParaRPr lang="en-US" sz="950" dirty="0"/>
          </a:p>
        </p:txBody>
      </p:sp>
      <p:sp>
        <p:nvSpPr>
          <p:cNvPr id="16" name="Shape 14"/>
          <p:cNvSpPr/>
          <p:nvPr/>
        </p:nvSpPr>
        <p:spPr>
          <a:xfrm>
            <a:off x="6217920" y="2816352"/>
            <a:ext cx="310896" cy="310896"/>
          </a:xfrm>
          <a:prstGeom prst="ellipse">
            <a:avLst/>
          </a:prstGeom>
          <a:solidFill>
            <a:srgbClr val="A87C4F"/>
          </a:solidFill>
          <a:ln/>
        </p:spPr>
      </p:sp>
      <p:sp>
        <p:nvSpPr>
          <p:cNvPr id="17" name="Text 15"/>
          <p:cNvSpPr/>
          <p:nvPr/>
        </p:nvSpPr>
        <p:spPr>
          <a:xfrm>
            <a:off x="621792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667512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Dirección del Trabajo</a:t>
            </a:r>
            <a:endParaRPr lang="en-US" sz="1300" dirty="0"/>
          </a:p>
        </p:txBody>
      </p:sp>
      <p:sp>
        <p:nvSpPr>
          <p:cNvPr id="19" name="Text 17"/>
          <p:cNvSpPr/>
          <p:nvPr/>
        </p:nvSpPr>
        <p:spPr>
          <a:xfrm>
            <a:off x="667512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1.342 dictámenes indexados con sus</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descriptores; datos desde 2005</a:t>
            </a:r>
            <a:endParaRPr lang="en-US" sz="950" dirty="0"/>
          </a:p>
        </p:txBody>
      </p:sp>
      <p:sp>
        <p:nvSpPr>
          <p:cNvPr id="20" name="Shape 18"/>
          <p:cNvSpPr/>
          <p:nvPr/>
        </p:nvSpPr>
        <p:spPr>
          <a:xfrm>
            <a:off x="777240" y="3749040"/>
            <a:ext cx="310896" cy="310896"/>
          </a:xfrm>
          <a:prstGeom prst="ellipse">
            <a:avLst/>
          </a:prstGeom>
          <a:solidFill>
            <a:srgbClr val="A87C4F"/>
          </a:solidFill>
          <a:ln/>
        </p:spPr>
      </p:sp>
      <p:sp>
        <p:nvSpPr>
          <p:cNvPr id="21" name="Text 19"/>
          <p:cNvSpPr/>
          <p:nvPr/>
        </p:nvSpPr>
        <p:spPr>
          <a:xfrm>
            <a:off x="77724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p:nvPr/>
        </p:nvSpPr>
        <p:spPr>
          <a:xfrm>
            <a:off x="123444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CAM Santiago</a:t>
            </a:r>
            <a:endParaRPr lang="en-US" sz="1300" dirty="0"/>
          </a:p>
        </p:txBody>
      </p:sp>
      <p:sp>
        <p:nvSpPr>
          <p:cNvPr id="23" name="Text 21"/>
          <p:cNvSpPr/>
          <p:nvPr/>
        </p:nvSpPr>
        <p:spPr>
          <a:xfrm>
            <a:off x="123444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1.812 laudos arbitrales por materia y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árbitro, con enlace al PDF oficial</a:t>
            </a:r>
            <a:endParaRPr lang="en-US" sz="950" dirty="0"/>
          </a:p>
        </p:txBody>
      </p:sp>
      <p:sp>
        <p:nvSpPr>
          <p:cNvPr id="24" name="Shape 22"/>
          <p:cNvSpPr/>
          <p:nvPr/>
        </p:nvSpPr>
        <p:spPr>
          <a:xfrm>
            <a:off x="6217920" y="3749040"/>
            <a:ext cx="310896" cy="310896"/>
          </a:xfrm>
          <a:prstGeom prst="ellipse">
            <a:avLst/>
          </a:prstGeom>
          <a:solidFill>
            <a:srgbClr val="A87C4F"/>
          </a:solidFill>
          <a:ln/>
        </p:spPr>
      </p:sp>
      <p:sp>
        <p:nvSpPr>
          <p:cNvPr id="25" name="Text 23"/>
          <p:cNvSpPr/>
          <p:nvPr/>
        </p:nvSpPr>
        <p:spPr>
          <a:xfrm>
            <a:off x="621792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p:nvPr/>
        </p:nvSpPr>
        <p:spPr>
          <a:xfrm>
            <a:off x="667512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Ley Chile — BCN</a:t>
            </a:r>
            <a:endParaRPr lang="en-US" sz="1300" dirty="0"/>
          </a:p>
        </p:txBody>
      </p:sp>
      <p:sp>
        <p:nvSpPr>
          <p:cNvPr id="27" name="Text 25"/>
          <p:cNvSpPr/>
          <p:nvPr/>
        </p:nvSpPr>
        <p:spPr>
          <a:xfrm>
            <a:off x="667512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258.633 normas, con texto vigente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artículo y marca de derogación</a:t>
            </a:r>
            <a:endParaRPr lang="en-US" sz="950" dirty="0"/>
          </a:p>
        </p:txBody>
      </p:sp>
      <p:sp>
        <p:nvSpPr>
          <p:cNvPr id="28" name="Shape 26"/>
          <p:cNvSpPr/>
          <p:nvPr/>
        </p:nvSpPr>
        <p:spPr>
          <a:xfrm>
            <a:off x="777240" y="4681728"/>
            <a:ext cx="310896" cy="310896"/>
          </a:xfrm>
          <a:prstGeom prst="ellipse">
            <a:avLst/>
          </a:prstGeom>
          <a:solidFill>
            <a:srgbClr val="A87C4F"/>
          </a:solidFill>
          <a:ln/>
        </p:spPr>
      </p:sp>
      <p:sp>
        <p:nvSpPr>
          <p:cNvPr id="29" name="Text 27"/>
          <p:cNvSpPr/>
          <p:nvPr/>
        </p:nvSpPr>
        <p:spPr>
          <a:xfrm>
            <a:off x="77724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p:nvPr/>
        </p:nvSpPr>
        <p:spPr>
          <a:xfrm>
            <a:off x="123444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Revistas jurídicas</a:t>
            </a:r>
            <a:endParaRPr lang="en-US" sz="1300" dirty="0"/>
          </a:p>
        </p:txBody>
      </p:sp>
      <p:sp>
        <p:nvSpPr>
          <p:cNvPr id="31" name="Text 29"/>
          <p:cNvSpPr/>
          <p:nvPr/>
        </p:nvSpPr>
        <p:spPr>
          <a:xfrm>
            <a:off x="123444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Nueve revistas chilenas indexadas, con DOI</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para citar</a:t>
            </a:r>
            <a:endParaRPr lang="en-US" sz="950" dirty="0"/>
          </a:p>
        </p:txBody>
      </p:sp>
      <p:sp>
        <p:nvSpPr>
          <p:cNvPr id="32" name="Shape 30"/>
          <p:cNvSpPr/>
          <p:nvPr/>
        </p:nvSpPr>
        <p:spPr>
          <a:xfrm>
            <a:off x="6217920" y="4681728"/>
            <a:ext cx="310896" cy="310896"/>
          </a:xfrm>
          <a:prstGeom prst="ellipse">
            <a:avLst/>
          </a:prstGeom>
          <a:solidFill>
            <a:srgbClr val="A87C4F"/>
          </a:solidFill>
          <a:ln/>
        </p:spPr>
      </p:sp>
      <p:sp>
        <p:nvSpPr>
          <p:cNvPr id="33" name="Text 31"/>
          <p:cNvSpPr/>
          <p:nvPr/>
        </p:nvSpPr>
        <p:spPr>
          <a:xfrm>
            <a:off x="621792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34" name="Text 32"/>
          <p:cNvSpPr/>
          <p:nvPr/>
        </p:nvSpPr>
        <p:spPr>
          <a:xfrm>
            <a:off x="667512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Estadísticas del PJUD</a:t>
            </a:r>
            <a:endParaRPr lang="en-US" sz="1300" dirty="0"/>
          </a:p>
        </p:txBody>
      </p:sp>
      <p:sp>
        <p:nvSpPr>
          <p:cNvPr id="35" name="Text 33"/>
          <p:cNvSpPr/>
          <p:nvPr/>
        </p:nvSpPr>
        <p:spPr>
          <a:xfrm>
            <a:off x="667512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Duración real de las causas, ingresos y</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formas de término, desde 2015</a:t>
            </a:r>
            <a:endParaRPr lang="en-US" sz="950" dirty="0"/>
          </a:p>
        </p:txBody>
      </p:sp>
      <p:sp>
        <p:nvSpPr>
          <p:cNvPr id="36" name="Shape 34"/>
          <p:cNvSpPr/>
          <p:nvPr/>
        </p:nvSpPr>
        <p:spPr>
          <a:xfrm>
            <a:off x="777240" y="5614416"/>
            <a:ext cx="310896" cy="310896"/>
          </a:xfrm>
          <a:prstGeom prst="ellipse">
            <a:avLst/>
          </a:prstGeom>
          <a:solidFill>
            <a:srgbClr val="A87C4F"/>
          </a:solidFill>
          <a:ln/>
        </p:spPr>
      </p:sp>
      <p:sp>
        <p:nvSpPr>
          <p:cNvPr id="37" name="Text 35"/>
          <p:cNvSpPr/>
          <p:nvPr/>
        </p:nvSpPr>
        <p:spPr>
          <a:xfrm>
            <a:off x="77724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38" name="Text 36"/>
          <p:cNvSpPr/>
          <p:nvPr/>
        </p:nvSpPr>
        <p:spPr>
          <a:xfrm>
            <a:off x="1234440" y="5559552"/>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Banco Central y SII</a:t>
            </a:r>
            <a:endParaRPr lang="en-US" sz="1300" dirty="0"/>
          </a:p>
        </p:txBody>
      </p:sp>
      <p:sp>
        <p:nvSpPr>
          <p:cNvPr id="39" name="Text 37"/>
          <p:cNvSpPr/>
          <p:nvPr/>
        </p:nvSpPr>
        <p:spPr>
          <a:xfrm>
            <a:off x="123444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UF, UTM e IPC, del día o de una fecha pasada</a:t>
            </a:r>
            <a:endParaRPr lang="en-US" sz="950" dirty="0"/>
          </a:p>
        </p:txBody>
      </p:sp>
      <p:sp>
        <p:nvSpPr>
          <p:cNvPr id="40" name="Shape 38"/>
          <p:cNvSpPr/>
          <p:nvPr/>
        </p:nvSpPr>
        <p:spPr>
          <a:xfrm>
            <a:off x="6217920" y="5614416"/>
            <a:ext cx="310896" cy="310896"/>
          </a:xfrm>
          <a:prstGeom prst="ellipse">
            <a:avLst/>
          </a:prstGeom>
          <a:solidFill>
            <a:srgbClr val="8A93A5"/>
          </a:solidFill>
          <a:ln/>
        </p:spPr>
      </p:sp>
      <p:sp>
        <p:nvSpPr>
          <p:cNvPr id="41" name="Text 39"/>
          <p:cNvSpPr/>
          <p:nvPr/>
        </p:nvSpPr>
        <p:spPr>
          <a:xfrm>
            <a:off x="621792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42" name="Text 40"/>
          <p:cNvSpPr/>
          <p:nvPr/>
        </p:nvSpPr>
        <p:spPr>
          <a:xfrm>
            <a:off x="6675120" y="5559552"/>
            <a:ext cx="4663440" cy="256032"/>
          </a:xfrm>
          <a:prstGeom prst="rect">
            <a:avLst/>
          </a:prstGeom>
          <a:noFill/>
          <a:ln/>
        </p:spPr>
        <p:txBody>
          <a:bodyPr wrap="square" lIns="0" tIns="0" rIns="0" bIns="0" rtlCol="0" anchor="ctr"/>
          <a:lstStyle/>
          <a:p>
            <a:pPr indent="0" marL="0">
              <a:buNone/>
            </a:pPr>
            <a:r>
              <a:rPr lang="en-US" sz="1300" b="1" dirty="0">
                <a:solidFill>
                  <a:srgbClr val="5A6478"/>
                </a:solidFill>
                <a:latin typeface="Calibri" pitchFamily="34" charset="0"/>
                <a:ea typeface="Calibri" pitchFamily="34" charset="-122"/>
                <a:cs typeface="Calibri" pitchFamily="34" charset="-120"/>
              </a:rPr>
              <a:t>Oficina Judicial Virtual</a:t>
            </a:r>
            <a:endParaRPr lang="en-US" sz="1300" dirty="0"/>
          </a:p>
        </p:txBody>
      </p:sp>
      <p:sp>
        <p:nvSpPr>
          <p:cNvPr id="43" name="Text 41"/>
          <p:cNvSpPr/>
          <p:nvPr/>
        </p:nvSpPr>
        <p:spPr>
          <a:xfrm>
            <a:off x="667512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Enlace y pasos para consultar una causa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(no automatizado, ver más adelante)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Qué devuelve, exactamente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fallo real, tal como llega desde el Poder Judicial</a:t>
            </a:r>
            <a:endParaRPr lang="en-US" sz="1350" dirty="0"/>
          </a:p>
        </p:txBody>
      </p:sp>
      <p:sp>
        <p:nvSpPr>
          <p:cNvPr id="4" name="Shape 2"/>
          <p:cNvSpPr/>
          <p:nvPr/>
        </p:nvSpPr>
        <p:spPr>
          <a:xfrm>
            <a:off x="777240" y="1847088"/>
            <a:ext cx="6858000" cy="3950208"/>
          </a:xfrm>
          <a:prstGeom prst="roundRect">
            <a:avLst>
              <a:gd name="adj" fmla="val 1389"/>
            </a:avLst>
          </a:prstGeom>
          <a:solidFill>
            <a:srgbClr val="FFFFFF"/>
          </a:solidFill>
          <a:ln w="9525">
            <a:solidFill>
              <a:srgbClr val="E3DED3"/>
            </a:solidFill>
            <a:prstDash val="solid"/>
          </a:ln>
        </p:spPr>
      </p:sp>
      <p:sp>
        <p:nvSpPr>
          <p:cNvPr id="5" name="Text 3"/>
          <p:cNvSpPr/>
          <p:nvPr/>
        </p:nvSpPr>
        <p:spPr>
          <a:xfrm>
            <a:off x="1088136" y="2048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Rol</a:t>
            </a:r>
            <a:endParaRPr lang="en-US" sz="1050" dirty="0"/>
          </a:p>
        </p:txBody>
      </p:sp>
      <p:sp>
        <p:nvSpPr>
          <p:cNvPr id="6" name="Text 4"/>
          <p:cNvSpPr/>
          <p:nvPr/>
        </p:nvSpPr>
        <p:spPr>
          <a:xfrm>
            <a:off x="2715768" y="2048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34.956-2026</a:t>
            </a:r>
            <a:endParaRPr lang="en-US" sz="1050" dirty="0"/>
          </a:p>
        </p:txBody>
      </p:sp>
      <p:sp>
        <p:nvSpPr>
          <p:cNvPr id="7" name="Text 5"/>
          <p:cNvSpPr/>
          <p:nvPr/>
        </p:nvSpPr>
        <p:spPr>
          <a:xfrm>
            <a:off x="1088136" y="23911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Tribunal</a:t>
            </a:r>
            <a:endParaRPr lang="en-US" sz="1050" dirty="0"/>
          </a:p>
        </p:txBody>
      </p:sp>
      <p:sp>
        <p:nvSpPr>
          <p:cNvPr id="8" name="Text 6"/>
          <p:cNvSpPr/>
          <p:nvPr/>
        </p:nvSpPr>
        <p:spPr>
          <a:xfrm>
            <a:off x="2715768" y="23911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Corte Suprema · Cuarta Sala, Mixta</a:t>
            </a:r>
            <a:endParaRPr lang="en-US" sz="1050" dirty="0"/>
          </a:p>
        </p:txBody>
      </p:sp>
      <p:sp>
        <p:nvSpPr>
          <p:cNvPr id="9" name="Text 7"/>
          <p:cNvSpPr/>
          <p:nvPr/>
        </p:nvSpPr>
        <p:spPr>
          <a:xfrm>
            <a:off x="1088136" y="27340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Corte de origen</a:t>
            </a:r>
            <a:endParaRPr lang="en-US" sz="1050" dirty="0"/>
          </a:p>
        </p:txBody>
      </p:sp>
      <p:sp>
        <p:nvSpPr>
          <p:cNvPr id="10" name="Text 8"/>
          <p:cNvSpPr/>
          <p:nvPr/>
        </p:nvSpPr>
        <p:spPr>
          <a:xfrm>
            <a:off x="2715768" y="27340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C.A. de Chillán (por donde pasó, no quien falló)</a:t>
            </a:r>
            <a:endParaRPr lang="en-US" sz="1050" dirty="0"/>
          </a:p>
        </p:txBody>
      </p:sp>
      <p:sp>
        <p:nvSpPr>
          <p:cNvPr id="11" name="Text 9"/>
          <p:cNvSpPr/>
          <p:nvPr/>
        </p:nvSpPr>
        <p:spPr>
          <a:xfrm>
            <a:off x="1088136" y="30769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Fecha</a:t>
            </a:r>
            <a:endParaRPr lang="en-US" sz="1050" dirty="0"/>
          </a:p>
        </p:txBody>
      </p:sp>
      <p:sp>
        <p:nvSpPr>
          <p:cNvPr id="12" name="Text 10"/>
          <p:cNvSpPr/>
          <p:nvPr/>
        </p:nvSpPr>
        <p:spPr>
          <a:xfrm>
            <a:off x="2715768" y="30769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13 de agosto de 2026</a:t>
            </a:r>
            <a:endParaRPr lang="en-US" sz="1050" dirty="0"/>
          </a:p>
        </p:txBody>
      </p:sp>
      <p:sp>
        <p:nvSpPr>
          <p:cNvPr id="13" name="Text 11"/>
          <p:cNvSpPr/>
          <p:nvPr/>
        </p:nvSpPr>
        <p:spPr>
          <a:xfrm>
            <a:off x="1088136" y="34198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Carátula</a:t>
            </a:r>
            <a:endParaRPr lang="en-US" sz="1050" dirty="0"/>
          </a:p>
        </p:txBody>
      </p:sp>
      <p:sp>
        <p:nvSpPr>
          <p:cNvPr id="14" name="Text 12"/>
          <p:cNvSpPr/>
          <p:nvPr/>
        </p:nvSpPr>
        <p:spPr>
          <a:xfrm>
            <a:off x="2715768" y="34198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Mardones con Sacyr Operación y Servicios S.A.</a:t>
            </a:r>
            <a:endParaRPr lang="en-US" sz="1050" dirty="0"/>
          </a:p>
        </p:txBody>
      </p:sp>
      <p:sp>
        <p:nvSpPr>
          <p:cNvPr id="15" name="Text 13"/>
          <p:cNvSpPr/>
          <p:nvPr/>
        </p:nvSpPr>
        <p:spPr>
          <a:xfrm>
            <a:off x="1088136" y="37627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Recurso</a:t>
            </a:r>
            <a:endParaRPr lang="en-US" sz="1050" dirty="0"/>
          </a:p>
        </p:txBody>
      </p:sp>
      <p:sp>
        <p:nvSpPr>
          <p:cNvPr id="16" name="Text 14"/>
          <p:cNvSpPr/>
          <p:nvPr/>
        </p:nvSpPr>
        <p:spPr>
          <a:xfrm>
            <a:off x="2715768" y="37627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Unificación de jurisprudencia (laboral)</a:t>
            </a:r>
            <a:endParaRPr lang="en-US" sz="1050" dirty="0"/>
          </a:p>
        </p:txBody>
      </p:sp>
      <p:sp>
        <p:nvSpPr>
          <p:cNvPr id="17" name="Text 15"/>
          <p:cNvSpPr/>
          <p:nvPr/>
        </p:nvSpPr>
        <p:spPr>
          <a:xfrm>
            <a:off x="1088136" y="41056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Resultado</a:t>
            </a:r>
            <a:endParaRPr lang="en-US" sz="1050" dirty="0"/>
          </a:p>
        </p:txBody>
      </p:sp>
      <p:sp>
        <p:nvSpPr>
          <p:cNvPr id="18" name="Text 16"/>
          <p:cNvSpPr/>
          <p:nvPr/>
        </p:nvSpPr>
        <p:spPr>
          <a:xfrm>
            <a:off x="2715768" y="41056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Inadmisible: no es materia propia de unificación</a:t>
            </a:r>
            <a:endParaRPr lang="en-US" sz="1050" dirty="0"/>
          </a:p>
        </p:txBody>
      </p:sp>
      <p:sp>
        <p:nvSpPr>
          <p:cNvPr id="19" name="Text 17"/>
          <p:cNvSpPr/>
          <p:nvPr/>
        </p:nvSpPr>
        <p:spPr>
          <a:xfrm>
            <a:off x="1088136" y="44485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Normas aplicadas</a:t>
            </a:r>
            <a:endParaRPr lang="en-US" sz="1050" dirty="0"/>
          </a:p>
        </p:txBody>
      </p:sp>
      <p:sp>
        <p:nvSpPr>
          <p:cNvPr id="20" name="Text 18"/>
          <p:cNvSpPr/>
          <p:nvPr/>
        </p:nvSpPr>
        <p:spPr>
          <a:xfrm>
            <a:off x="2715768" y="44485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Código del Trabajo, arts. 483 y 483 A → enlace a Ley Chile</a:t>
            </a:r>
            <a:endParaRPr lang="en-US" sz="1050" dirty="0"/>
          </a:p>
        </p:txBody>
      </p:sp>
      <p:sp>
        <p:nvSpPr>
          <p:cNvPr id="21" name="Text 19"/>
          <p:cNvSpPr/>
          <p:nvPr/>
        </p:nvSpPr>
        <p:spPr>
          <a:xfrm>
            <a:off x="1088136" y="47914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Historia procesal</a:t>
            </a:r>
            <a:endParaRPr lang="en-US" sz="1050" dirty="0"/>
          </a:p>
        </p:txBody>
      </p:sp>
      <p:sp>
        <p:nvSpPr>
          <p:cNvPr id="22" name="Text 20"/>
          <p:cNvSpPr/>
          <p:nvPr/>
        </p:nvSpPr>
        <p:spPr>
          <a:xfrm>
            <a:off x="2715768" y="47914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1º Juzgado de Letras de San Carlos → C.A. de Chillán → C.S.</a:t>
            </a:r>
            <a:endParaRPr lang="en-US" sz="1050" dirty="0"/>
          </a:p>
        </p:txBody>
      </p:sp>
      <p:sp>
        <p:nvSpPr>
          <p:cNvPr id="23" name="Text 21"/>
          <p:cNvSpPr/>
          <p:nvPr/>
        </p:nvSpPr>
        <p:spPr>
          <a:xfrm>
            <a:off x="1088136" y="51343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Enlace</a:t>
            </a:r>
            <a:endParaRPr lang="en-US" sz="1050" dirty="0"/>
          </a:p>
        </p:txBody>
      </p:sp>
      <p:sp>
        <p:nvSpPr>
          <p:cNvPr id="24" name="Text 22"/>
          <p:cNvSpPr/>
          <p:nvPr/>
        </p:nvSpPr>
        <p:spPr>
          <a:xfrm>
            <a:off x="2715768" y="51343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Permalink al fallo en el buscador del Poder Judicial</a:t>
            </a:r>
            <a:endParaRPr lang="en-US" sz="1050" dirty="0"/>
          </a:p>
        </p:txBody>
      </p:sp>
      <p:sp>
        <p:nvSpPr>
          <p:cNvPr id="25" name="Text 23"/>
          <p:cNvSpPr/>
          <p:nvPr/>
        </p:nvSpPr>
        <p:spPr>
          <a:xfrm>
            <a:off x="1088136" y="5477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Texto</a:t>
            </a:r>
            <a:endParaRPr lang="en-US" sz="1050" dirty="0"/>
          </a:p>
        </p:txBody>
      </p:sp>
      <p:sp>
        <p:nvSpPr>
          <p:cNvPr id="26" name="Text 24"/>
          <p:cNvSpPr/>
          <p:nvPr/>
        </p:nvSpPr>
        <p:spPr>
          <a:xfrm>
            <a:off x="2715768" y="5477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Íntegro, más los pasajes que coinciden con la consulta</a:t>
            </a:r>
            <a:endParaRPr lang="en-US" sz="1050" dirty="0"/>
          </a:p>
        </p:txBody>
      </p:sp>
      <p:sp>
        <p:nvSpPr>
          <p:cNvPr id="27" name="Shape 25"/>
          <p:cNvSpPr/>
          <p:nvPr/>
        </p:nvSpPr>
        <p:spPr>
          <a:xfrm>
            <a:off x="8092440" y="1847088"/>
            <a:ext cx="3319272" cy="3950208"/>
          </a:xfrm>
          <a:prstGeom prst="roundRect">
            <a:avLst>
              <a:gd name="adj" fmla="val 1653"/>
            </a:avLst>
          </a:prstGeom>
          <a:solidFill>
            <a:srgbClr val="1B2230"/>
          </a:solidFill>
          <a:ln/>
        </p:spPr>
      </p:sp>
      <p:sp>
        <p:nvSpPr>
          <p:cNvPr id="28" name="Text 26"/>
          <p:cNvSpPr/>
          <p:nvPr/>
        </p:nvSpPr>
        <p:spPr>
          <a:xfrm>
            <a:off x="8412480" y="2157984"/>
            <a:ext cx="26974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Por qué importa</a:t>
            </a:r>
            <a:endParaRPr lang="en-US" sz="1100" dirty="0"/>
          </a:p>
        </p:txBody>
      </p:sp>
      <p:sp>
        <p:nvSpPr>
          <p:cNvPr id="29" name="Text 27"/>
          <p:cNvSpPr/>
          <p:nvPr/>
        </p:nvSpPr>
        <p:spPr>
          <a:xfrm>
            <a:off x="8412480" y="2542032"/>
            <a:ext cx="2697480" cy="68580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Con rol, tribunal y fecha, la cita se verifica en un minuto.</a:t>
            </a:r>
            <a:endParaRPr lang="en-US" sz="1500" dirty="0"/>
          </a:p>
        </p:txBody>
      </p:sp>
      <p:sp>
        <p:nvSpPr>
          <p:cNvPr id="30" name="Text 28"/>
          <p:cNvSpPr/>
          <p:nvPr/>
        </p:nvSpPr>
        <p:spPr>
          <a:xfrm>
            <a:off x="8412480" y="3310128"/>
            <a:ext cx="2697480" cy="86868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Las normas llegan enlazadas a Ley Chile, así que el fundamento legal también se comprueba.</a:t>
            </a:r>
            <a:endParaRPr lang="en-US" sz="1100" dirty="0"/>
          </a:p>
        </p:txBody>
      </p:sp>
      <p:sp>
        <p:nvSpPr>
          <p:cNvPr id="31" name="Text 29"/>
          <p:cNvSpPr/>
          <p:nvPr/>
        </p:nvSpPr>
        <p:spPr>
          <a:xfrm>
            <a:off x="8412480" y="4224528"/>
            <a:ext cx="2697480" cy="77724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Y la historia procesal permite seguir la causa desde primera instancia.</a:t>
            </a:r>
            <a:endParaRPr lang="en-US" sz="1100" dirty="0"/>
          </a:p>
        </p:txBody>
      </p:sp>
      <p:sp>
        <p:nvSpPr>
          <p:cNvPr id="32" name="Text 30"/>
          <p:cNvSpPr/>
          <p:nvPr/>
        </p:nvSpPr>
        <p:spPr>
          <a:xfrm>
            <a:off x="8412480" y="5074920"/>
            <a:ext cx="2697480" cy="548640"/>
          </a:xfrm>
          <a:prstGeom prst="rect">
            <a:avLst/>
          </a:prstGeom>
          <a:noFill/>
          <a:ln/>
        </p:spPr>
        <p:txBody>
          <a:bodyPr wrap="square" lIns="0" tIns="0" rIns="0" bIns="0" rtlCol="0" anchor="ctr"/>
          <a:lstStyle/>
          <a:p>
            <a:pPr indent="0" marL="0">
              <a:buNone/>
            </a:pPr>
            <a:r>
              <a:rPr lang="en-US" sz="1150" b="1" i="1" dirty="0">
                <a:solidFill>
                  <a:srgbClr val="C9A574"/>
                </a:solidFill>
                <a:latin typeface="Calibri" pitchFamily="34" charset="0"/>
                <a:ea typeface="Calibri" pitchFamily="34" charset="-122"/>
                <a:cs typeface="Calibri" pitchFamily="34" charset="-120"/>
              </a:rPr>
              <a:t>Nada de esto se puede inventar sin que se note.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Lo que no hace un buscador común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Cuatro capacidades que cambian el resultado del trabajo</a:t>
            </a:r>
            <a:endParaRPr lang="en-US" sz="1350" dirty="0"/>
          </a:p>
        </p:txBody>
      </p:sp>
      <p:sp>
        <p:nvSpPr>
          <p:cNvPr id="4" name="Shape 2"/>
          <p:cNvSpPr/>
          <p:nvPr/>
        </p:nvSpPr>
        <p:spPr>
          <a:xfrm>
            <a:off x="777240" y="1874520"/>
            <a:ext cx="5120640" cy="1847088"/>
          </a:xfrm>
          <a:prstGeom prst="roundRect">
            <a:avLst>
              <a:gd name="adj" fmla="val 2970"/>
            </a:avLst>
          </a:prstGeom>
          <a:solidFill>
            <a:srgbClr val="FFFFFF"/>
          </a:solidFill>
          <a:ln w="9525">
            <a:solidFill>
              <a:srgbClr val="E3DED3"/>
            </a:solidFill>
            <a:prstDash val="solid"/>
          </a:ln>
        </p:spPr>
      </p:sp>
      <p:sp>
        <p:nvSpPr>
          <p:cNvPr id="5" name="Shape 3"/>
          <p:cNvSpPr/>
          <p:nvPr/>
        </p:nvSpPr>
        <p:spPr>
          <a:xfrm>
            <a:off x="1069848" y="2148840"/>
            <a:ext cx="365760" cy="365760"/>
          </a:xfrm>
          <a:prstGeom prst="ellipse">
            <a:avLst/>
          </a:prstGeom>
          <a:solidFill>
            <a:srgbClr val="A87C4F"/>
          </a:solidFill>
          <a:ln/>
        </p:spPr>
      </p:sp>
      <p:sp>
        <p:nvSpPr>
          <p:cNvPr id="6" name="Text 4"/>
          <p:cNvSpPr/>
          <p:nvPr/>
        </p:nvSpPr>
        <p:spPr>
          <a:xfrm>
            <a:off x="106984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58191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Buscar por norma, no por palabra</a:t>
            </a:r>
            <a:endParaRPr lang="en-US" sz="1400" dirty="0"/>
          </a:p>
        </p:txBody>
      </p:sp>
      <p:sp>
        <p:nvSpPr>
          <p:cNvPr id="8" name="Text 6"/>
          <p:cNvSpPr/>
          <p:nvPr/>
        </p:nvSpPr>
        <p:spPr>
          <a:xfrm>
            <a:off x="158191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Pide los fallos que APLICAN el artículo 16 de la Ley 19.496, no los que mencionan esas palabras. Devuelve además el texto del artículo para contrastar qué dice la ley con qué hicieron los tribunales.</a:t>
            </a:r>
            <a:endParaRPr lang="en-US" sz="1050" dirty="0"/>
          </a:p>
        </p:txBody>
      </p:sp>
      <p:sp>
        <p:nvSpPr>
          <p:cNvPr id="9" name="Shape 7"/>
          <p:cNvSpPr/>
          <p:nvPr/>
        </p:nvSpPr>
        <p:spPr>
          <a:xfrm>
            <a:off x="6217920" y="1874520"/>
            <a:ext cx="5120640" cy="1847088"/>
          </a:xfrm>
          <a:prstGeom prst="roundRect">
            <a:avLst>
              <a:gd name="adj" fmla="val 2970"/>
            </a:avLst>
          </a:prstGeom>
          <a:solidFill>
            <a:srgbClr val="FFFFFF"/>
          </a:solidFill>
          <a:ln w="9525">
            <a:solidFill>
              <a:srgbClr val="E3DED3"/>
            </a:solidFill>
            <a:prstDash val="solid"/>
          </a:ln>
        </p:spPr>
      </p:sp>
      <p:sp>
        <p:nvSpPr>
          <p:cNvPr id="10" name="Shape 8"/>
          <p:cNvSpPr/>
          <p:nvPr/>
        </p:nvSpPr>
        <p:spPr>
          <a:xfrm>
            <a:off x="6510528" y="2148840"/>
            <a:ext cx="365760" cy="365760"/>
          </a:xfrm>
          <a:prstGeom prst="ellipse">
            <a:avLst/>
          </a:prstGeom>
          <a:solidFill>
            <a:srgbClr val="A87C4F"/>
          </a:solidFill>
          <a:ln/>
        </p:spPr>
      </p:sp>
      <p:sp>
        <p:nvSpPr>
          <p:cNvPr id="11" name="Text 9"/>
          <p:cNvSpPr/>
          <p:nvPr/>
        </p:nvSpPr>
        <p:spPr>
          <a:xfrm>
            <a:off x="651052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702259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Avisar si un dictamen ya no sirve</a:t>
            </a:r>
            <a:endParaRPr lang="en-US" sz="1400" dirty="0"/>
          </a:p>
        </p:txBody>
      </p:sp>
      <p:sp>
        <p:nvSpPr>
          <p:cNvPr id="13" name="Text 11"/>
          <p:cNvSpPr/>
          <p:nvPr/>
        </p:nvSpPr>
        <p:spPr>
          <a:xfrm>
            <a:off x="702259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La Contraloría marca si un dictamen fue reconsiderado, aclarado o confirmado. Uno reconsiderado no sirve para fundar, y ese dato no aparece en una búsqueda de texto.</a:t>
            </a:r>
            <a:endParaRPr lang="en-US" sz="1050" dirty="0"/>
          </a:p>
        </p:txBody>
      </p:sp>
      <p:sp>
        <p:nvSpPr>
          <p:cNvPr id="14" name="Shape 12"/>
          <p:cNvSpPr/>
          <p:nvPr/>
        </p:nvSpPr>
        <p:spPr>
          <a:xfrm>
            <a:off x="777240" y="3959352"/>
            <a:ext cx="5120640" cy="1847088"/>
          </a:xfrm>
          <a:prstGeom prst="roundRect">
            <a:avLst>
              <a:gd name="adj" fmla="val 2970"/>
            </a:avLst>
          </a:prstGeom>
          <a:solidFill>
            <a:srgbClr val="FFFFFF"/>
          </a:solidFill>
          <a:ln w="9525">
            <a:solidFill>
              <a:srgbClr val="E3DED3"/>
            </a:solidFill>
            <a:prstDash val="solid"/>
          </a:ln>
        </p:spPr>
      </p:sp>
      <p:sp>
        <p:nvSpPr>
          <p:cNvPr id="15" name="Shape 13"/>
          <p:cNvSpPr/>
          <p:nvPr/>
        </p:nvSpPr>
        <p:spPr>
          <a:xfrm>
            <a:off x="1069848" y="4233672"/>
            <a:ext cx="365760" cy="365760"/>
          </a:xfrm>
          <a:prstGeom prst="ellipse">
            <a:avLst/>
          </a:prstGeom>
          <a:solidFill>
            <a:srgbClr val="A87C4F"/>
          </a:solidFill>
          <a:ln/>
        </p:spPr>
      </p:sp>
      <p:sp>
        <p:nvSpPr>
          <p:cNvPr id="16" name="Text 14"/>
          <p:cNvSpPr/>
          <p:nvPr/>
        </p:nvSpPr>
        <p:spPr>
          <a:xfrm>
            <a:off x="106984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58191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Cubrir el arbitraje</a:t>
            </a:r>
            <a:endParaRPr lang="en-US" sz="1400" dirty="0"/>
          </a:p>
        </p:txBody>
      </p:sp>
      <p:sp>
        <p:nvSpPr>
          <p:cNvPr id="18" name="Text 16"/>
          <p:cNvSpPr/>
          <p:nvPr/>
        </p:nvSpPr>
        <p:spPr>
          <a:xfrm>
            <a:off x="158191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En materias comerciales, societarias y de construcción, buena parte de los conflictos se resuelve en arbitraje y nunca llega a tribunales. Sin esto, el panorama queda incompleto.</a:t>
            </a:r>
            <a:endParaRPr lang="en-US" sz="1050" dirty="0"/>
          </a:p>
        </p:txBody>
      </p:sp>
      <p:sp>
        <p:nvSpPr>
          <p:cNvPr id="19" name="Shape 17"/>
          <p:cNvSpPr/>
          <p:nvPr/>
        </p:nvSpPr>
        <p:spPr>
          <a:xfrm>
            <a:off x="6217920" y="3959352"/>
            <a:ext cx="5120640" cy="1847088"/>
          </a:xfrm>
          <a:prstGeom prst="roundRect">
            <a:avLst>
              <a:gd name="adj" fmla="val 2970"/>
            </a:avLst>
          </a:prstGeom>
          <a:solidFill>
            <a:srgbClr val="FFFFFF"/>
          </a:solidFill>
          <a:ln w="9525">
            <a:solidFill>
              <a:srgbClr val="E3DED3"/>
            </a:solidFill>
            <a:prstDash val="solid"/>
          </a:ln>
        </p:spPr>
      </p:sp>
      <p:sp>
        <p:nvSpPr>
          <p:cNvPr id="20" name="Shape 18"/>
          <p:cNvSpPr/>
          <p:nvPr/>
        </p:nvSpPr>
        <p:spPr>
          <a:xfrm>
            <a:off x="6510528" y="4233672"/>
            <a:ext cx="365760" cy="365760"/>
          </a:xfrm>
          <a:prstGeom prst="ellipse">
            <a:avLst/>
          </a:prstGeom>
          <a:solidFill>
            <a:srgbClr val="A87C4F"/>
          </a:solidFill>
          <a:ln/>
        </p:spPr>
      </p:sp>
      <p:sp>
        <p:nvSpPr>
          <p:cNvPr id="21" name="Text 19"/>
          <p:cNvSpPr/>
          <p:nvPr/>
        </p:nvSpPr>
        <p:spPr>
          <a:xfrm>
            <a:off x="651052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702259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Responder cuánto demora</a:t>
            </a:r>
            <a:endParaRPr lang="en-US" sz="1400" dirty="0"/>
          </a:p>
        </p:txBody>
      </p:sp>
      <p:sp>
        <p:nvSpPr>
          <p:cNvPr id="23" name="Text 21"/>
          <p:cNvSpPr/>
          <p:nvPr/>
        </p:nvSpPr>
        <p:spPr>
          <a:xfrm>
            <a:off x="702259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Un laboral en la Corte de Valparaíso promedió 222 días en 2024; la Corte Suprema, 92. Es la diferencia entre decir «puede demandar» y decirle al cliente cuánto va a esperar.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Cómo funciona</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No hay que aprender comandos ni recordar nombres de herramientas</a:t>
            </a:r>
            <a:endParaRPr lang="en-US" sz="1350" dirty="0"/>
          </a:p>
        </p:txBody>
      </p:sp>
      <p:sp>
        <p:nvSpPr>
          <p:cNvPr id="4" name="Shape 2"/>
          <p:cNvSpPr/>
          <p:nvPr/>
        </p:nvSpPr>
        <p:spPr>
          <a:xfrm>
            <a:off x="777240" y="1874520"/>
            <a:ext cx="2542032" cy="2788920"/>
          </a:xfrm>
          <a:prstGeom prst="roundRect">
            <a:avLst>
              <a:gd name="adj" fmla="val 2158"/>
            </a:avLst>
          </a:prstGeom>
          <a:solidFill>
            <a:srgbClr val="2A3446"/>
          </a:solidFill>
          <a:ln/>
        </p:spPr>
      </p:sp>
      <p:sp>
        <p:nvSpPr>
          <p:cNvPr id="5" name="Shape 3"/>
          <p:cNvSpPr/>
          <p:nvPr/>
        </p:nvSpPr>
        <p:spPr>
          <a:xfrm>
            <a:off x="1069848" y="2148840"/>
            <a:ext cx="402336" cy="402336"/>
          </a:xfrm>
          <a:prstGeom prst="ellipse">
            <a:avLst/>
          </a:prstGeom>
          <a:solidFill>
            <a:srgbClr val="A87C4F"/>
          </a:solidFill>
          <a:ln/>
        </p:spPr>
      </p:sp>
      <p:sp>
        <p:nvSpPr>
          <p:cNvPr id="6" name="Text 4"/>
          <p:cNvSpPr/>
          <p:nvPr/>
        </p:nvSpPr>
        <p:spPr>
          <a:xfrm>
            <a:off x="1069848"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69848"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pregunta</a:t>
            </a:r>
            <a:endParaRPr lang="en-US" sz="1400" dirty="0"/>
          </a:p>
        </p:txBody>
      </p:sp>
      <p:sp>
        <p:nvSpPr>
          <p:cNvPr id="8" name="Text 6"/>
          <p:cNvSpPr/>
          <p:nvPr/>
        </p:nvSpPr>
        <p:spPr>
          <a:xfrm>
            <a:off x="1069848"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 lenguaje natural, como se lo diría a un colega.</a:t>
            </a:r>
            <a:endParaRPr lang="en-US" sz="1050" dirty="0"/>
          </a:p>
          <a:p>
            <a:pPr indent="0" marL="0">
              <a:lnSpc>
                <a:spcPct val="110000"/>
              </a:lnSpc>
              <a:buNone/>
            </a:pPr>
            <a:endParaRPr lang="en-US" sz="1050" dirty="0"/>
          </a:p>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«¿Qué ha resuelto la Corte Suprema sobre nulidad del despido?»</a:t>
            </a:r>
            <a:endParaRPr lang="en-US" sz="1050" dirty="0"/>
          </a:p>
        </p:txBody>
      </p:sp>
      <p:sp>
        <p:nvSpPr>
          <p:cNvPr id="9" name="Shape 7"/>
          <p:cNvSpPr/>
          <p:nvPr/>
        </p:nvSpPr>
        <p:spPr>
          <a:xfrm>
            <a:off x="3538728" y="1874520"/>
            <a:ext cx="2542032" cy="2788920"/>
          </a:xfrm>
          <a:prstGeom prst="roundRect">
            <a:avLst>
              <a:gd name="adj" fmla="val 2158"/>
            </a:avLst>
          </a:prstGeom>
          <a:solidFill>
            <a:srgbClr val="2A3446"/>
          </a:solidFill>
          <a:ln/>
        </p:spPr>
      </p:sp>
      <p:sp>
        <p:nvSpPr>
          <p:cNvPr id="10" name="Shape 8"/>
          <p:cNvSpPr/>
          <p:nvPr/>
        </p:nvSpPr>
        <p:spPr>
          <a:xfrm>
            <a:off x="3831336" y="2148840"/>
            <a:ext cx="402336" cy="402336"/>
          </a:xfrm>
          <a:prstGeom prst="ellipse">
            <a:avLst/>
          </a:prstGeom>
          <a:solidFill>
            <a:srgbClr val="A87C4F"/>
          </a:solidFill>
          <a:ln/>
        </p:spPr>
      </p:sp>
      <p:sp>
        <p:nvSpPr>
          <p:cNvPr id="11" name="Text 9"/>
          <p:cNvSpPr/>
          <p:nvPr/>
        </p:nvSpPr>
        <p:spPr>
          <a:xfrm>
            <a:off x="3831336"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831336"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Claude elige</a:t>
            </a:r>
            <a:endParaRPr lang="en-US" sz="1400" dirty="0"/>
          </a:p>
        </p:txBody>
      </p:sp>
      <p:sp>
        <p:nvSpPr>
          <p:cNvPr id="13" name="Text 11"/>
          <p:cNvSpPr/>
          <p:nvPr/>
        </p:nvSpPr>
        <p:spPr>
          <a:xfrm>
            <a:off x="3831336"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Entre las veinte herramientas disponibles, selecciona las que corresponden. Una consulta puede combinar varias: ubicar la norma, leer su texto, traer los fallos y sumar el criterio administrativo.</a:t>
            </a:r>
            <a:endParaRPr lang="en-US" sz="1050" dirty="0"/>
          </a:p>
        </p:txBody>
      </p:sp>
      <p:sp>
        <p:nvSpPr>
          <p:cNvPr id="14" name="Shape 12"/>
          <p:cNvSpPr/>
          <p:nvPr/>
        </p:nvSpPr>
        <p:spPr>
          <a:xfrm>
            <a:off x="6300216" y="1874520"/>
            <a:ext cx="2542032" cy="2788920"/>
          </a:xfrm>
          <a:prstGeom prst="roundRect">
            <a:avLst>
              <a:gd name="adj" fmla="val 2158"/>
            </a:avLst>
          </a:prstGeom>
          <a:solidFill>
            <a:srgbClr val="2A3446"/>
          </a:solidFill>
          <a:ln/>
        </p:spPr>
      </p:sp>
      <p:sp>
        <p:nvSpPr>
          <p:cNvPr id="15" name="Shape 13"/>
          <p:cNvSpPr/>
          <p:nvPr/>
        </p:nvSpPr>
        <p:spPr>
          <a:xfrm>
            <a:off x="6592824" y="2148840"/>
            <a:ext cx="402336" cy="402336"/>
          </a:xfrm>
          <a:prstGeom prst="ellipse">
            <a:avLst/>
          </a:prstGeom>
          <a:solidFill>
            <a:srgbClr val="A87C4F"/>
          </a:solidFill>
          <a:ln/>
        </p:spPr>
      </p:sp>
      <p:sp>
        <p:nvSpPr>
          <p:cNvPr id="16" name="Text 14"/>
          <p:cNvSpPr/>
          <p:nvPr/>
        </p:nvSpPr>
        <p:spPr>
          <a:xfrm>
            <a:off x="6592824"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592824"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Responsa consulta</a:t>
            </a:r>
            <a:endParaRPr lang="en-US" sz="1400" dirty="0"/>
          </a:p>
        </p:txBody>
      </p:sp>
      <p:sp>
        <p:nvSpPr>
          <p:cNvPr id="18" name="Text 16"/>
          <p:cNvSpPr/>
          <p:nvPr/>
        </p:nvSpPr>
        <p:spPr>
          <a:xfrm>
            <a:off x="6592824"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Va a las fuentes oficiales en vivo. No tiene una copia propia de las leyes: pregunta a la BCN, al Poder Judicial, a la Contraloría.</a:t>
            </a:r>
            <a:endParaRPr lang="en-US" sz="1050" dirty="0"/>
          </a:p>
        </p:txBody>
      </p:sp>
      <p:sp>
        <p:nvSpPr>
          <p:cNvPr id="19" name="Shape 17"/>
          <p:cNvSpPr/>
          <p:nvPr/>
        </p:nvSpPr>
        <p:spPr>
          <a:xfrm>
            <a:off x="9061704" y="1874520"/>
            <a:ext cx="2542032" cy="2788920"/>
          </a:xfrm>
          <a:prstGeom prst="roundRect">
            <a:avLst>
              <a:gd name="adj" fmla="val 2158"/>
            </a:avLst>
          </a:prstGeom>
          <a:solidFill>
            <a:srgbClr val="2A3446"/>
          </a:solidFill>
          <a:ln/>
        </p:spPr>
      </p:sp>
      <p:sp>
        <p:nvSpPr>
          <p:cNvPr id="20" name="Shape 18"/>
          <p:cNvSpPr/>
          <p:nvPr/>
        </p:nvSpPr>
        <p:spPr>
          <a:xfrm>
            <a:off x="9354312" y="2148840"/>
            <a:ext cx="402336" cy="402336"/>
          </a:xfrm>
          <a:prstGeom prst="ellipse">
            <a:avLst/>
          </a:prstGeom>
          <a:solidFill>
            <a:srgbClr val="A87C4F"/>
          </a:solidFill>
          <a:ln/>
        </p:spPr>
      </p:sp>
      <p:sp>
        <p:nvSpPr>
          <p:cNvPr id="21" name="Text 19"/>
          <p:cNvSpPr/>
          <p:nvPr/>
        </p:nvSpPr>
        <p:spPr>
          <a:xfrm>
            <a:off x="9354312"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354312"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recibe</a:t>
            </a:r>
            <a:endParaRPr lang="en-US" sz="1400" dirty="0"/>
          </a:p>
        </p:txBody>
      </p:sp>
      <p:sp>
        <p:nvSpPr>
          <p:cNvPr id="23" name="Text 21"/>
          <p:cNvSpPr/>
          <p:nvPr/>
        </p:nvSpPr>
        <p:spPr>
          <a:xfrm>
            <a:off x="9354312"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La respuesta con rol, tribunal, fecha, enlace y texto. Y si algo no se pudo verificar, se dice.</a:t>
            </a:r>
            <a:endParaRPr lang="en-US" sz="1050" dirty="0"/>
          </a:p>
        </p:txBody>
      </p:sp>
      <p:sp>
        <p:nvSpPr>
          <p:cNvPr id="24" name="Text 22"/>
          <p:cNvSpPr/>
          <p:nvPr/>
        </p:nvSpPr>
        <p:spPr>
          <a:xfrm>
            <a:off x="777240" y="5010912"/>
            <a:ext cx="10607040" cy="365760"/>
          </a:xfrm>
          <a:prstGeom prst="rect">
            <a:avLst/>
          </a:prstGeom>
          <a:noFill/>
          <a:ln/>
        </p:spPr>
        <p:txBody>
          <a:bodyPr wrap="square" lIns="0" tIns="0" rIns="0" bIns="0" rtlCol="0" anchor="t"/>
          <a:lstStyle/>
          <a:p>
            <a:pPr indent="0" marL="0">
              <a:buNone/>
            </a:pPr>
            <a:r>
              <a:rPr lang="en-US" sz="1200" i="1" dirty="0">
                <a:solidFill>
                  <a:srgbClr val="8A93A5"/>
                </a:solidFill>
                <a:latin typeface="Calibri" pitchFamily="34" charset="0"/>
                <a:ea typeface="Calibri" pitchFamily="34" charset="-122"/>
                <a:cs typeface="Calibri" pitchFamily="34" charset="-120"/>
              </a:rPr>
              <a:t>Responsa se instala una vez y queda disponible en toda conversación con Claude.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Cómo falla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La forma peligrosa de fallar no es el error: es el resultado vacío que se lee como una ausencia</a:t>
            </a:r>
            <a:endParaRPr lang="en-US" sz="1350" dirty="0"/>
          </a:p>
        </p:txBody>
      </p:sp>
      <p:sp>
        <p:nvSpPr>
          <p:cNvPr id="4" name="Shape 2"/>
          <p:cNvSpPr/>
          <p:nvPr/>
        </p:nvSpPr>
        <p:spPr>
          <a:xfrm>
            <a:off x="777240" y="1947672"/>
            <a:ext cx="347472" cy="347472"/>
          </a:xfrm>
          <a:prstGeom prst="ellipse">
            <a:avLst/>
          </a:prstGeom>
          <a:solidFill>
            <a:srgbClr val="A87C4F"/>
          </a:solidFill>
          <a:ln/>
        </p:spPr>
      </p:sp>
      <p:sp>
        <p:nvSpPr>
          <p:cNvPr id="5" name="Text 3"/>
          <p:cNvSpPr/>
          <p:nvPr/>
        </p:nvSpPr>
        <p:spPr>
          <a:xfrm>
            <a:off x="777240" y="1947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74520"/>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Declara los vacíos</a:t>
            </a:r>
            <a:endParaRPr lang="en-US" sz="1350" dirty="0"/>
          </a:p>
        </p:txBody>
      </p:sp>
      <p:sp>
        <p:nvSpPr>
          <p:cNvPr id="7" name="Text 5"/>
          <p:cNvSpPr/>
          <p:nvPr/>
        </p:nvSpPr>
        <p:spPr>
          <a:xfrm>
            <a:off x="4434840" y="1856232"/>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Si una fuente no responde, se dice. Nunca se completa el hueco con conocimiento propio, porque ese relleno es indistinguible del dato bueno.</a:t>
            </a:r>
            <a:endParaRPr lang="en-US" sz="1100" dirty="0"/>
          </a:p>
        </p:txBody>
      </p:sp>
      <p:sp>
        <p:nvSpPr>
          <p:cNvPr id="8" name="Shape 6"/>
          <p:cNvSpPr/>
          <p:nvPr/>
        </p:nvSpPr>
        <p:spPr>
          <a:xfrm>
            <a:off x="777240" y="2990088"/>
            <a:ext cx="347472" cy="347472"/>
          </a:xfrm>
          <a:prstGeom prst="ellipse">
            <a:avLst/>
          </a:prstGeom>
          <a:solidFill>
            <a:srgbClr val="A87C4F"/>
          </a:solidFill>
          <a:ln/>
        </p:spPr>
      </p:sp>
      <p:sp>
        <p:nvSpPr>
          <p:cNvPr id="9" name="Text 7"/>
          <p:cNvSpPr/>
          <p:nvPr/>
        </p:nvSpPr>
        <p:spPr>
          <a:xfrm>
            <a:off x="777240"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2916936"/>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Distingue caída de ausencia</a:t>
            </a:r>
            <a:endParaRPr lang="en-US" sz="1350" dirty="0"/>
          </a:p>
        </p:txBody>
      </p:sp>
      <p:sp>
        <p:nvSpPr>
          <p:cNvPr id="11" name="Text 9"/>
          <p:cNvSpPr/>
          <p:nvPr/>
        </p:nvSpPr>
        <p:spPr>
          <a:xfrm>
            <a:off x="4434840" y="2898648"/>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Cuando el Poder Judicial devolvió un error de base de datos, Responsa lo nombró: «su base responde ORA-12541, es una falla del organismo». No lo presentó como «no hay jurisprudencia».</a:t>
            </a:r>
            <a:endParaRPr lang="en-US" sz="1100" dirty="0"/>
          </a:p>
        </p:txBody>
      </p:sp>
      <p:sp>
        <p:nvSpPr>
          <p:cNvPr id="12" name="Shape 10"/>
          <p:cNvSpPr/>
          <p:nvPr/>
        </p:nvSpPr>
        <p:spPr>
          <a:xfrm>
            <a:off x="777240" y="4032504"/>
            <a:ext cx="347472" cy="347472"/>
          </a:xfrm>
          <a:prstGeom prst="ellipse">
            <a:avLst/>
          </a:prstGeom>
          <a:solidFill>
            <a:srgbClr val="A87C4F"/>
          </a:solidFill>
          <a:ln/>
        </p:spPr>
      </p:sp>
      <p:sp>
        <p:nvSpPr>
          <p:cNvPr id="13" name="Text 11"/>
          <p:cNvSpPr/>
          <p:nvPr/>
        </p:nvSpPr>
        <p:spPr>
          <a:xfrm>
            <a:off x="777240" y="40325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89304" y="3959352"/>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Se puede auditar</a:t>
            </a:r>
            <a:endParaRPr lang="en-US" sz="1350" dirty="0"/>
          </a:p>
        </p:txBody>
      </p:sp>
      <p:sp>
        <p:nvSpPr>
          <p:cNvPr id="15" name="Text 13"/>
          <p:cNvSpPr/>
          <p:nvPr/>
        </p:nvSpPr>
        <p:spPr>
          <a:xfrm>
            <a:off x="4434840" y="3941064"/>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Un comando consulta las diez fuentes con preguntas de respuesta conocida y dice cuál responde y cuál no. Sesenta comprobaciones automáticas verifican que cada fuente entregue lo que corresponde.</a:t>
            </a:r>
            <a:endParaRPr lang="en-US" sz="1100" dirty="0"/>
          </a:p>
        </p:txBody>
      </p:sp>
      <p:sp>
        <p:nvSpPr>
          <p:cNvPr id="16" name="Shape 14"/>
          <p:cNvSpPr/>
          <p:nvPr/>
        </p:nvSpPr>
        <p:spPr>
          <a:xfrm>
            <a:off x="777240" y="5074920"/>
            <a:ext cx="347472" cy="347472"/>
          </a:xfrm>
          <a:prstGeom prst="ellipse">
            <a:avLst/>
          </a:prstGeom>
          <a:solidFill>
            <a:srgbClr val="A87C4F"/>
          </a:solidFill>
          <a:ln/>
        </p:spPr>
      </p:sp>
      <p:sp>
        <p:nvSpPr>
          <p:cNvPr id="17" name="Text 15"/>
          <p:cNvSpPr/>
          <p:nvPr/>
        </p:nvSpPr>
        <p:spPr>
          <a:xfrm>
            <a:off x="777240" y="5074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89304" y="5001768"/>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Avisa si cambia una fuente</a:t>
            </a:r>
            <a:endParaRPr lang="en-US" sz="1350" dirty="0"/>
          </a:p>
        </p:txBody>
      </p:sp>
      <p:sp>
        <p:nvSpPr>
          <p:cNvPr id="19" name="Text 17"/>
          <p:cNvSpPr/>
          <p:nvPr/>
        </p:nvSpPr>
        <p:spPr>
          <a:xfrm>
            <a:off x="4434840" y="4983480"/>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terceros que cambian sin previo aviso. Si alguno altera su estructura, el error lo dice explícitamente en vez de devolver una lista vacía en silencio.</a:t>
            </a:r>
            <a:endParaRPr lang="en-US" sz="1100" dirty="0"/>
          </a:p>
        </p:txBody>
      </p:sp>
      <p:sp>
        <p:nvSpPr>
          <p:cNvPr id="20" name="Text 18"/>
          <p:cNvSpPr/>
          <p:nvPr/>
        </p:nvSpPr>
        <p:spPr>
          <a:xfrm>
            <a:off x="777240" y="5943600"/>
            <a:ext cx="10607040" cy="411480"/>
          </a:xfrm>
          <a:prstGeom prst="rect">
            <a:avLst/>
          </a:prstGeom>
          <a:noFill/>
          <a:ln/>
        </p:spPr>
        <p:txBody>
          <a:bodyPr wrap="square" lIns="0" tIns="0" rIns="0" bIns="0" rtlCol="0" anchor="ctr"/>
          <a:lstStyle/>
          <a:p>
            <a:pPr indent="0" marL="0">
              <a:buNone/>
            </a:pPr>
            <a:r>
              <a:rPr lang="en-US" sz="1100" i="1" dirty="0">
                <a:solidFill>
                  <a:srgbClr val="6B2C33"/>
                </a:solidFill>
                <a:latin typeface="Calibri" pitchFamily="34" charset="0"/>
                <a:ea typeface="Calibri" pitchFamily="34" charset="-122"/>
                <a:cs typeface="Calibri" pitchFamily="34" charset="-120"/>
              </a:rPr>
              <a:t>Es investigación jurídica asistida, no asesoría legal. En materias con plazos, prescripción o caducidad de por medio, corresponde revisión profesional antes de actuar.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Qué preguntarle</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En lenguaje natural. Responsa decide a qué fuente ir.</a:t>
            </a:r>
            <a:endParaRPr lang="en-US" sz="1350" dirty="0"/>
          </a:p>
        </p:txBody>
      </p:sp>
      <p:sp>
        <p:nvSpPr>
          <p:cNvPr id="4" name="Text 2"/>
          <p:cNvSpPr/>
          <p:nvPr/>
        </p:nvSpPr>
        <p:spPr>
          <a:xfrm>
            <a:off x="777240" y="175564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«Fallos que apliquen el artículo 16 de la Ley 19.496»</a:t>
            </a:r>
            <a:endParaRPr lang="en-US" sz="1450" dirty="0"/>
          </a:p>
        </p:txBody>
      </p:sp>
      <p:sp>
        <p:nvSpPr>
          <p:cNvPr id="5" name="Text 3"/>
          <p:cNvSpPr/>
          <p:nvPr/>
        </p:nvSpPr>
        <p:spPr>
          <a:xfrm>
            <a:off x="7269480" y="179222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Ley Chile + Poder Judicial, filtrando por norma aplicada</a:t>
            </a:r>
            <a:endParaRPr lang="en-US" sz="1050" dirty="0"/>
          </a:p>
        </p:txBody>
      </p:sp>
      <p:sp>
        <p:nvSpPr>
          <p:cNvPr id="6" name="Text 4"/>
          <p:cNvSpPr/>
          <p:nvPr/>
        </p:nvSpPr>
        <p:spPr>
          <a:xfrm>
            <a:off x="777240" y="237744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«¿Qué han resuelto los tribunales sobre tutela laboral?»</a:t>
            </a:r>
            <a:endParaRPr lang="en-US" sz="1450" dirty="0"/>
          </a:p>
        </p:txBody>
      </p:sp>
      <p:sp>
        <p:nvSpPr>
          <p:cNvPr id="7" name="Text 5"/>
          <p:cNvSpPr/>
          <p:nvPr/>
        </p:nvSpPr>
        <p:spPr>
          <a:xfrm>
            <a:off x="7269480" y="241401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Los siete buscadores del Poder Judicial a la vez</a:t>
            </a:r>
            <a:endParaRPr lang="en-US" sz="1050" dirty="0"/>
          </a:p>
        </p:txBody>
      </p:sp>
      <p:sp>
        <p:nvSpPr>
          <p:cNvPr id="8" name="Text 6"/>
          <p:cNvSpPr/>
          <p:nvPr/>
        </p:nvSpPr>
        <p:spPr>
          <a:xfrm>
            <a:off x="777240" y="2999232"/>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«¿Es constitucional esta norma?»</a:t>
            </a:r>
            <a:endParaRPr lang="en-US" sz="1450" dirty="0"/>
          </a:p>
        </p:txBody>
      </p:sp>
      <p:sp>
        <p:nvSpPr>
          <p:cNvPr id="9" name="Text 7"/>
          <p:cNvSpPr/>
          <p:nvPr/>
        </p:nvSpPr>
        <p:spPr>
          <a:xfrm>
            <a:off x="7269480" y="3035808"/>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Tribunal Constitucional, con los párrafos pertinentes y el PDF</a:t>
            </a:r>
            <a:endParaRPr lang="en-US" sz="1050" dirty="0"/>
          </a:p>
        </p:txBody>
      </p:sp>
      <p:sp>
        <p:nvSpPr>
          <p:cNvPr id="10" name="Text 8"/>
          <p:cNvSpPr/>
          <p:nvPr/>
        </p:nvSpPr>
        <p:spPr>
          <a:xfrm>
            <a:off x="777240" y="3621024"/>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«Dictámenes sobre sala cuna»</a:t>
            </a:r>
            <a:endParaRPr lang="en-US" sz="1450" dirty="0"/>
          </a:p>
        </p:txBody>
      </p:sp>
      <p:sp>
        <p:nvSpPr>
          <p:cNvPr id="11" name="Text 9"/>
          <p:cNvSpPr/>
          <p:nvPr/>
        </p:nvSpPr>
        <p:spPr>
          <a:xfrm>
            <a:off x="7269480" y="3657600"/>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Dirección del Trabajo, o Contraloría si es función pública</a:t>
            </a:r>
            <a:endParaRPr lang="en-US" sz="1050" dirty="0"/>
          </a:p>
        </p:txBody>
      </p:sp>
      <p:sp>
        <p:nvSpPr>
          <p:cNvPr id="12" name="Text 10"/>
          <p:cNvSpPr/>
          <p:nvPr/>
        </p:nvSpPr>
        <p:spPr>
          <a:xfrm>
            <a:off x="777240" y="4242816"/>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«Arbitrajes sobre contratos de construcción»</a:t>
            </a:r>
            <a:endParaRPr lang="en-US" sz="1450" dirty="0"/>
          </a:p>
        </p:txBody>
      </p:sp>
      <p:sp>
        <p:nvSpPr>
          <p:cNvPr id="13" name="Text 11"/>
          <p:cNvSpPr/>
          <p:nvPr/>
        </p:nvSpPr>
        <p:spPr>
          <a:xfrm>
            <a:off x="7269480" y="4279392"/>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Laudos del CAM Santiago, con enlace al PDF</a:t>
            </a:r>
            <a:endParaRPr lang="en-US" sz="1050" dirty="0"/>
          </a:p>
        </p:txBody>
      </p:sp>
      <p:sp>
        <p:nvSpPr>
          <p:cNvPr id="14" name="Text 12"/>
          <p:cNvSpPr/>
          <p:nvPr/>
        </p:nvSpPr>
        <p:spPr>
          <a:xfrm>
            <a:off x="777240" y="486460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«¿Cuánto demora un juicio laboral en Valparaíso?»</a:t>
            </a:r>
            <a:endParaRPr lang="en-US" sz="1450" dirty="0"/>
          </a:p>
        </p:txBody>
      </p:sp>
      <p:sp>
        <p:nvSpPr>
          <p:cNvPr id="15" name="Text 13"/>
          <p:cNvSpPr/>
          <p:nvPr/>
        </p:nvSpPr>
        <p:spPr>
          <a:xfrm>
            <a:off x="7269480" y="490118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Estadísticas oficiales del Poder Judicial</a:t>
            </a:r>
            <a:endParaRPr lang="en-US" sz="1050" dirty="0"/>
          </a:p>
        </p:txBody>
      </p:sp>
      <p:sp>
        <p:nvSpPr>
          <p:cNvPr id="16" name="Text 14"/>
          <p:cNvSpPr/>
          <p:nvPr/>
        </p:nvSpPr>
        <p:spPr>
          <a:xfrm>
            <a:off x="777240" y="548640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 cuánto equivalen 50 UTM hoy?»</a:t>
            </a:r>
            <a:endParaRPr lang="en-US" sz="1450" dirty="0"/>
          </a:p>
        </p:txBody>
      </p:sp>
      <p:sp>
        <p:nvSpPr>
          <p:cNvPr id="17" name="Text 15"/>
          <p:cNvSpPr/>
          <p:nvPr/>
        </p:nvSpPr>
        <p:spPr>
          <a:xfrm>
            <a:off x="7269480" y="552297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Valores del Banco Central y del SII</a:t>
            </a:r>
            <a:endParaRPr lang="en-US" sz="1050" dirty="0"/>
          </a:p>
        </p:txBody>
      </p:sp>
      <p:sp>
        <p:nvSpPr>
          <p:cNvPr id="18" name="Text 16"/>
          <p:cNvSpPr/>
          <p:nvPr/>
        </p:nvSpPr>
        <p:spPr>
          <a:xfrm>
            <a:off x="777240" y="6035040"/>
            <a:ext cx="10607040" cy="411480"/>
          </a:xfrm>
          <a:prstGeom prst="rect">
            <a:avLst/>
          </a:prstGeom>
          <a:noFill/>
          <a:ln/>
        </p:spPr>
        <p:txBody>
          <a:bodyPr wrap="square" lIns="0" tIns="0" rIns="0" bIns="0" rtlCol="0" anchor="t"/>
          <a:lstStyle/>
          <a:p>
            <a:pPr indent="0" marL="0">
              <a:buNone/>
            </a:pPr>
            <a:r>
              <a:rPr lang="en-US" sz="1100" i="1" dirty="0">
                <a:solidFill>
                  <a:srgbClr val="8A93A5"/>
                </a:solidFill>
                <a:latin typeface="Calibri" pitchFamily="34" charset="0"/>
                <a:ea typeface="Calibri" pitchFamily="34" charset="-122"/>
                <a:cs typeface="Calibri" pitchFamily="34" charset="-120"/>
              </a:rPr>
              <a:t>Una sola pregunta puede combinar varias fuentes: ubicar la norma, leer su texto vigente, traer los fallos que la aplican y sumar el criterio administrativo.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212848"/>
            <a:ext cx="676656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Instalación</a:t>
            </a:r>
            <a:endParaRPr lang="en-US" sz="5200" dirty="0"/>
          </a:p>
        </p:txBody>
      </p:sp>
      <p:sp>
        <p:nvSpPr>
          <p:cNvPr id="3" name="Text 1"/>
          <p:cNvSpPr/>
          <p:nvPr/>
        </p:nvSpPr>
        <p:spPr>
          <a:xfrm>
            <a:off x="777240" y="3163824"/>
            <a:ext cx="6766560" cy="411480"/>
          </a:xfrm>
          <a:prstGeom prst="rect">
            <a:avLst/>
          </a:prstGeom>
          <a:noFill/>
          <a:ln/>
        </p:spPr>
        <p:txBody>
          <a:bodyPr wrap="square" lIns="0" tIns="0" rIns="0" bIns="0" rtlCol="0" anchor="t"/>
          <a:lstStyle/>
          <a:p>
            <a:pPr indent="0" marL="0">
              <a:buNone/>
            </a:pPr>
            <a:r>
              <a:rPr lang="en-US" sz="1700" dirty="0">
                <a:solidFill>
                  <a:srgbClr val="C9A574"/>
                </a:solidFill>
                <a:latin typeface="Calibri" pitchFamily="34" charset="0"/>
                <a:ea typeface="Calibri" pitchFamily="34" charset="-122"/>
                <a:cs typeface="Calibri" pitchFamily="34" charset="-120"/>
              </a:rPr>
              <a:t>Un comando, y reiniciar Claude. Eso es todo.</a:t>
            </a:r>
            <a:endParaRPr lang="en-US" sz="1700" dirty="0"/>
          </a:p>
        </p:txBody>
      </p:sp>
      <p:sp>
        <p:nvSpPr>
          <p:cNvPr id="4" name="Text 2"/>
          <p:cNvSpPr/>
          <p:nvPr/>
        </p:nvSpPr>
        <p:spPr>
          <a:xfrm>
            <a:off x="777240" y="3749040"/>
            <a:ext cx="6400800" cy="731520"/>
          </a:xfrm>
          <a:prstGeom prst="rect">
            <a:avLst/>
          </a:prstGeom>
          <a:noFill/>
          <a:ln/>
        </p:spPr>
        <p:txBody>
          <a:bodyPr wrap="square" lIns="0" tIns="0" rIns="0" bIns="0" rtlCol="0" anchor="t"/>
          <a:lstStyle/>
          <a:p>
            <a:pPr indent="0" marL="0">
              <a:lnSpc>
                <a:spcPct val="120000"/>
              </a:lnSpc>
              <a:buNone/>
            </a:pPr>
            <a:r>
              <a:rPr lang="en-US" sz="1250" dirty="0">
                <a:solidFill>
                  <a:srgbClr val="8A93A5"/>
                </a:solidFill>
                <a:latin typeface="Calibri" pitchFamily="34" charset="0"/>
                <a:ea typeface="Calibri" pitchFamily="34" charset="-122"/>
                <a:cs typeface="Calibri" pitchFamily="34" charset="-120"/>
              </a:rPr>
              <a:t>No hay que instalar nada a mano ni saber usar la terminal más allá de pegar una línea. El instalador se encarga de Node.js, de la descarga y de la configuración.</a:t>
            </a:r>
            <a:endParaRPr lang="en-US" sz="1250" dirty="0"/>
          </a:p>
        </p:txBody>
      </p:sp>
      <p:sp>
        <p:nvSpPr>
          <p:cNvPr id="5" name="Shape 3"/>
          <p:cNvSpPr/>
          <p:nvPr/>
        </p:nvSpPr>
        <p:spPr>
          <a:xfrm>
            <a:off x="777240" y="4892040"/>
            <a:ext cx="365760" cy="365760"/>
          </a:xfrm>
          <a:prstGeom prst="ellipse">
            <a:avLst/>
          </a:prstGeom>
          <a:solidFill>
            <a:srgbClr val="A87C4F"/>
          </a:solidFill>
          <a:ln/>
        </p:spPr>
      </p:sp>
      <p:sp>
        <p:nvSpPr>
          <p:cNvPr id="6" name="Text 4"/>
          <p:cNvSpPr/>
          <p:nvPr/>
        </p:nvSpPr>
        <p:spPr>
          <a:xfrm>
            <a:off x="777240" y="48920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9304" y="491947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Pegar el comando en la terminal</a:t>
            </a:r>
            <a:endParaRPr lang="en-US" sz="1300" dirty="0"/>
          </a:p>
        </p:txBody>
      </p:sp>
      <p:sp>
        <p:nvSpPr>
          <p:cNvPr id="8" name="Shape 6"/>
          <p:cNvSpPr/>
          <p:nvPr/>
        </p:nvSpPr>
        <p:spPr>
          <a:xfrm>
            <a:off x="777240" y="5440680"/>
            <a:ext cx="365760" cy="365760"/>
          </a:xfrm>
          <a:prstGeom prst="ellipse">
            <a:avLst/>
          </a:prstGeom>
          <a:solidFill>
            <a:srgbClr val="A87C4F"/>
          </a:solidFill>
          <a:ln/>
        </p:spPr>
      </p:sp>
      <p:sp>
        <p:nvSpPr>
          <p:cNvPr id="9" name="Text 7"/>
          <p:cNvSpPr/>
          <p:nvPr/>
        </p:nvSpPr>
        <p:spPr>
          <a:xfrm>
            <a:off x="777240" y="5440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546811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Reiniciar Claude</a:t>
            </a:r>
            <a:endParaRPr lang="en-US" sz="1300" dirty="0"/>
          </a:p>
        </p:txBody>
      </p:sp>
      <p:sp>
        <p:nvSpPr>
          <p:cNvPr id="11" name="Shape 9"/>
          <p:cNvSpPr/>
          <p:nvPr/>
        </p:nvSpPr>
        <p:spPr>
          <a:xfrm>
            <a:off x="7818120" y="2194560"/>
            <a:ext cx="3593592" cy="3675888"/>
          </a:xfrm>
          <a:prstGeom prst="roundRect">
            <a:avLst>
              <a:gd name="adj" fmla="val 1527"/>
            </a:avLst>
          </a:prstGeom>
          <a:solidFill>
            <a:srgbClr val="2A3446"/>
          </a:solidFill>
          <a:ln/>
        </p:spPr>
      </p:sp>
      <p:sp>
        <p:nvSpPr>
          <p:cNvPr id="12" name="Text 10"/>
          <p:cNvSpPr/>
          <p:nvPr/>
        </p:nvSpPr>
        <p:spPr>
          <a:xfrm>
            <a:off x="8183880" y="2487168"/>
            <a:ext cx="292608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Qué queda instalado</a:t>
            </a:r>
            <a:endParaRPr lang="en-US" sz="1050" dirty="0"/>
          </a:p>
        </p:txBody>
      </p:sp>
      <p:sp>
        <p:nvSpPr>
          <p:cNvPr id="13" name="Text 11"/>
          <p:cNvSpPr/>
          <p:nvPr/>
        </p:nvSpPr>
        <p:spPr>
          <a:xfrm>
            <a:off x="8183880" y="2834640"/>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servidor</a:t>
            </a:r>
            <a:endParaRPr lang="en-US" sz="1150" dirty="0"/>
          </a:p>
        </p:txBody>
      </p:sp>
      <p:sp>
        <p:nvSpPr>
          <p:cNvPr id="14" name="Text 12"/>
          <p:cNvSpPr/>
          <p:nvPr/>
        </p:nvSpPr>
        <p:spPr>
          <a:xfrm>
            <a:off x="8183880" y="3081528"/>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Corre en tu computador, no en la nube. Sólo se activa cuando Claude le pregunta.</a:t>
            </a:r>
            <a:endParaRPr lang="en-US" sz="950" dirty="0"/>
          </a:p>
        </p:txBody>
      </p:sp>
      <p:sp>
        <p:nvSpPr>
          <p:cNvPr id="15" name="Text 13"/>
          <p:cNvSpPr/>
          <p:nvPr/>
        </p:nvSpPr>
        <p:spPr>
          <a:xfrm>
            <a:off x="8183880" y="3675888"/>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registro en Claude</a:t>
            </a:r>
            <a:endParaRPr lang="en-US" sz="1150" dirty="0"/>
          </a:p>
        </p:txBody>
      </p:sp>
      <p:sp>
        <p:nvSpPr>
          <p:cNvPr id="16" name="Text 14"/>
          <p:cNvSpPr/>
          <p:nvPr/>
        </p:nvSpPr>
        <p:spPr>
          <a:xfrm>
            <a:off x="8183880" y="3922776"/>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Una línea de configuración para que Claude sepa que Responsa existe.</a:t>
            </a:r>
            <a:endParaRPr lang="en-US" sz="950" dirty="0"/>
          </a:p>
        </p:txBody>
      </p:sp>
      <p:sp>
        <p:nvSpPr>
          <p:cNvPr id="17" name="Text 15"/>
          <p:cNvSpPr/>
          <p:nvPr/>
        </p:nvSpPr>
        <p:spPr>
          <a:xfrm>
            <a:off x="8183880" y="4517136"/>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La skill de método</a:t>
            </a:r>
            <a:endParaRPr lang="en-US" sz="1150" dirty="0"/>
          </a:p>
        </p:txBody>
      </p:sp>
      <p:sp>
        <p:nvSpPr>
          <p:cNvPr id="18" name="Text 16"/>
          <p:cNvSpPr/>
          <p:nvPr/>
        </p:nvSpPr>
        <p:spPr>
          <a:xfrm>
            <a:off x="8183880" y="4764024"/>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Le indica a Claude cómo citar y qué no puede afirmar sin respaldo.</a:t>
            </a:r>
            <a:endParaRPr lang="en-US" sz="950" dirty="0"/>
          </a:p>
        </p:txBody>
      </p:sp>
      <p:sp>
        <p:nvSpPr>
          <p:cNvPr id="19" name="Text 17"/>
          <p:cNvSpPr/>
          <p:nvPr/>
        </p:nvSpPr>
        <p:spPr>
          <a:xfrm>
            <a:off x="8183880" y="5394960"/>
            <a:ext cx="3017520" cy="402336"/>
          </a:xfrm>
          <a:prstGeom prst="rect">
            <a:avLst/>
          </a:prstGeom>
          <a:noFill/>
          <a:ln/>
        </p:spPr>
        <p:txBody>
          <a:bodyPr wrap="square" lIns="0" tIns="0" rIns="0" bIns="0" rtlCol="0" anchor="t"/>
          <a:lstStyle/>
          <a:p>
            <a:pPr indent="0" marL="0">
              <a:lnSpc>
                <a:spcPct val="105000"/>
              </a:lnSpc>
              <a:buNone/>
            </a:pPr>
            <a:r>
              <a:rPr lang="en-US" sz="950" i="1" dirty="0">
                <a:solidFill>
                  <a:srgbClr val="C9A574"/>
                </a:solidFill>
                <a:latin typeface="Calibri" pitchFamily="34" charset="0"/>
                <a:ea typeface="Calibri" pitchFamily="34" charset="-122"/>
                <a:cs typeface="Calibri" pitchFamily="34" charset="-120"/>
              </a:rPr>
              <a:t>Nada se envía a terceros: las consultas van directo a los sitios oficiales.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1 · Pegar el comando</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Abre la terminal, pega la línea que corresponde a tu sistema y pulsa Enter</a:t>
            </a:r>
            <a:endParaRPr lang="en-US" sz="1350" dirty="0"/>
          </a:p>
        </p:txBody>
      </p:sp>
      <p:sp>
        <p:nvSpPr>
          <p:cNvPr id="4" name="Shape 2"/>
          <p:cNvSpPr/>
          <p:nvPr/>
        </p:nvSpPr>
        <p:spPr>
          <a:xfrm>
            <a:off x="777240" y="1828800"/>
            <a:ext cx="1051560" cy="274320"/>
          </a:xfrm>
          <a:prstGeom prst="roundRect">
            <a:avLst>
              <a:gd name="adj" fmla="val 13333"/>
            </a:avLst>
          </a:prstGeom>
          <a:solidFill>
            <a:srgbClr val="A87C4F"/>
          </a:solidFill>
          <a:ln/>
        </p:spPr>
      </p:sp>
      <p:sp>
        <p:nvSpPr>
          <p:cNvPr id="5" name="Text 3"/>
          <p:cNvSpPr/>
          <p:nvPr/>
        </p:nvSpPr>
        <p:spPr>
          <a:xfrm>
            <a:off x="777240" y="18288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Windows</a:t>
            </a:r>
            <a:endParaRPr lang="en-US" sz="1000" dirty="0"/>
          </a:p>
        </p:txBody>
      </p:sp>
      <p:sp>
        <p:nvSpPr>
          <p:cNvPr id="6" name="Text 4"/>
          <p:cNvSpPr/>
          <p:nvPr/>
        </p:nvSpPr>
        <p:spPr>
          <a:xfrm>
            <a:off x="1965960" y="1847088"/>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Menú Inicio → escribe «PowerShell» → ábrelo</a:t>
            </a:r>
            <a:endParaRPr lang="en-US" sz="1100" dirty="0"/>
          </a:p>
        </p:txBody>
      </p:sp>
      <p:sp>
        <p:nvSpPr>
          <p:cNvPr id="7" name="Shape 5"/>
          <p:cNvSpPr/>
          <p:nvPr/>
        </p:nvSpPr>
        <p:spPr>
          <a:xfrm>
            <a:off x="777240" y="2212848"/>
            <a:ext cx="10634472" cy="603504"/>
          </a:xfrm>
          <a:prstGeom prst="roundRect">
            <a:avLst>
              <a:gd name="adj" fmla="val 7576"/>
            </a:avLst>
          </a:prstGeom>
          <a:solidFill>
            <a:srgbClr val="1B2230"/>
          </a:solidFill>
          <a:ln/>
        </p:spPr>
      </p:sp>
      <p:sp>
        <p:nvSpPr>
          <p:cNvPr id="8" name="Text 6"/>
          <p:cNvSpPr/>
          <p:nvPr/>
        </p:nvSpPr>
        <p:spPr>
          <a:xfrm>
            <a:off x="996696" y="2212848"/>
            <a:ext cx="10195560" cy="603504"/>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irm https://raw.githubusercontent.com/djlarrix/Responsa/main/instalar.ps1 | iex</a:t>
            </a:r>
            <a:endParaRPr lang="en-US" sz="1250" dirty="0"/>
          </a:p>
        </p:txBody>
      </p:sp>
      <p:sp>
        <p:nvSpPr>
          <p:cNvPr id="9" name="Shape 7"/>
          <p:cNvSpPr/>
          <p:nvPr/>
        </p:nvSpPr>
        <p:spPr>
          <a:xfrm>
            <a:off x="777240" y="3054096"/>
            <a:ext cx="1051560" cy="274320"/>
          </a:xfrm>
          <a:prstGeom prst="roundRect">
            <a:avLst>
              <a:gd name="adj" fmla="val 13333"/>
            </a:avLst>
          </a:prstGeom>
          <a:solidFill>
            <a:srgbClr val="A87C4F"/>
          </a:solidFill>
          <a:ln/>
        </p:spPr>
      </p:sp>
      <p:sp>
        <p:nvSpPr>
          <p:cNvPr id="10" name="Text 8"/>
          <p:cNvSpPr/>
          <p:nvPr/>
        </p:nvSpPr>
        <p:spPr>
          <a:xfrm>
            <a:off x="777240" y="3054096"/>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macOS</a:t>
            </a:r>
            <a:endParaRPr lang="en-US" sz="1000" dirty="0"/>
          </a:p>
        </p:txBody>
      </p:sp>
      <p:sp>
        <p:nvSpPr>
          <p:cNvPr id="11" name="Text 9"/>
          <p:cNvSpPr/>
          <p:nvPr/>
        </p:nvSpPr>
        <p:spPr>
          <a:xfrm>
            <a:off x="1965960" y="3072384"/>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Command + Espacio → escribe «Terminal» → Enter</a:t>
            </a:r>
            <a:endParaRPr lang="en-US" sz="1100" dirty="0"/>
          </a:p>
        </p:txBody>
      </p:sp>
      <p:sp>
        <p:nvSpPr>
          <p:cNvPr id="12" name="Shape 10"/>
          <p:cNvSpPr/>
          <p:nvPr/>
        </p:nvSpPr>
        <p:spPr>
          <a:xfrm>
            <a:off x="777240" y="3438144"/>
            <a:ext cx="10634472" cy="603504"/>
          </a:xfrm>
          <a:prstGeom prst="roundRect">
            <a:avLst>
              <a:gd name="adj" fmla="val 7576"/>
            </a:avLst>
          </a:prstGeom>
          <a:solidFill>
            <a:srgbClr val="1B2230"/>
          </a:solidFill>
          <a:ln/>
        </p:spPr>
      </p:sp>
      <p:sp>
        <p:nvSpPr>
          <p:cNvPr id="13" name="Text 11"/>
          <p:cNvSpPr/>
          <p:nvPr/>
        </p:nvSpPr>
        <p:spPr>
          <a:xfrm>
            <a:off x="996696" y="3438144"/>
            <a:ext cx="10195560" cy="603504"/>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curl -fsSL https://raw.githubusercontent.com/djlarrix/Responsa/main/instalar.sh | bash</a:t>
            </a:r>
            <a:endParaRPr lang="en-US" sz="1250" dirty="0"/>
          </a:p>
        </p:txBody>
      </p:sp>
      <p:sp>
        <p:nvSpPr>
          <p:cNvPr id="14" name="Shape 12"/>
          <p:cNvSpPr/>
          <p:nvPr/>
        </p:nvSpPr>
        <p:spPr>
          <a:xfrm>
            <a:off x="777240" y="4315968"/>
            <a:ext cx="5120640" cy="1783080"/>
          </a:xfrm>
          <a:prstGeom prst="roundRect">
            <a:avLst>
              <a:gd name="adj" fmla="val 3077"/>
            </a:avLst>
          </a:prstGeom>
          <a:solidFill>
            <a:srgbClr val="FFFFFF"/>
          </a:solidFill>
          <a:ln w="9525">
            <a:solidFill>
              <a:srgbClr val="E3DED3"/>
            </a:solidFill>
            <a:prstDash val="solid"/>
          </a:ln>
        </p:spPr>
      </p:sp>
      <p:sp>
        <p:nvSpPr>
          <p:cNvPr id="15" name="Text 13"/>
          <p:cNvSpPr/>
          <p:nvPr/>
        </p:nvSpPr>
        <p:spPr>
          <a:xfrm>
            <a:off x="1069848" y="4517136"/>
            <a:ext cx="4480560" cy="256032"/>
          </a:xfrm>
          <a:prstGeom prst="rect">
            <a:avLst/>
          </a:prstGeom>
          <a:noFill/>
          <a:ln/>
        </p:spPr>
        <p:txBody>
          <a:bodyPr wrap="square" lIns="0" tIns="0" rIns="0" bIns="0" rtlCol="0" anchor="t"/>
          <a:lstStyle/>
          <a:p>
            <a:pPr indent="0" marL="0">
              <a:buNone/>
            </a:pPr>
            <a:r>
              <a:rPr lang="en-US" sz="1200" b="1" dirty="0">
                <a:solidFill>
                  <a:srgbClr val="1B2230"/>
                </a:solidFill>
                <a:latin typeface="Calibri" pitchFamily="34" charset="0"/>
                <a:ea typeface="Calibri" pitchFamily="34" charset="-122"/>
                <a:cs typeface="Calibri" pitchFamily="34" charset="-120"/>
              </a:rPr>
              <a:t>Qué hace por ti</a:t>
            </a:r>
            <a:endParaRPr lang="en-US" sz="1200" dirty="0"/>
          </a:p>
        </p:txBody>
      </p:sp>
      <p:sp>
        <p:nvSpPr>
          <p:cNvPr id="16" name="Text 14"/>
          <p:cNvSpPr/>
          <p:nvPr/>
        </p:nvSpPr>
        <p:spPr>
          <a:xfrm>
            <a:off x="1069848" y="4846320"/>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Instala Node.js si falta</a:t>
            </a:r>
            <a:endParaRPr lang="en-US" sz="1050" dirty="0"/>
          </a:p>
        </p:txBody>
      </p:sp>
      <p:sp>
        <p:nvSpPr>
          <p:cNvPr id="17" name="Text 15"/>
          <p:cNvSpPr/>
          <p:nvPr/>
        </p:nvSpPr>
        <p:spPr>
          <a:xfrm>
            <a:off x="1069848" y="514807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Descarga Responsa a tu carpeta de usuario</a:t>
            </a:r>
            <a:endParaRPr lang="en-US" sz="1050" dirty="0"/>
          </a:p>
        </p:txBody>
      </p:sp>
      <p:sp>
        <p:nvSpPr>
          <p:cNvPr id="18" name="Text 16"/>
          <p:cNvSpPr/>
          <p:nvPr/>
        </p:nvSpPr>
        <p:spPr>
          <a:xfrm>
            <a:off x="1069848" y="5449824"/>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Registra el servidor en Claude e instala la skill</a:t>
            </a:r>
            <a:endParaRPr lang="en-US" sz="1050" dirty="0"/>
          </a:p>
        </p:txBody>
      </p:sp>
      <p:sp>
        <p:nvSpPr>
          <p:cNvPr id="19" name="Text 17"/>
          <p:cNvSpPr/>
          <p:nvPr/>
        </p:nvSpPr>
        <p:spPr>
          <a:xfrm>
            <a:off x="1069848" y="5751576"/>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Precarga los códigos y verifica las diez fuentes</a:t>
            </a:r>
            <a:endParaRPr lang="en-US" sz="1050" dirty="0"/>
          </a:p>
        </p:txBody>
      </p:sp>
      <p:sp>
        <p:nvSpPr>
          <p:cNvPr id="20" name="Shape 18"/>
          <p:cNvSpPr/>
          <p:nvPr/>
        </p:nvSpPr>
        <p:spPr>
          <a:xfrm>
            <a:off x="6263640" y="4315968"/>
            <a:ext cx="5148072" cy="1783080"/>
          </a:xfrm>
          <a:prstGeom prst="roundRect">
            <a:avLst>
              <a:gd name="adj" fmla="val 3077"/>
            </a:avLst>
          </a:prstGeom>
          <a:solidFill>
            <a:srgbClr val="1B2230"/>
          </a:solidFill>
          <a:ln/>
        </p:spPr>
      </p:sp>
      <p:sp>
        <p:nvSpPr>
          <p:cNvPr id="21" name="Text 19"/>
          <p:cNvSpPr/>
          <p:nvPr/>
        </p:nvSpPr>
        <p:spPr>
          <a:xfrm>
            <a:off x="6583680" y="4517136"/>
            <a:ext cx="4480560" cy="256032"/>
          </a:xfrm>
          <a:prstGeom prst="rect">
            <a:avLst/>
          </a:prstGeom>
          <a:noFill/>
          <a:ln/>
        </p:spPr>
        <p:txBody>
          <a:bodyPr wrap="square" lIns="0" tIns="0" rIns="0" bIns="0" rtlCol="0" anchor="t"/>
          <a:lstStyle/>
          <a:p>
            <a:pPr indent="0" marL="0">
              <a:buNone/>
            </a:pPr>
            <a:r>
              <a:rPr lang="en-US" sz="1200" b="1" dirty="0">
                <a:solidFill>
                  <a:srgbClr val="C9A574"/>
                </a:solidFill>
                <a:latin typeface="Calibri" pitchFamily="34" charset="0"/>
                <a:ea typeface="Calibri" pitchFamily="34" charset="-122"/>
                <a:cs typeface="Calibri" pitchFamily="34" charset="-120"/>
              </a:rPr>
              <a:t>Qué vas a ver</a:t>
            </a:r>
            <a:endParaRPr lang="en-US" sz="1200" dirty="0"/>
          </a:p>
        </p:txBody>
      </p:sp>
      <p:sp>
        <p:nvSpPr>
          <p:cNvPr id="22" name="Text 20"/>
          <p:cNvSpPr/>
          <p:nvPr/>
        </p:nvSpPr>
        <p:spPr>
          <a:xfrm>
            <a:off x="6583680" y="4828032"/>
            <a:ext cx="4480560" cy="82296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Cuatro pasos numerados en pantalla. Tarda unos minutos, sobre todo la precarga de los códigos: la Biblioteca del Congreso limita las descargas grandes y conviene bajarlos con calma una vez.</a:t>
            </a:r>
            <a:endParaRPr lang="en-US" sz="1050" dirty="0"/>
          </a:p>
        </p:txBody>
      </p:sp>
      <p:sp>
        <p:nvSpPr>
          <p:cNvPr id="23" name="Text 21"/>
          <p:cNvSpPr/>
          <p:nvPr/>
        </p:nvSpPr>
        <p:spPr>
          <a:xfrm>
            <a:off x="6583680" y="5687568"/>
            <a:ext cx="4480560" cy="292608"/>
          </a:xfrm>
          <a:prstGeom prst="rect">
            <a:avLst/>
          </a:prstGeom>
          <a:noFill/>
          <a:ln/>
        </p:spPr>
        <p:txBody>
          <a:bodyPr wrap="square" lIns="0" tIns="0" rIns="0" bIns="0" rtlCol="0" anchor="t"/>
          <a:lstStyle/>
          <a:p>
            <a:pPr indent="0" marL="0">
              <a:buNone/>
            </a:pPr>
            <a:r>
              <a:rPr lang="en-US" sz="1050" b="1" i="1" dirty="0">
                <a:solidFill>
                  <a:srgbClr val="C9A574"/>
                </a:solidFill>
                <a:latin typeface="Calibri" pitchFamily="34" charset="0"/>
                <a:ea typeface="Calibri" pitchFamily="34" charset="-122"/>
                <a:cs typeface="Calibri" pitchFamily="34" charset="-120"/>
              </a:rPr>
              <a:t>Termina diciendo: Instalado. 10/10 fuentes responden.</a:t>
            </a:r>
            <a:endParaRPr lang="en-US" sz="1050" dirty="0"/>
          </a:p>
        </p:txBody>
      </p:sp>
      <p:sp>
        <p:nvSpPr>
          <p:cNvPr id="24" name="Text 22"/>
          <p:cNvSpPr/>
          <p:nvPr/>
        </p:nvSpPr>
        <p:spPr>
          <a:xfrm>
            <a:off x="777240" y="6236208"/>
            <a:ext cx="10634472" cy="365760"/>
          </a:xfrm>
          <a:prstGeom prst="rect">
            <a:avLst/>
          </a:prstGeom>
          <a:noFill/>
          <a:ln/>
        </p:spPr>
        <p:txBody>
          <a:bodyPr wrap="square" lIns="0" tIns="0" rIns="0" bIns="0" rtlCol="0" anchor="t"/>
          <a:lstStyle/>
          <a:p>
            <a:pPr indent="0" marL="0">
              <a:buNone/>
            </a:pPr>
            <a:r>
              <a:rPr lang="en-US" sz="1050" i="1" dirty="0">
                <a:solidFill>
                  <a:srgbClr val="5A6478"/>
                </a:solidFill>
                <a:latin typeface="Calibri" pitchFamily="34" charset="0"/>
                <a:ea typeface="Calibri" pitchFamily="34" charset="-122"/>
                <a:cs typeface="Calibri" pitchFamily="34" charset="-120"/>
              </a:rPr>
              <a:t>Se puede ejecutar las veces que haga falta: si ya está instalado, actualiza.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2 · Reiniciar Claude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Es obligatorio: Claude carga los servidores al arrancar</a:t>
            </a:r>
            <a:endParaRPr lang="en-US" sz="1350" dirty="0"/>
          </a:p>
        </p:txBody>
      </p:sp>
      <p:sp>
        <p:nvSpPr>
          <p:cNvPr id="4" name="Shape 2"/>
          <p:cNvSpPr/>
          <p:nvPr/>
        </p:nvSpPr>
        <p:spPr>
          <a:xfrm>
            <a:off x="777240" y="1810512"/>
            <a:ext cx="5029200" cy="2103120"/>
          </a:xfrm>
          <a:prstGeom prst="roundRect">
            <a:avLst>
              <a:gd name="adj" fmla="val 2609"/>
            </a:avLst>
          </a:prstGeom>
          <a:solidFill>
            <a:srgbClr val="1B2230"/>
          </a:solidFill>
          <a:ln/>
        </p:spPr>
      </p:sp>
      <p:sp>
        <p:nvSpPr>
          <p:cNvPr id="5" name="Text 3"/>
          <p:cNvSpPr/>
          <p:nvPr/>
        </p:nvSpPr>
        <p:spPr>
          <a:xfrm>
            <a:off x="1069848" y="2048256"/>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Windows</a:t>
            </a:r>
            <a:endParaRPr lang="en-US" sz="1250" dirty="0"/>
          </a:p>
        </p:txBody>
      </p:sp>
      <p:sp>
        <p:nvSpPr>
          <p:cNvPr id="6" name="Text 4"/>
          <p:cNvSpPr/>
          <p:nvPr/>
        </p:nvSpPr>
        <p:spPr>
          <a:xfrm>
            <a:off x="1069848" y="2359152"/>
            <a:ext cx="4480560" cy="68580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Calibri" pitchFamily="34" charset="0"/>
                <a:ea typeface="Calibri" pitchFamily="34" charset="-122"/>
                <a:cs typeface="Calibri" pitchFamily="34" charset="-120"/>
              </a:rPr>
              <a:t>No basta con cerrar la ventana. Busca el ícono junto al reloj, abajo a la derecha (puede estar tras la flecha ^), clic derecho → Quit. Después ábrelo de nuevo.</a:t>
            </a:r>
            <a:endParaRPr lang="en-US" sz="1100" dirty="0"/>
          </a:p>
        </p:txBody>
      </p:sp>
      <p:sp>
        <p:nvSpPr>
          <p:cNvPr id="7" name="Text 5"/>
          <p:cNvSpPr/>
          <p:nvPr/>
        </p:nvSpPr>
        <p:spPr>
          <a:xfrm>
            <a:off x="1069848" y="3090672"/>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macOS</a:t>
            </a:r>
            <a:endParaRPr lang="en-US" sz="1250" dirty="0"/>
          </a:p>
        </p:txBody>
      </p:sp>
      <p:sp>
        <p:nvSpPr>
          <p:cNvPr id="8" name="Text 6"/>
          <p:cNvSpPr/>
          <p:nvPr/>
        </p:nvSpPr>
        <p:spPr>
          <a:xfrm>
            <a:off x="1069848" y="3401568"/>
            <a:ext cx="4480560" cy="4114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Command + Q con Claude en primer plano. Cerrar con la bolita roja no basta.</a:t>
            </a:r>
            <a:endParaRPr lang="en-US" sz="1100" dirty="0"/>
          </a:p>
        </p:txBody>
      </p:sp>
      <p:sp>
        <p:nvSpPr>
          <p:cNvPr id="9" name="Text 7"/>
          <p:cNvSpPr/>
          <p:nvPr/>
        </p:nvSpPr>
        <p:spPr>
          <a:xfrm>
            <a:off x="777240" y="4206240"/>
            <a:ext cx="5029200" cy="27432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Y listo. Para comprobarlo, pregúntale algo de derecho chileno:</a:t>
            </a:r>
            <a:endParaRPr lang="en-US" sz="1150" dirty="0"/>
          </a:p>
        </p:txBody>
      </p:sp>
      <p:sp>
        <p:nvSpPr>
          <p:cNvPr id="10" name="Text 8"/>
          <p:cNvSpPr/>
          <p:nvPr/>
        </p:nvSpPr>
        <p:spPr>
          <a:xfrm>
            <a:off x="777240" y="4526280"/>
            <a:ext cx="5029200" cy="548640"/>
          </a:xfrm>
          <a:prstGeom prst="rect">
            <a:avLst/>
          </a:prstGeom>
          <a:noFill/>
          <a:ln/>
        </p:spPr>
        <p:txBody>
          <a:bodyPr wrap="square" lIns="0" tIns="0" rIns="0" bIns="0" rtlCol="0" anchor="t"/>
          <a:lstStyle/>
          <a:p>
            <a:pPr indent="0" marL="0">
              <a:buNone/>
            </a:pPr>
            <a:r>
              <a:rPr lang="en-US" sz="1500" dirty="0">
                <a:solidFill>
                  <a:srgbClr val="1B2230"/>
                </a:solidFill>
                <a:latin typeface="Cambria" pitchFamily="34" charset="0"/>
                <a:ea typeface="Cambria" pitchFamily="34" charset="-122"/>
                <a:cs typeface="Cambria" pitchFamily="34" charset="-120"/>
              </a:rPr>
              <a:t>«¿Qué ha resuelto la Corte Suprema sobre nulidad del despido?»</a:t>
            </a:r>
            <a:endParaRPr lang="en-US" sz="1500" dirty="0"/>
          </a:p>
        </p:txBody>
      </p:sp>
      <p:sp>
        <p:nvSpPr>
          <p:cNvPr id="11" name="Shape 9"/>
          <p:cNvSpPr/>
          <p:nvPr/>
        </p:nvSpPr>
        <p:spPr>
          <a:xfrm>
            <a:off x="6263640" y="1810512"/>
            <a:ext cx="5148072" cy="1371600"/>
          </a:xfrm>
          <a:prstGeom prst="roundRect">
            <a:avLst>
              <a:gd name="adj" fmla="val 4000"/>
            </a:avLst>
          </a:prstGeom>
          <a:solidFill>
            <a:srgbClr val="FFFFFF"/>
          </a:solidFill>
          <a:ln w="9525">
            <a:solidFill>
              <a:srgbClr val="E3DED3"/>
            </a:solidFill>
            <a:prstDash val="solid"/>
          </a:ln>
        </p:spPr>
      </p:sp>
      <p:sp>
        <p:nvSpPr>
          <p:cNvPr id="12" name="Text 10"/>
          <p:cNvSpPr/>
          <p:nvPr/>
        </p:nvSpPr>
        <p:spPr>
          <a:xfrm>
            <a:off x="6556248" y="2011680"/>
            <a:ext cx="4572000" cy="256032"/>
          </a:xfrm>
          <a:prstGeom prst="rect">
            <a:avLst/>
          </a:prstGeom>
          <a:noFill/>
          <a:ln/>
        </p:spPr>
        <p:txBody>
          <a:bodyPr wrap="square" lIns="0" tIns="0" rIns="0" bIns="0" rtlCol="0" anchor="t"/>
          <a:lstStyle/>
          <a:p>
            <a:pPr indent="0" marL="0">
              <a:buNone/>
            </a:pPr>
            <a:r>
              <a:rPr lang="en-US" sz="1150" b="1" dirty="0">
                <a:solidFill>
                  <a:srgbClr val="A87C4F"/>
                </a:solidFill>
                <a:latin typeface="Calibri" pitchFamily="34" charset="0"/>
                <a:ea typeface="Calibri" pitchFamily="34" charset="-122"/>
                <a:cs typeface="Calibri" pitchFamily="34" charset="-120"/>
              </a:rPr>
              <a:t>Funciona si…</a:t>
            </a:r>
            <a:endParaRPr lang="en-US" sz="1150" dirty="0"/>
          </a:p>
        </p:txBody>
      </p:sp>
      <p:sp>
        <p:nvSpPr>
          <p:cNvPr id="13" name="Text 11"/>
          <p:cNvSpPr/>
          <p:nvPr/>
        </p:nvSpPr>
        <p:spPr>
          <a:xfrm>
            <a:off x="6556248" y="2322576"/>
            <a:ext cx="4572000" cy="68580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…la respuesta trae roles, tribunales, fechas y enlaces concretos.</a:t>
            </a:r>
            <a:endParaRPr lang="en-US" sz="1100" dirty="0"/>
          </a:p>
        </p:txBody>
      </p:sp>
      <p:sp>
        <p:nvSpPr>
          <p:cNvPr id="14" name="Shape 12"/>
          <p:cNvSpPr/>
          <p:nvPr/>
        </p:nvSpPr>
        <p:spPr>
          <a:xfrm>
            <a:off x="6263640" y="3310128"/>
            <a:ext cx="5148072" cy="1371600"/>
          </a:xfrm>
          <a:prstGeom prst="roundRect">
            <a:avLst>
              <a:gd name="adj" fmla="val 4000"/>
            </a:avLst>
          </a:prstGeom>
          <a:solidFill>
            <a:srgbClr val="FFFFFF"/>
          </a:solidFill>
          <a:ln w="9525">
            <a:solidFill>
              <a:srgbClr val="E3DED3"/>
            </a:solidFill>
            <a:prstDash val="solid"/>
          </a:ln>
        </p:spPr>
      </p:sp>
      <p:sp>
        <p:nvSpPr>
          <p:cNvPr id="15" name="Text 13"/>
          <p:cNvSpPr/>
          <p:nvPr/>
        </p:nvSpPr>
        <p:spPr>
          <a:xfrm>
            <a:off x="6556248" y="3511296"/>
            <a:ext cx="4572000" cy="256032"/>
          </a:xfrm>
          <a:prstGeom prst="rect">
            <a:avLst/>
          </a:prstGeom>
          <a:noFill/>
          <a:ln/>
        </p:spPr>
        <p:txBody>
          <a:bodyPr wrap="square" lIns="0" tIns="0" rIns="0" bIns="0" rtlCol="0" anchor="t"/>
          <a:lstStyle/>
          <a:p>
            <a:pPr indent="0" marL="0">
              <a:buNone/>
            </a:pPr>
            <a:r>
              <a:rPr lang="en-US" sz="1150" b="1" dirty="0">
                <a:solidFill>
                  <a:srgbClr val="6B2C33"/>
                </a:solidFill>
                <a:latin typeface="Calibri" pitchFamily="34" charset="0"/>
                <a:ea typeface="Calibri" pitchFamily="34" charset="-122"/>
                <a:cs typeface="Calibri" pitchFamily="34" charset="-120"/>
              </a:rPr>
              <a:t>No funciona si…</a:t>
            </a:r>
            <a:endParaRPr lang="en-US" sz="1150" dirty="0"/>
          </a:p>
        </p:txBody>
      </p:sp>
      <p:sp>
        <p:nvSpPr>
          <p:cNvPr id="16" name="Text 14"/>
          <p:cNvSpPr/>
          <p:nvPr/>
        </p:nvSpPr>
        <p:spPr>
          <a:xfrm>
            <a:off x="6556248" y="3822192"/>
            <a:ext cx="4572000" cy="7315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…explica en general qué es la nulidad del despido sin citar ni un fallo. Casi siempre es que Claude no se cerró del todo.</a:t>
            </a:r>
            <a:endParaRPr lang="en-US" sz="1100" dirty="0"/>
          </a:p>
        </p:txBody>
      </p:sp>
      <p:sp>
        <p:nvSpPr>
          <p:cNvPr id="17" name="Text 15"/>
          <p:cNvSpPr/>
          <p:nvPr/>
        </p:nvSpPr>
        <p:spPr>
          <a:xfrm>
            <a:off x="6263640" y="4937760"/>
            <a:ext cx="5148072" cy="2743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También se puede comprobar desde la terminal:</a:t>
            </a:r>
            <a:endParaRPr lang="en-US" sz="1100" dirty="0"/>
          </a:p>
        </p:txBody>
      </p:sp>
      <p:sp>
        <p:nvSpPr>
          <p:cNvPr id="18" name="Shape 16"/>
          <p:cNvSpPr/>
          <p:nvPr/>
        </p:nvSpPr>
        <p:spPr>
          <a:xfrm>
            <a:off x="6263640" y="5230368"/>
            <a:ext cx="5148072" cy="475488"/>
          </a:xfrm>
          <a:prstGeom prst="roundRect">
            <a:avLst>
              <a:gd name="adj" fmla="val 9615"/>
            </a:avLst>
          </a:prstGeom>
          <a:solidFill>
            <a:srgbClr val="1B2230"/>
          </a:solidFill>
          <a:ln/>
        </p:spPr>
      </p:sp>
      <p:sp>
        <p:nvSpPr>
          <p:cNvPr id="19" name="Text 17"/>
          <p:cNvSpPr/>
          <p:nvPr/>
        </p:nvSpPr>
        <p:spPr>
          <a:xfrm>
            <a:off x="6464808" y="5230368"/>
            <a:ext cx="4745736" cy="47548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~/Responsa  &amp;&amp;  npm run salud</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Si algo no resulta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Los cuatro casos que aparecen de verdad</a:t>
            </a:r>
            <a:endParaRPr lang="en-US" sz="1350" dirty="0"/>
          </a:p>
        </p:txBody>
      </p:sp>
      <p:sp>
        <p:nvSpPr>
          <p:cNvPr id="4" name="Shape 2"/>
          <p:cNvSpPr/>
          <p:nvPr/>
        </p:nvSpPr>
        <p:spPr>
          <a:xfrm>
            <a:off x="777240" y="1938528"/>
            <a:ext cx="329184" cy="329184"/>
          </a:xfrm>
          <a:prstGeom prst="ellipse">
            <a:avLst/>
          </a:prstGeom>
          <a:solidFill>
            <a:srgbClr val="A87C4F"/>
          </a:solidFill>
          <a:ln/>
        </p:spPr>
      </p:sp>
      <p:sp>
        <p:nvSpPr>
          <p:cNvPr id="5" name="Text 3"/>
          <p:cNvSpPr/>
          <p:nvPr/>
        </p:nvSpPr>
        <p:spPr>
          <a:xfrm>
            <a:off x="777240" y="1938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71016" y="1901952"/>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Claude responde sin citar fuentes</a:t>
            </a:r>
            <a:endParaRPr lang="en-US" sz="1250" dirty="0"/>
          </a:p>
        </p:txBody>
      </p:sp>
      <p:sp>
        <p:nvSpPr>
          <p:cNvPr id="7" name="Text 5"/>
          <p:cNvSpPr/>
          <p:nvPr/>
        </p:nvSpPr>
        <p:spPr>
          <a:xfrm>
            <a:off x="5166360" y="1883664"/>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No se reinició del todo. En Windows hay que salir desde el ícono junto al reloj; en macOS con Command + Q. Si ya lo hiciste, vuelve a pegar el comando de instalación.</a:t>
            </a:r>
            <a:endParaRPr lang="en-US" sz="1100" dirty="0"/>
          </a:p>
        </p:txBody>
      </p:sp>
      <p:sp>
        <p:nvSpPr>
          <p:cNvPr id="8" name="Shape 6"/>
          <p:cNvSpPr/>
          <p:nvPr/>
        </p:nvSpPr>
        <p:spPr>
          <a:xfrm>
            <a:off x="777240" y="2926080"/>
            <a:ext cx="329184" cy="329184"/>
          </a:xfrm>
          <a:prstGeom prst="ellipse">
            <a:avLst/>
          </a:prstGeom>
          <a:solidFill>
            <a:srgbClr val="A87C4F"/>
          </a:solidFill>
          <a:ln/>
        </p:spPr>
      </p:sp>
      <p:sp>
        <p:nvSpPr>
          <p:cNvPr id="9" name="Text 7"/>
          <p:cNvSpPr/>
          <p:nvPr/>
        </p:nvSpPr>
        <p:spPr>
          <a:xfrm>
            <a:off x="777240" y="29260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71016" y="2889504"/>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«no se reconoce como un comando»</a:t>
            </a:r>
            <a:endParaRPr lang="en-US" sz="1250" dirty="0"/>
          </a:p>
        </p:txBody>
      </p:sp>
      <p:sp>
        <p:nvSpPr>
          <p:cNvPr id="11" name="Text 9"/>
          <p:cNvSpPr/>
          <p:nvPr/>
        </p:nvSpPr>
        <p:spPr>
          <a:xfrm>
            <a:off x="5166360" y="2871216"/>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terminal se abrió antes de que se instalara Node. Ciérrala, abre una nueva y pega el comando otra vez.</a:t>
            </a:r>
            <a:endParaRPr lang="en-US" sz="1100" dirty="0"/>
          </a:p>
        </p:txBody>
      </p:sp>
      <p:sp>
        <p:nvSpPr>
          <p:cNvPr id="12" name="Shape 10"/>
          <p:cNvSpPr/>
          <p:nvPr/>
        </p:nvSpPr>
        <p:spPr>
          <a:xfrm>
            <a:off x="777240" y="3913632"/>
            <a:ext cx="329184" cy="329184"/>
          </a:xfrm>
          <a:prstGeom prst="ellipse">
            <a:avLst/>
          </a:prstGeom>
          <a:solidFill>
            <a:srgbClr val="A87C4F"/>
          </a:solidFill>
          <a:ln/>
        </p:spPr>
      </p:sp>
      <p:sp>
        <p:nvSpPr>
          <p:cNvPr id="13" name="Text 11"/>
          <p:cNvSpPr/>
          <p:nvPr/>
        </p:nvSpPr>
        <p:spPr>
          <a:xfrm>
            <a:off x="777240" y="3913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71016" y="3877056"/>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«Ley Chile alcanzó su límite de servicio»</a:t>
            </a:r>
            <a:endParaRPr lang="en-US" sz="1250" dirty="0"/>
          </a:p>
        </p:txBody>
      </p:sp>
      <p:sp>
        <p:nvSpPr>
          <p:cNvPr id="15" name="Text 13"/>
          <p:cNvSpPr/>
          <p:nvPr/>
        </p:nvSpPr>
        <p:spPr>
          <a:xfrm>
            <a:off x="5166360" y="3858768"/>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Biblioteca del Congreso limita las descargas grandes. Espera un minuto; el propio comando de instalación retoma sólo lo que falta.</a:t>
            </a:r>
            <a:endParaRPr lang="en-US" sz="1100" dirty="0"/>
          </a:p>
        </p:txBody>
      </p:sp>
      <p:sp>
        <p:nvSpPr>
          <p:cNvPr id="16" name="Shape 14"/>
          <p:cNvSpPr/>
          <p:nvPr/>
        </p:nvSpPr>
        <p:spPr>
          <a:xfrm>
            <a:off x="777240" y="4901184"/>
            <a:ext cx="329184" cy="329184"/>
          </a:xfrm>
          <a:prstGeom prst="ellipse">
            <a:avLst/>
          </a:prstGeom>
          <a:solidFill>
            <a:srgbClr val="A87C4F"/>
          </a:solidFill>
          <a:ln/>
        </p:spPr>
      </p:sp>
      <p:sp>
        <p:nvSpPr>
          <p:cNvPr id="17" name="Text 15"/>
          <p:cNvSpPr/>
          <p:nvPr/>
        </p:nvSpPr>
        <p:spPr>
          <a:xfrm>
            <a:off x="777240" y="4901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71016" y="4864608"/>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Una fuente aparece caída</a:t>
            </a:r>
            <a:endParaRPr lang="en-US" sz="1250" dirty="0"/>
          </a:p>
        </p:txBody>
      </p:sp>
      <p:sp>
        <p:nvSpPr>
          <p:cNvPr id="19" name="Text 17"/>
          <p:cNvSpPr/>
          <p:nvPr/>
        </p:nvSpPr>
        <p:spPr>
          <a:xfrm>
            <a:off x="5166360" y="4846320"/>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organismos públicos y a veces se caen. No es la instalación: npm run salud dice cuál está fallando.</a:t>
            </a:r>
            <a:endParaRPr lang="en-US" sz="1100" dirty="0"/>
          </a:p>
        </p:txBody>
      </p:sp>
      <p:sp>
        <p:nvSpPr>
          <p:cNvPr id="20" name="Shape 18"/>
          <p:cNvSpPr/>
          <p:nvPr/>
        </p:nvSpPr>
        <p:spPr>
          <a:xfrm>
            <a:off x="777240" y="5870448"/>
            <a:ext cx="10634472" cy="621792"/>
          </a:xfrm>
          <a:prstGeom prst="roundRect">
            <a:avLst>
              <a:gd name="adj" fmla="val 7353"/>
            </a:avLst>
          </a:prstGeom>
          <a:solidFill>
            <a:srgbClr val="FDF7E8"/>
          </a:solidFill>
          <a:ln/>
        </p:spPr>
      </p:sp>
      <p:sp>
        <p:nvSpPr>
          <p:cNvPr id="21" name="Text 19"/>
          <p:cNvSpPr/>
          <p:nvPr/>
        </p:nvSpPr>
        <p:spPr>
          <a:xfrm>
            <a:off x="1051560" y="5870448"/>
            <a:ext cx="10058400" cy="621792"/>
          </a:xfrm>
          <a:prstGeom prst="rect">
            <a:avLst/>
          </a:prstGeom>
          <a:noFill/>
          <a:ln/>
        </p:spPr>
        <p:txBody>
          <a:bodyPr wrap="square" lIns="0" tIns="0" rIns="0" bIns="0" rtlCol="0" anchor="ctr"/>
          <a:lstStyle/>
          <a:p>
            <a:pPr indent="0" marL="0">
              <a:buNone/>
            </a:pPr>
            <a:r>
              <a:rPr lang="en-US" sz="1100" b="1" dirty="0">
                <a:solidFill>
                  <a:srgbClr val="6B2C33"/>
                </a:solidFill>
                <a:latin typeface="Calibri" pitchFamily="34" charset="0"/>
                <a:ea typeface="Calibri" pitchFamily="34" charset="-122"/>
                <a:cs typeface="Calibri" pitchFamily="34" charset="-120"/>
              </a:rPr>
              <a:t>Cuando una fuente no responde, Claude debe decirlo y no rellenar el hueco con conocimiento propio. Si alguna vez entrega citas sin haberlas consultado, no las des por buenas.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Mantención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Actualizar, comprobar que sigue en pie, y desinstalar</a:t>
            </a:r>
            <a:endParaRPr lang="en-US" sz="1350" dirty="0"/>
          </a:p>
        </p:txBody>
      </p:sp>
      <p:sp>
        <p:nvSpPr>
          <p:cNvPr id="4" name="Text 2"/>
          <p:cNvSpPr/>
          <p:nvPr/>
        </p:nvSpPr>
        <p:spPr>
          <a:xfrm>
            <a:off x="777240" y="1810512"/>
            <a:ext cx="54864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Desde la carpeta de Responsa</a:t>
            </a:r>
            <a:endParaRPr lang="en-US" sz="1250" dirty="0"/>
          </a:p>
        </p:txBody>
      </p:sp>
      <p:sp>
        <p:nvSpPr>
          <p:cNvPr id="5" name="Shape 3"/>
          <p:cNvSpPr/>
          <p:nvPr/>
        </p:nvSpPr>
        <p:spPr>
          <a:xfrm>
            <a:off x="777240" y="2194560"/>
            <a:ext cx="3017520" cy="420624"/>
          </a:xfrm>
          <a:prstGeom prst="roundRect">
            <a:avLst>
              <a:gd name="adj" fmla="val 10870"/>
            </a:avLst>
          </a:prstGeom>
          <a:solidFill>
            <a:srgbClr val="1B2230"/>
          </a:solidFill>
          <a:ln/>
        </p:spPr>
      </p:sp>
      <p:sp>
        <p:nvSpPr>
          <p:cNvPr id="6" name="Text 4"/>
          <p:cNvSpPr/>
          <p:nvPr/>
        </p:nvSpPr>
        <p:spPr>
          <a:xfrm>
            <a:off x="978408" y="2194560"/>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salud</a:t>
            </a:r>
            <a:endParaRPr lang="en-US" sz="1150" dirty="0"/>
          </a:p>
        </p:txBody>
      </p:sp>
      <p:sp>
        <p:nvSpPr>
          <p:cNvPr id="7" name="Text 5"/>
          <p:cNvSpPr/>
          <p:nvPr/>
        </p:nvSpPr>
        <p:spPr>
          <a:xfrm>
            <a:off x="3977640" y="2231136"/>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Comprueba que las diez fuentes respondan (segundos)</a:t>
            </a:r>
            <a:endParaRPr lang="en-US" sz="1000" dirty="0"/>
          </a:p>
        </p:txBody>
      </p:sp>
      <p:sp>
        <p:nvSpPr>
          <p:cNvPr id="8" name="Shape 6"/>
          <p:cNvSpPr/>
          <p:nvPr/>
        </p:nvSpPr>
        <p:spPr>
          <a:xfrm>
            <a:off x="777240" y="2944368"/>
            <a:ext cx="3017520" cy="420624"/>
          </a:xfrm>
          <a:prstGeom prst="roundRect">
            <a:avLst>
              <a:gd name="adj" fmla="val 10870"/>
            </a:avLst>
          </a:prstGeom>
          <a:solidFill>
            <a:srgbClr val="1B2230"/>
          </a:solidFill>
          <a:ln/>
        </p:spPr>
      </p:sp>
      <p:sp>
        <p:nvSpPr>
          <p:cNvPr id="9" name="Text 7"/>
          <p:cNvSpPr/>
          <p:nvPr/>
        </p:nvSpPr>
        <p:spPr>
          <a:xfrm>
            <a:off x="978408" y="2944368"/>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prueba</a:t>
            </a:r>
            <a:endParaRPr lang="en-US" sz="1150" dirty="0"/>
          </a:p>
        </p:txBody>
      </p:sp>
      <p:sp>
        <p:nvSpPr>
          <p:cNvPr id="10" name="Text 8"/>
          <p:cNvSpPr/>
          <p:nvPr/>
        </p:nvSpPr>
        <p:spPr>
          <a:xfrm>
            <a:off x="3977640" y="2980944"/>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Banco completo, 68 comprobaciones (minutos)</a:t>
            </a:r>
            <a:endParaRPr lang="en-US" sz="1000" dirty="0"/>
          </a:p>
        </p:txBody>
      </p:sp>
      <p:sp>
        <p:nvSpPr>
          <p:cNvPr id="11" name="Shape 9"/>
          <p:cNvSpPr/>
          <p:nvPr/>
        </p:nvSpPr>
        <p:spPr>
          <a:xfrm>
            <a:off x="777240" y="3694176"/>
            <a:ext cx="3017520" cy="420624"/>
          </a:xfrm>
          <a:prstGeom prst="roundRect">
            <a:avLst>
              <a:gd name="adj" fmla="val 10870"/>
            </a:avLst>
          </a:prstGeom>
          <a:solidFill>
            <a:srgbClr val="1B2230"/>
          </a:solidFill>
          <a:ln/>
        </p:spPr>
      </p:sp>
      <p:sp>
        <p:nvSpPr>
          <p:cNvPr id="12" name="Text 10"/>
          <p:cNvSpPr/>
          <p:nvPr/>
        </p:nvSpPr>
        <p:spPr>
          <a:xfrm>
            <a:off x="978408" y="3694176"/>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auditoria</a:t>
            </a:r>
            <a:endParaRPr lang="en-US" sz="1150" dirty="0"/>
          </a:p>
        </p:txBody>
      </p:sp>
      <p:sp>
        <p:nvSpPr>
          <p:cNvPr id="13" name="Text 11"/>
          <p:cNvSpPr/>
          <p:nvPr/>
        </p:nvSpPr>
        <p:spPr>
          <a:xfrm>
            <a:off x="3977640" y="3730752"/>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Verifica que los datos del código sigan siendo ciertos</a:t>
            </a:r>
            <a:endParaRPr lang="en-US" sz="1000" dirty="0"/>
          </a:p>
        </p:txBody>
      </p:sp>
      <p:sp>
        <p:nvSpPr>
          <p:cNvPr id="14" name="Shape 12"/>
          <p:cNvSpPr/>
          <p:nvPr/>
        </p:nvSpPr>
        <p:spPr>
          <a:xfrm>
            <a:off x="777240" y="4443984"/>
            <a:ext cx="3017520" cy="420624"/>
          </a:xfrm>
          <a:prstGeom prst="roundRect">
            <a:avLst>
              <a:gd name="adj" fmla="val 10870"/>
            </a:avLst>
          </a:prstGeom>
          <a:solidFill>
            <a:srgbClr val="1B2230"/>
          </a:solidFill>
          <a:ln/>
        </p:spPr>
      </p:sp>
      <p:sp>
        <p:nvSpPr>
          <p:cNvPr id="15" name="Text 13"/>
          <p:cNvSpPr/>
          <p:nvPr/>
        </p:nvSpPr>
        <p:spPr>
          <a:xfrm>
            <a:off x="978408" y="4443984"/>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precargar</a:t>
            </a:r>
            <a:endParaRPr lang="en-US" sz="1150" dirty="0"/>
          </a:p>
        </p:txBody>
      </p:sp>
      <p:sp>
        <p:nvSpPr>
          <p:cNvPr id="16" name="Text 14"/>
          <p:cNvSpPr/>
          <p:nvPr/>
        </p:nvSpPr>
        <p:spPr>
          <a:xfrm>
            <a:off x="3977640" y="4480560"/>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Reintenta la precarga de códigos y leyes</a:t>
            </a:r>
            <a:endParaRPr lang="en-US" sz="1000" dirty="0"/>
          </a:p>
        </p:txBody>
      </p:sp>
      <p:sp>
        <p:nvSpPr>
          <p:cNvPr id="17" name="Text 15"/>
          <p:cNvSpPr/>
          <p:nvPr/>
        </p:nvSpPr>
        <p:spPr>
          <a:xfrm>
            <a:off x="777240" y="5321808"/>
            <a:ext cx="5486400" cy="365760"/>
          </a:xfrm>
          <a:prstGeom prst="rect">
            <a:avLst/>
          </a:prstGeom>
          <a:noFill/>
          <a:ln/>
        </p:spPr>
        <p:txBody>
          <a:bodyPr wrap="square" lIns="0" tIns="0" rIns="0" bIns="0" rtlCol="0" anchor="t"/>
          <a:lstStyle/>
          <a:p>
            <a:pPr indent="0" marL="0">
              <a:buNone/>
            </a:pPr>
            <a:r>
              <a:rPr lang="en-US" sz="1100" i="1" dirty="0">
                <a:solidFill>
                  <a:srgbClr val="5A6478"/>
                </a:solidFill>
                <a:latin typeface="Calibri" pitchFamily="34" charset="0"/>
                <a:ea typeface="Calibri" pitchFamily="34" charset="-122"/>
                <a:cs typeface="Calibri" pitchFamily="34" charset="-120"/>
              </a:rPr>
              <a:t>Para actualizar, se vuelve a pegar el mismo comando de instalación.</a:t>
            </a:r>
            <a:endParaRPr lang="en-US" sz="1100" dirty="0"/>
          </a:p>
        </p:txBody>
      </p:sp>
      <p:sp>
        <p:nvSpPr>
          <p:cNvPr id="18" name="Shape 16"/>
          <p:cNvSpPr/>
          <p:nvPr/>
        </p:nvSpPr>
        <p:spPr>
          <a:xfrm>
            <a:off x="6675120" y="1810512"/>
            <a:ext cx="4736592" cy="1920240"/>
          </a:xfrm>
          <a:prstGeom prst="roundRect">
            <a:avLst>
              <a:gd name="adj" fmla="val 2857"/>
            </a:avLst>
          </a:prstGeom>
          <a:solidFill>
            <a:srgbClr val="1B2230"/>
          </a:solidFill>
          <a:ln/>
        </p:spPr>
      </p:sp>
      <p:sp>
        <p:nvSpPr>
          <p:cNvPr id="19" name="Text 17"/>
          <p:cNvSpPr/>
          <p:nvPr/>
        </p:nvSpPr>
        <p:spPr>
          <a:xfrm>
            <a:off x="6995160" y="2048256"/>
            <a:ext cx="4114800" cy="274320"/>
          </a:xfrm>
          <a:prstGeom prst="rect">
            <a:avLst/>
          </a:prstGeom>
          <a:noFill/>
          <a:ln/>
        </p:spPr>
        <p:txBody>
          <a:bodyPr wrap="square" lIns="0" tIns="0" rIns="0" bIns="0" rtlCol="0" anchor="t"/>
          <a:lstStyle/>
          <a:p>
            <a:pPr indent="0" marL="0">
              <a:buNone/>
            </a:pPr>
            <a:r>
              <a:rPr lang="en-US" sz="1100" spc="120" kern="0" dirty="0">
                <a:solidFill>
                  <a:srgbClr val="C9A574"/>
                </a:solidFill>
                <a:latin typeface="Calibri" pitchFamily="34" charset="0"/>
                <a:ea typeface="Calibri" pitchFamily="34" charset="-122"/>
                <a:cs typeface="Calibri" pitchFamily="34" charset="-120"/>
              </a:rPr>
              <a:t>Por qué existe la auditoría</a:t>
            </a:r>
            <a:endParaRPr lang="en-US" sz="1100" dirty="0"/>
          </a:p>
        </p:txBody>
      </p:sp>
      <p:sp>
        <p:nvSpPr>
          <p:cNvPr id="20" name="Text 18"/>
          <p:cNvSpPr/>
          <p:nvPr/>
        </p:nvSpPr>
        <p:spPr>
          <a:xfrm>
            <a:off x="6995160" y="2377440"/>
            <a:ext cx="4114800" cy="9144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Comprueba contra las fuentes reales que cada identificador de norma apunte a la norma que dice, que los códigos de corte sean los correctos y que cada revista sea la declarada.</a:t>
            </a:r>
            <a:endParaRPr lang="en-US" sz="1100" dirty="0"/>
          </a:p>
        </p:txBody>
      </p:sp>
      <p:sp>
        <p:nvSpPr>
          <p:cNvPr id="21" name="Text 19"/>
          <p:cNvSpPr/>
          <p:nvPr/>
        </p:nvSpPr>
        <p:spPr>
          <a:xfrm>
            <a:off x="6995160" y="3255264"/>
            <a:ext cx="4114800" cy="365760"/>
          </a:xfrm>
          <a:prstGeom prst="rect">
            <a:avLst/>
          </a:prstGeom>
          <a:noFill/>
          <a:ln/>
        </p:spPr>
        <p:txBody>
          <a:bodyPr wrap="square" lIns="0" tIns="0" rIns="0" bIns="0" rtlCol="0" anchor="t"/>
          <a:lstStyle/>
          <a:p>
            <a:pPr indent="0" marL="0">
              <a:buNone/>
            </a:pPr>
            <a:r>
              <a:rPr lang="en-US" sz="1050" i="1" dirty="0">
                <a:solidFill>
                  <a:srgbClr val="C9A574"/>
                </a:solidFill>
                <a:latin typeface="Calibri" pitchFamily="34" charset="0"/>
                <a:ea typeface="Calibri" pitchFamily="34" charset="-122"/>
                <a:cs typeface="Calibri" pitchFamily="34" charset="-120"/>
              </a:rPr>
              <a:t>Es la comprobación que importa cuando se trabaja con citas.</a:t>
            </a:r>
            <a:endParaRPr lang="en-US" sz="1050" dirty="0"/>
          </a:p>
        </p:txBody>
      </p:sp>
      <p:sp>
        <p:nvSpPr>
          <p:cNvPr id="22" name="Text 20"/>
          <p:cNvSpPr/>
          <p:nvPr/>
        </p:nvSpPr>
        <p:spPr>
          <a:xfrm>
            <a:off x="6675120" y="3950208"/>
            <a:ext cx="45720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Desinstalar</a:t>
            </a:r>
            <a:endParaRPr lang="en-US" sz="1250" dirty="0"/>
          </a:p>
        </p:txBody>
      </p:sp>
      <p:sp>
        <p:nvSpPr>
          <p:cNvPr id="23" name="Text 21"/>
          <p:cNvSpPr/>
          <p:nvPr/>
        </p:nvSpPr>
        <p:spPr>
          <a:xfrm>
            <a:off x="6675120" y="4297680"/>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1.  Borrar la entrada "responsa" de la configuración de Claude Desktop</a:t>
            </a:r>
            <a:endParaRPr lang="en-US" sz="1050" dirty="0"/>
          </a:p>
        </p:txBody>
      </p:sp>
      <p:sp>
        <p:nvSpPr>
          <p:cNvPr id="24" name="Text 22"/>
          <p:cNvSpPr/>
          <p:nvPr/>
        </p:nvSpPr>
        <p:spPr>
          <a:xfrm>
            <a:off x="6675120" y="4681728"/>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2.  Borrar la carpeta ~/.claude/skills/responsa</a:t>
            </a:r>
            <a:endParaRPr lang="en-US" sz="1050" dirty="0"/>
          </a:p>
        </p:txBody>
      </p:sp>
      <p:sp>
        <p:nvSpPr>
          <p:cNvPr id="25" name="Text 23"/>
          <p:cNvSpPr/>
          <p:nvPr/>
        </p:nvSpPr>
        <p:spPr>
          <a:xfrm>
            <a:off x="6675120" y="5065776"/>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3.  Borrar la carpeta ~/.responsa (los datos guardados)</a:t>
            </a:r>
            <a:endParaRPr lang="en-US" sz="1050" dirty="0"/>
          </a:p>
        </p:txBody>
      </p:sp>
      <p:sp>
        <p:nvSpPr>
          <p:cNvPr id="26" name="Text 24"/>
          <p:cNvSpPr/>
          <p:nvPr/>
        </p:nvSpPr>
        <p:spPr>
          <a:xfrm>
            <a:off x="6675120" y="5449824"/>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4.  Borrar la carpeta Responsa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2148840"/>
            <a:ext cx="6400800" cy="868680"/>
          </a:xfrm>
          <a:prstGeom prst="rect">
            <a:avLst/>
          </a:prstGeom>
          <a:noFill/>
          <a:ln/>
        </p:spPr>
        <p:txBody>
          <a:bodyPr wrap="square" lIns="0" tIns="0" rIns="0" bIns="0" rtlCol="0" anchor="ctr"/>
          <a:lstStyle/>
          <a:p>
            <a:pPr indent="0" marL="0">
              <a:buNone/>
            </a:pPr>
            <a:r>
              <a:rPr lang="en-US" sz="5400" b="1" spc="400" kern="0" dirty="0">
                <a:solidFill>
                  <a:srgbClr val="1B2230"/>
                </a:solidFill>
                <a:latin typeface="Cambria" pitchFamily="34" charset="0"/>
                <a:ea typeface="Cambria" pitchFamily="34" charset="-122"/>
                <a:cs typeface="Cambria" pitchFamily="34" charset="-120"/>
              </a:rPr>
              <a:t>RESPONSA</a:t>
            </a:r>
            <a:endParaRPr lang="en-US" sz="5400" dirty="0"/>
          </a:p>
        </p:txBody>
      </p:sp>
      <p:sp>
        <p:nvSpPr>
          <p:cNvPr id="3" name="Text 1"/>
          <p:cNvSpPr/>
          <p:nvPr/>
        </p:nvSpPr>
        <p:spPr>
          <a:xfrm>
            <a:off x="777240" y="3090672"/>
            <a:ext cx="6400800" cy="457200"/>
          </a:xfrm>
          <a:prstGeom prst="rect">
            <a:avLst/>
          </a:prstGeom>
          <a:noFill/>
          <a:ln/>
        </p:spPr>
        <p:txBody>
          <a:bodyPr wrap="square" lIns="0" tIns="0" rIns="0" bIns="0" rtlCol="0" anchor="ctr"/>
          <a:lstStyle/>
          <a:p>
            <a:pPr indent="0" marL="0">
              <a:buNone/>
            </a:pPr>
            <a:r>
              <a:rPr lang="en-US" sz="2100" i="1" dirty="0">
                <a:solidFill>
                  <a:srgbClr val="A87C4F"/>
                </a:solidFill>
                <a:latin typeface="Cambria" pitchFamily="34" charset="0"/>
                <a:ea typeface="Cambria" pitchFamily="34" charset="-122"/>
                <a:cs typeface="Cambria" pitchFamily="34" charset="-120"/>
              </a:rPr>
              <a:t>Responder con fundamento verificable.</a:t>
            </a:r>
            <a:endParaRPr lang="en-US" sz="2100" dirty="0"/>
          </a:p>
        </p:txBody>
      </p:sp>
      <p:sp>
        <p:nvSpPr>
          <p:cNvPr id="4" name="Text 2"/>
          <p:cNvSpPr/>
          <p:nvPr/>
        </p:nvSpPr>
        <p:spPr>
          <a:xfrm>
            <a:off x="777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10</a:t>
            </a:r>
            <a:endParaRPr lang="en-US" sz="5200" dirty="0"/>
          </a:p>
        </p:txBody>
      </p:sp>
      <p:sp>
        <p:nvSpPr>
          <p:cNvPr id="5" name="Text 3"/>
          <p:cNvSpPr/>
          <p:nvPr/>
        </p:nvSpPr>
        <p:spPr>
          <a:xfrm>
            <a:off x="777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fuentes oficiales</a:t>
            </a:r>
            <a:endParaRPr lang="en-US" sz="1150" dirty="0"/>
          </a:p>
        </p:txBody>
      </p:sp>
      <p:sp>
        <p:nvSpPr>
          <p:cNvPr id="6" name="Text 4"/>
          <p:cNvSpPr/>
          <p:nvPr/>
        </p:nvSpPr>
        <p:spPr>
          <a:xfrm>
            <a:off x="3063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20</a:t>
            </a:r>
            <a:endParaRPr lang="en-US" sz="5200" dirty="0"/>
          </a:p>
        </p:txBody>
      </p:sp>
      <p:sp>
        <p:nvSpPr>
          <p:cNvPr id="7" name="Text 5"/>
          <p:cNvSpPr/>
          <p:nvPr/>
        </p:nvSpPr>
        <p:spPr>
          <a:xfrm>
            <a:off x="3063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herramientas</a:t>
            </a:r>
            <a:endParaRPr lang="en-US" sz="1150" dirty="0"/>
          </a:p>
        </p:txBody>
      </p:sp>
      <p:sp>
        <p:nvSpPr>
          <p:cNvPr id="8" name="Text 6"/>
          <p:cNvSpPr/>
          <p:nvPr/>
        </p:nvSpPr>
        <p:spPr>
          <a:xfrm>
            <a:off x="5349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0</a:t>
            </a:r>
            <a:endParaRPr lang="en-US" sz="5200" dirty="0"/>
          </a:p>
        </p:txBody>
      </p:sp>
      <p:sp>
        <p:nvSpPr>
          <p:cNvPr id="9" name="Text 7"/>
          <p:cNvSpPr/>
          <p:nvPr/>
        </p:nvSpPr>
        <p:spPr>
          <a:xfrm>
            <a:off x="5349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bases de suscripción</a:t>
            </a:r>
            <a:endParaRPr lang="en-US" sz="1150" dirty="0"/>
          </a:p>
        </p:txBody>
      </p:sp>
      <p:sp>
        <p:nvSpPr>
          <p:cNvPr id="10" name="Shape 8"/>
          <p:cNvSpPr/>
          <p:nvPr/>
        </p:nvSpPr>
        <p:spPr>
          <a:xfrm>
            <a:off x="7498080" y="2148840"/>
            <a:ext cx="3913632" cy="3200400"/>
          </a:xfrm>
          <a:prstGeom prst="roundRect">
            <a:avLst>
              <a:gd name="adj" fmla="val 1714"/>
            </a:avLst>
          </a:prstGeom>
          <a:solidFill>
            <a:srgbClr val="1B2230"/>
          </a:solidFill>
          <a:ln/>
        </p:spPr>
      </p:sp>
      <p:sp>
        <p:nvSpPr>
          <p:cNvPr id="11" name="Text 9"/>
          <p:cNvSpPr/>
          <p:nvPr/>
        </p:nvSpPr>
        <p:spPr>
          <a:xfrm>
            <a:off x="7863840" y="2487168"/>
            <a:ext cx="320040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Creado por</a:t>
            </a:r>
            <a:endParaRPr lang="en-US" sz="1050" dirty="0"/>
          </a:p>
        </p:txBody>
      </p:sp>
      <p:sp>
        <p:nvSpPr>
          <p:cNvPr id="12" name="Text 10"/>
          <p:cNvSpPr/>
          <p:nvPr/>
        </p:nvSpPr>
        <p:spPr>
          <a:xfrm>
            <a:off x="7863840" y="2779776"/>
            <a:ext cx="3291840" cy="41148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Joaquín Larraín Guimoye</a:t>
            </a:r>
            <a:endParaRPr lang="en-US" sz="2100" dirty="0"/>
          </a:p>
        </p:txBody>
      </p:sp>
      <p:sp>
        <p:nvSpPr>
          <p:cNvPr id="13" name="Text 11"/>
          <p:cNvSpPr/>
          <p:nvPr/>
        </p:nvSpPr>
        <p:spPr>
          <a:xfrm>
            <a:off x="7863840" y="3401568"/>
            <a:ext cx="3200400" cy="1005840"/>
          </a:xfrm>
          <a:prstGeom prst="rect">
            <a:avLst/>
          </a:prstGeom>
          <a:noFill/>
          <a:ln/>
        </p:spPr>
        <p:txBody>
          <a:bodyPr wrap="square" lIns="0" tIns="0" rIns="0" bIns="0" rtlCol="0" anchor="t"/>
          <a:lstStyle/>
          <a:p>
            <a:pPr indent="0" marL="0">
              <a:buNone/>
            </a:pPr>
            <a:r>
              <a:rPr lang="en-US" sz="1100" dirty="0">
                <a:solidFill>
                  <a:srgbClr val="8A93A5"/>
                </a:solidFill>
                <a:latin typeface="Calibri" pitchFamily="34" charset="0"/>
                <a:ea typeface="Calibri" pitchFamily="34" charset="-122"/>
                <a:cs typeface="Calibri" pitchFamily="34" charset="-120"/>
              </a:rPr>
              <a:t>Todas las fuentes son públicas y gratuitas. La herramienta se puede compartir sin comprometer licencias de nadie.</a:t>
            </a:r>
            <a:endParaRPr lang="en-US" sz="1100" dirty="0"/>
          </a:p>
        </p:txBody>
      </p:sp>
      <p:sp>
        <p:nvSpPr>
          <p:cNvPr id="14" name="Shape 12"/>
          <p:cNvSpPr/>
          <p:nvPr/>
        </p:nvSpPr>
        <p:spPr>
          <a:xfrm>
            <a:off x="7863840" y="4498848"/>
            <a:ext cx="566928" cy="566928"/>
          </a:xfrm>
          <a:prstGeom prst="ellipse">
            <a:avLst/>
          </a:prstGeom>
          <a:solidFill>
            <a:srgbClr val="A87C4F"/>
          </a:solidFill>
          <a:ln/>
        </p:spPr>
      </p:sp>
      <p:sp>
        <p:nvSpPr>
          <p:cNvPr id="15" name="Text 13"/>
          <p:cNvSpPr/>
          <p:nvPr/>
        </p:nvSpPr>
        <p:spPr>
          <a:xfrm>
            <a:off x="7863840" y="4498848"/>
            <a:ext cx="566928" cy="566928"/>
          </a:xfrm>
          <a:prstGeom prst="rect">
            <a:avLst/>
          </a:prstGeom>
          <a:noFill/>
          <a:ln/>
        </p:spPr>
        <p:txBody>
          <a:bodyPr wrap="square" lIns="0" tIns="0" rIns="0" bIns="0" rtlCol="0" anchor="ctr"/>
          <a:lstStyle/>
          <a:p>
            <a:pPr algn="ctr" indent="0" marL="0">
              <a:buNone/>
            </a:pPr>
            <a:r>
              <a:rPr lang="en-US" sz="2500" b="1" dirty="0">
                <a:solidFill>
                  <a:srgbClr val="1B2230"/>
                </a:solidFill>
                <a:latin typeface="Cambria" pitchFamily="34" charset="0"/>
                <a:ea typeface="Cambria" pitchFamily="34" charset="-122"/>
                <a:cs typeface="Cambria" pitchFamily="34" charset="-120"/>
              </a:rPr>
              <a:t>R</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Responsa</dc:title>
  <dc:subject>Fuentes jurídicas chilenas verificables</dc:subject>
  <dc:creator>Joaquín Larraín Guimoye</dc:creator>
  <cp:lastModifiedBy>Joaquín Larraín Guimoye</cp:lastModifiedBy>
  <cp:revision>1</cp:revision>
  <dcterms:created xsi:type="dcterms:W3CDTF">2026-08-15T21:32:33Z</dcterms:created>
  <dcterms:modified xsi:type="dcterms:W3CDTF">2026-08-15T21:32:33Z</dcterms:modified>
</cp:coreProperties>
</file>