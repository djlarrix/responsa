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B2230"/>
        </a:solidFill>
      </p:bgPr>
    </p:bg>
    <p:spTree>
      <p:nvGrpSpPr>
        <p:cNvPr id="1" name=""/>
        <p:cNvGrpSpPr/>
        <p:nvPr/>
      </p:nvGrpSpPr>
      <p:grpSpPr>
        <a:xfrm>
          <a:off x="0" y="0"/>
          <a:ext cx="0" cy="0"/>
          <a:chOff x="0" y="0"/>
          <a:chExt cx="0" cy="0"/>
        </a:xfrm>
      </p:grpSpPr>
      <p:sp>
        <p:nvSpPr>
          <p:cNvPr id="2" name="Text 0"/>
          <p:cNvSpPr/>
          <p:nvPr/>
        </p:nvSpPr>
        <p:spPr>
          <a:xfrm>
            <a:off x="777240" y="2121408"/>
            <a:ext cx="8412480" cy="1234440"/>
          </a:xfrm>
          <a:prstGeom prst="rect">
            <a:avLst/>
          </a:prstGeom>
          <a:noFill/>
          <a:ln/>
        </p:spPr>
        <p:txBody>
          <a:bodyPr wrap="square" lIns="0" tIns="0" rIns="0" bIns="0" rtlCol="0" anchor="ctr"/>
          <a:lstStyle/>
          <a:p>
            <a:pPr indent="0" marL="0">
              <a:buNone/>
            </a:pPr>
            <a:r>
              <a:rPr lang="en-US" sz="7600" b="1" spc="600" kern="0" dirty="0">
                <a:solidFill>
                  <a:srgbClr val="FFFFFF"/>
                </a:solidFill>
                <a:latin typeface="Cambria" pitchFamily="34" charset="0"/>
                <a:ea typeface="Cambria" pitchFamily="34" charset="-122"/>
                <a:cs typeface="Cambria" pitchFamily="34" charset="-120"/>
              </a:rPr>
              <a:t>RESPONSA</a:t>
            </a:r>
            <a:endParaRPr lang="en-US" sz="7600" dirty="0"/>
          </a:p>
        </p:txBody>
      </p:sp>
      <p:sp>
        <p:nvSpPr>
          <p:cNvPr id="3" name="Text 1"/>
          <p:cNvSpPr/>
          <p:nvPr/>
        </p:nvSpPr>
        <p:spPr>
          <a:xfrm>
            <a:off x="777240" y="3401568"/>
            <a:ext cx="8412480" cy="411480"/>
          </a:xfrm>
          <a:prstGeom prst="rect">
            <a:avLst/>
          </a:prstGeom>
          <a:noFill/>
          <a:ln/>
        </p:spPr>
        <p:txBody>
          <a:bodyPr wrap="square" lIns="0" tIns="0" rIns="0" bIns="0" rtlCol="0" anchor="ctr"/>
          <a:lstStyle/>
          <a:p>
            <a:pPr indent="0" marL="0">
              <a:buNone/>
            </a:pPr>
            <a:r>
              <a:rPr lang="en-US" sz="1900" dirty="0">
                <a:solidFill>
                  <a:srgbClr val="C9A574"/>
                </a:solidFill>
                <a:latin typeface="Calibri" pitchFamily="34" charset="0"/>
                <a:ea typeface="Calibri" pitchFamily="34" charset="-122"/>
                <a:cs typeface="Calibri" pitchFamily="34" charset="-120"/>
              </a:rPr>
              <a:t>Fuentes jurídicas chilenas verificables para Claude</a:t>
            </a:r>
            <a:endParaRPr lang="en-US" sz="1900" dirty="0"/>
          </a:p>
        </p:txBody>
      </p:sp>
      <p:sp>
        <p:nvSpPr>
          <p:cNvPr id="4" name="Text 2"/>
          <p:cNvSpPr/>
          <p:nvPr/>
        </p:nvSpPr>
        <p:spPr>
          <a:xfrm>
            <a:off x="777240" y="3968496"/>
            <a:ext cx="8778240" cy="329184"/>
          </a:xfrm>
          <a:prstGeom prst="rect">
            <a:avLst/>
          </a:prstGeom>
          <a:noFill/>
          <a:ln/>
        </p:spPr>
        <p:txBody>
          <a:bodyPr wrap="square" lIns="0" tIns="0" rIns="0" bIns="0" rtlCol="0" anchor="ctr"/>
          <a:lstStyle/>
          <a:p>
            <a:pPr indent="0" marL="0">
              <a:buNone/>
            </a:pPr>
            <a:r>
              <a:rPr lang="en-US" sz="1300" dirty="0">
                <a:solidFill>
                  <a:srgbClr val="8A93A5"/>
                </a:solidFill>
                <a:latin typeface="Calibri" pitchFamily="34" charset="0"/>
                <a:ea typeface="Calibri" pitchFamily="34" charset="-122"/>
                <a:cs typeface="Calibri" pitchFamily="34" charset="-120"/>
              </a:rPr>
              <a:t>Jurisprudencia · Legislación · Dictámenes · Arbitraje · Doctrina · Estadísticas</a:t>
            </a:r>
            <a:endParaRPr lang="en-US" sz="1300" dirty="0"/>
          </a:p>
        </p:txBody>
      </p:sp>
      <p:sp>
        <p:nvSpPr>
          <p:cNvPr id="5" name="Text 3"/>
          <p:cNvSpPr/>
          <p:nvPr/>
        </p:nvSpPr>
        <p:spPr>
          <a:xfrm>
            <a:off x="777240" y="5230368"/>
            <a:ext cx="2743200" cy="237744"/>
          </a:xfrm>
          <a:prstGeom prst="rect">
            <a:avLst/>
          </a:prstGeom>
          <a:noFill/>
          <a:ln/>
        </p:spPr>
        <p:txBody>
          <a:bodyPr wrap="square" lIns="0" tIns="0" rIns="0" bIns="0" rtlCol="0" anchor="ctr"/>
          <a:lstStyle/>
          <a:p>
            <a:pPr indent="0" marL="0">
              <a:buNone/>
            </a:pPr>
            <a:r>
              <a:rPr lang="en-US" sz="1100" spc="150" kern="0" dirty="0">
                <a:solidFill>
                  <a:srgbClr val="5A6478"/>
                </a:solidFill>
                <a:latin typeface="Calibri" pitchFamily="34" charset="0"/>
                <a:ea typeface="Calibri" pitchFamily="34" charset="-122"/>
                <a:cs typeface="Calibri" pitchFamily="34" charset="-120"/>
              </a:rPr>
              <a:t>Creado por</a:t>
            </a:r>
            <a:endParaRPr lang="en-US" sz="1100" dirty="0"/>
          </a:p>
        </p:txBody>
      </p:sp>
      <p:sp>
        <p:nvSpPr>
          <p:cNvPr id="6" name="Text 4"/>
          <p:cNvSpPr/>
          <p:nvPr/>
        </p:nvSpPr>
        <p:spPr>
          <a:xfrm>
            <a:off x="777240" y="5477256"/>
            <a:ext cx="5486400" cy="384048"/>
          </a:xfrm>
          <a:prstGeom prst="rect">
            <a:avLst/>
          </a:prstGeom>
          <a:noFill/>
          <a:ln/>
        </p:spPr>
        <p:txBody>
          <a:bodyPr wrap="square" lIns="0" tIns="0" rIns="0" bIns="0" rtlCol="0" anchor="ctr"/>
          <a:lstStyle/>
          <a:p>
            <a:pPr indent="0" marL="0">
              <a:buNone/>
            </a:pPr>
            <a:r>
              <a:rPr lang="en-US" sz="1900" b="1" dirty="0">
                <a:solidFill>
                  <a:srgbClr val="FFFFFF"/>
                </a:solidFill>
                <a:latin typeface="Cambria" pitchFamily="34" charset="0"/>
                <a:ea typeface="Cambria" pitchFamily="34" charset="-122"/>
                <a:cs typeface="Cambria" pitchFamily="34" charset="-120"/>
              </a:rPr>
              <a:t>Joaquín Larraín Guimoye</a:t>
            </a:r>
            <a:endParaRPr lang="en-US" sz="1900" dirty="0"/>
          </a:p>
        </p:txBody>
      </p:sp>
      <p:sp>
        <p:nvSpPr>
          <p:cNvPr id="7" name="Text 5"/>
          <p:cNvSpPr/>
          <p:nvPr/>
        </p:nvSpPr>
        <p:spPr>
          <a:xfrm>
            <a:off x="5669280" y="658368"/>
            <a:ext cx="5852160" cy="822960"/>
          </a:xfrm>
          <a:prstGeom prst="rect">
            <a:avLst/>
          </a:prstGeom>
          <a:noFill/>
          <a:ln/>
        </p:spPr>
        <p:txBody>
          <a:bodyPr wrap="square" lIns="0" tIns="0" rIns="0" bIns="0" rtlCol="0" anchor="ctr"/>
          <a:lstStyle/>
          <a:p>
            <a:pPr algn="r" indent="0" marL="0">
              <a:buNone/>
            </a:pPr>
            <a:r>
              <a:rPr lang="en-US" sz="3000" i="1" dirty="0">
                <a:solidFill>
                  <a:srgbClr val="2A3446"/>
                </a:solidFill>
                <a:latin typeface="Cambria" pitchFamily="34" charset="0"/>
                <a:ea typeface="Cambria" pitchFamily="34" charset="-122"/>
                <a:cs typeface="Cambria" pitchFamily="34" charset="-120"/>
              </a:rPr>
              <a:t>responsa prudentium</a:t>
            </a:r>
            <a:endParaRPr lang="en-US" sz="3000" dirty="0"/>
          </a:p>
        </p:txBody>
      </p:sp>
      <p:sp>
        <p:nvSpPr>
          <p:cNvPr id="8" name="Shape 6"/>
          <p:cNvSpPr/>
          <p:nvPr/>
        </p:nvSpPr>
        <p:spPr>
          <a:xfrm>
            <a:off x="10607040" y="5349240"/>
            <a:ext cx="777240" cy="777240"/>
          </a:xfrm>
          <a:prstGeom prst="ellipse">
            <a:avLst/>
          </a:prstGeom>
          <a:solidFill>
            <a:srgbClr val="A87C4F"/>
          </a:solidFill>
          <a:ln/>
        </p:spPr>
      </p:sp>
      <p:sp>
        <p:nvSpPr>
          <p:cNvPr id="9" name="Text 7"/>
          <p:cNvSpPr/>
          <p:nvPr/>
        </p:nvSpPr>
        <p:spPr>
          <a:xfrm>
            <a:off x="10607040" y="5349240"/>
            <a:ext cx="777240" cy="777240"/>
          </a:xfrm>
          <a:prstGeom prst="rect">
            <a:avLst/>
          </a:prstGeom>
          <a:noFill/>
          <a:ln/>
        </p:spPr>
        <p:txBody>
          <a:bodyPr wrap="square" lIns="0" tIns="0" rIns="0" bIns="0" rtlCol="0" anchor="ctr"/>
          <a:lstStyle/>
          <a:p>
            <a:pPr algn="ctr" indent="0" marL="0">
              <a:buNone/>
            </a:pPr>
            <a:r>
              <a:rPr lang="en-US" sz="3400" b="1" dirty="0">
                <a:solidFill>
                  <a:srgbClr val="1B2230"/>
                </a:solidFill>
                <a:latin typeface="Cambria" pitchFamily="34" charset="0"/>
                <a:ea typeface="Cambria" pitchFamily="34" charset="-122"/>
                <a:cs typeface="Cambria" pitchFamily="34" charset="-120"/>
              </a:rPr>
              <a:t>R</a:t>
            </a:r>
            <a:endParaRPr lang="en-US" sz="3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4F1EA"/>
        </a:solidFill>
      </p:bgPr>
    </p:bg>
    <p:spTree>
      <p:nvGrpSpPr>
        <p:cNvPr id="1" name=""/>
        <p:cNvGrpSpPr/>
        <p:nvPr/>
      </p:nvGrpSpPr>
      <p:grpSpPr>
        <a:xfrm>
          <a:off x="0" y="0"/>
          <a:ext cx="0" cy="0"/>
          <a:chOff x="0" y="0"/>
          <a:chExt cx="0" cy="0"/>
        </a:xfrm>
      </p:grpSpPr>
      <p:sp>
        <p:nvSpPr>
          <p:cNvPr id="2" name="Text 0"/>
          <p:cNvSpPr/>
          <p:nvPr/>
        </p:nvSpPr>
        <p:spPr>
          <a:xfrm>
            <a:off x="777240" y="566928"/>
            <a:ext cx="10634472" cy="566928"/>
          </a:xfrm>
          <a:prstGeom prst="rect">
            <a:avLst/>
          </a:prstGeom>
          <a:noFill/>
          <a:ln/>
        </p:spPr>
        <p:txBody>
          <a:bodyPr wrap="square" lIns="0" tIns="0" rIns="0" bIns="0" rtlCol="0" anchor="ctr"/>
          <a:lstStyle/>
          <a:p>
            <a:pPr indent="0" marL="0">
              <a:buNone/>
            </a:pPr>
            <a:r>
              <a:rPr lang="en-US" sz="3200" b="1" dirty="0">
                <a:solidFill>
                  <a:srgbClr val="1B2230"/>
                </a:solidFill>
                <a:latin typeface="Cambria" pitchFamily="34" charset="0"/>
                <a:ea typeface="Cambria" pitchFamily="34" charset="-122"/>
                <a:cs typeface="Cambria" pitchFamily="34" charset="-120"/>
              </a:rPr>
              <a:t>El problema que resuelve</a:t>
            </a:r>
            <a:endParaRPr lang="en-US" sz="3200" dirty="0"/>
          </a:p>
        </p:txBody>
      </p:sp>
      <p:sp>
        <p:nvSpPr>
          <p:cNvPr id="3" name="Text 1"/>
          <p:cNvSpPr/>
          <p:nvPr/>
        </p:nvSpPr>
        <p:spPr>
          <a:xfrm>
            <a:off x="777240" y="1152144"/>
            <a:ext cx="9537192" cy="384048"/>
          </a:xfrm>
          <a:prstGeom prst="rect">
            <a:avLst/>
          </a:prstGeom>
          <a:noFill/>
          <a:ln/>
        </p:spPr>
        <p:txBody>
          <a:bodyPr wrap="square" lIns="0" tIns="0" rIns="0" bIns="0" rtlCol="0" anchor="ctr"/>
          <a:lstStyle/>
          <a:p>
            <a:pPr indent="0" marL="0">
              <a:buNone/>
            </a:pPr>
            <a:r>
              <a:rPr lang="en-US" sz="1350" i="1" dirty="0">
                <a:solidFill>
                  <a:srgbClr val="5A6478"/>
                </a:solidFill>
                <a:latin typeface="Calibri" pitchFamily="34" charset="0"/>
                <a:ea typeface="Calibri" pitchFamily="34" charset="-122"/>
                <a:cs typeface="Calibri" pitchFamily="34" charset="-120"/>
              </a:rPr>
              <a:t>Por qué no basta con preguntarle a una IA general</a:t>
            </a:r>
            <a:endParaRPr lang="en-US" sz="1350" dirty="0"/>
          </a:p>
        </p:txBody>
      </p:sp>
      <p:sp>
        <p:nvSpPr>
          <p:cNvPr id="4" name="Shape 2"/>
          <p:cNvSpPr/>
          <p:nvPr/>
        </p:nvSpPr>
        <p:spPr>
          <a:xfrm>
            <a:off x="777240" y="1901952"/>
            <a:ext cx="5989320" cy="1243584"/>
          </a:xfrm>
          <a:prstGeom prst="roundRect">
            <a:avLst>
              <a:gd name="adj" fmla="val 4412"/>
            </a:avLst>
          </a:prstGeom>
          <a:solidFill>
            <a:srgbClr val="FFFFFF"/>
          </a:solidFill>
          <a:ln w="9525">
            <a:solidFill>
              <a:srgbClr val="E3DED3"/>
            </a:solidFill>
            <a:prstDash val="solid"/>
          </a:ln>
        </p:spPr>
      </p:sp>
      <p:sp>
        <p:nvSpPr>
          <p:cNvPr id="5" name="Shape 3"/>
          <p:cNvSpPr/>
          <p:nvPr/>
        </p:nvSpPr>
        <p:spPr>
          <a:xfrm>
            <a:off x="1069848" y="2157984"/>
            <a:ext cx="384048" cy="384048"/>
          </a:xfrm>
          <a:prstGeom prst="ellipse">
            <a:avLst/>
          </a:prstGeom>
          <a:solidFill>
            <a:srgbClr val="6B2C33"/>
          </a:solidFill>
          <a:ln/>
        </p:spPr>
      </p:sp>
      <p:sp>
        <p:nvSpPr>
          <p:cNvPr id="6" name="Text 4"/>
          <p:cNvSpPr/>
          <p:nvPr/>
        </p:nvSpPr>
        <p:spPr>
          <a:xfrm>
            <a:off x="1069848" y="2157984"/>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5"/>
          <p:cNvSpPr/>
          <p:nvPr/>
        </p:nvSpPr>
        <p:spPr>
          <a:xfrm>
            <a:off x="1618488" y="2084832"/>
            <a:ext cx="4937760" cy="292608"/>
          </a:xfrm>
          <a:prstGeom prst="rect">
            <a:avLst/>
          </a:prstGeom>
          <a:noFill/>
          <a:ln/>
        </p:spPr>
        <p:txBody>
          <a:bodyPr wrap="square" lIns="0" tIns="0" rIns="0" bIns="0" rtlCol="0" anchor="ctr"/>
          <a:lstStyle/>
          <a:p>
            <a:pPr indent="0" marL="0">
              <a:buNone/>
            </a:pPr>
            <a:r>
              <a:rPr lang="en-US" sz="1450" b="1" dirty="0">
                <a:solidFill>
                  <a:srgbClr val="1B2230"/>
                </a:solidFill>
                <a:latin typeface="Calibri" pitchFamily="34" charset="0"/>
                <a:ea typeface="Calibri" pitchFamily="34" charset="-122"/>
                <a:cs typeface="Calibri" pitchFamily="34" charset="-120"/>
              </a:rPr>
              <a:t>Inventa citas que parecen reales</a:t>
            </a:r>
            <a:endParaRPr lang="en-US" sz="1450" dirty="0"/>
          </a:p>
        </p:txBody>
      </p:sp>
      <p:sp>
        <p:nvSpPr>
          <p:cNvPr id="8" name="Text 6"/>
          <p:cNvSpPr/>
          <p:nvPr/>
        </p:nvSpPr>
        <p:spPr>
          <a:xfrm>
            <a:off x="1618488" y="2404872"/>
            <a:ext cx="4937760" cy="621792"/>
          </a:xfrm>
          <a:prstGeom prst="rect">
            <a:avLst/>
          </a:prstGeom>
          <a:noFill/>
          <a:ln/>
        </p:spPr>
        <p:txBody>
          <a:bodyPr wrap="square" lIns="0" tIns="0" rIns="0" bIns="0" rtlCol="0" anchor="t"/>
          <a:lstStyle/>
          <a:p>
            <a:pPr indent="0" marL="0">
              <a:buNone/>
            </a:pPr>
            <a:r>
              <a:rPr lang="en-US" sz="1150" dirty="0">
                <a:solidFill>
                  <a:srgbClr val="5A6478"/>
                </a:solidFill>
                <a:latin typeface="Calibri" pitchFamily="34" charset="0"/>
                <a:ea typeface="Calibri" pitchFamily="34" charset="-122"/>
                <a:cs typeface="Calibri" pitchFamily="34" charset="-120"/>
              </a:rPr>
              <a:t>Un rol plausible, una carátula verosímil, un considerando que suena bien. Se parecen lo suficiente a los verdaderos para pasar desapercibidos en un escrito.</a:t>
            </a:r>
            <a:endParaRPr lang="en-US" sz="1150" dirty="0"/>
          </a:p>
        </p:txBody>
      </p:sp>
      <p:sp>
        <p:nvSpPr>
          <p:cNvPr id="9" name="Shape 7"/>
          <p:cNvSpPr/>
          <p:nvPr/>
        </p:nvSpPr>
        <p:spPr>
          <a:xfrm>
            <a:off x="777240" y="3364992"/>
            <a:ext cx="5989320" cy="1243584"/>
          </a:xfrm>
          <a:prstGeom prst="roundRect">
            <a:avLst>
              <a:gd name="adj" fmla="val 4412"/>
            </a:avLst>
          </a:prstGeom>
          <a:solidFill>
            <a:srgbClr val="FFFFFF"/>
          </a:solidFill>
          <a:ln w="9525">
            <a:solidFill>
              <a:srgbClr val="E3DED3"/>
            </a:solidFill>
            <a:prstDash val="solid"/>
          </a:ln>
        </p:spPr>
      </p:sp>
      <p:sp>
        <p:nvSpPr>
          <p:cNvPr id="10" name="Shape 8"/>
          <p:cNvSpPr/>
          <p:nvPr/>
        </p:nvSpPr>
        <p:spPr>
          <a:xfrm>
            <a:off x="1069848" y="3621024"/>
            <a:ext cx="384048" cy="384048"/>
          </a:xfrm>
          <a:prstGeom prst="ellipse">
            <a:avLst/>
          </a:prstGeom>
          <a:solidFill>
            <a:srgbClr val="6B2C33"/>
          </a:solidFill>
          <a:ln/>
        </p:spPr>
      </p:sp>
      <p:sp>
        <p:nvSpPr>
          <p:cNvPr id="11" name="Text 9"/>
          <p:cNvSpPr/>
          <p:nvPr/>
        </p:nvSpPr>
        <p:spPr>
          <a:xfrm>
            <a:off x="1069848" y="3621024"/>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2" name="Text 10"/>
          <p:cNvSpPr/>
          <p:nvPr/>
        </p:nvSpPr>
        <p:spPr>
          <a:xfrm>
            <a:off x="1618488" y="3547872"/>
            <a:ext cx="4937760" cy="292608"/>
          </a:xfrm>
          <a:prstGeom prst="rect">
            <a:avLst/>
          </a:prstGeom>
          <a:noFill/>
          <a:ln/>
        </p:spPr>
        <p:txBody>
          <a:bodyPr wrap="square" lIns="0" tIns="0" rIns="0" bIns="0" rtlCol="0" anchor="ctr"/>
          <a:lstStyle/>
          <a:p>
            <a:pPr indent="0" marL="0">
              <a:buNone/>
            </a:pPr>
            <a:r>
              <a:rPr lang="en-US" sz="1450" b="1" dirty="0">
                <a:solidFill>
                  <a:srgbClr val="1B2230"/>
                </a:solidFill>
                <a:latin typeface="Calibri" pitchFamily="34" charset="0"/>
                <a:ea typeface="Calibri" pitchFamily="34" charset="-122"/>
                <a:cs typeface="Calibri" pitchFamily="34" charset="-120"/>
              </a:rPr>
              <a:t>Cita normas derogadas</a:t>
            </a:r>
            <a:endParaRPr lang="en-US" sz="1450" dirty="0"/>
          </a:p>
        </p:txBody>
      </p:sp>
      <p:sp>
        <p:nvSpPr>
          <p:cNvPr id="13" name="Text 11"/>
          <p:cNvSpPr/>
          <p:nvPr/>
        </p:nvSpPr>
        <p:spPr>
          <a:xfrm>
            <a:off x="1618488" y="3867912"/>
            <a:ext cx="4937760" cy="621792"/>
          </a:xfrm>
          <a:prstGeom prst="rect">
            <a:avLst/>
          </a:prstGeom>
          <a:noFill/>
          <a:ln/>
        </p:spPr>
        <p:txBody>
          <a:bodyPr wrap="square" lIns="0" tIns="0" rIns="0" bIns="0" rtlCol="0" anchor="t"/>
          <a:lstStyle/>
          <a:p>
            <a:pPr indent="0" marL="0">
              <a:buNone/>
            </a:pPr>
            <a:r>
              <a:rPr lang="en-US" sz="1150" dirty="0">
                <a:solidFill>
                  <a:srgbClr val="5A6478"/>
                </a:solidFill>
                <a:latin typeface="Calibri" pitchFamily="34" charset="0"/>
                <a:ea typeface="Calibri" pitchFamily="34" charset="-122"/>
                <a:cs typeface="Calibri" pitchFamily="34" charset="-120"/>
              </a:rPr>
              <a:t>Recuerda la versión que leyó, no la vigente. En derecho eso no es un matiz: cambia el resultado.</a:t>
            </a:r>
            <a:endParaRPr lang="en-US" sz="1150" dirty="0"/>
          </a:p>
        </p:txBody>
      </p:sp>
      <p:sp>
        <p:nvSpPr>
          <p:cNvPr id="14" name="Shape 12"/>
          <p:cNvSpPr/>
          <p:nvPr/>
        </p:nvSpPr>
        <p:spPr>
          <a:xfrm>
            <a:off x="777240" y="4828032"/>
            <a:ext cx="5989320" cy="1243584"/>
          </a:xfrm>
          <a:prstGeom prst="roundRect">
            <a:avLst>
              <a:gd name="adj" fmla="val 4412"/>
            </a:avLst>
          </a:prstGeom>
          <a:solidFill>
            <a:srgbClr val="FFFFFF"/>
          </a:solidFill>
          <a:ln w="9525">
            <a:solidFill>
              <a:srgbClr val="E3DED3"/>
            </a:solidFill>
            <a:prstDash val="solid"/>
          </a:ln>
        </p:spPr>
      </p:sp>
      <p:sp>
        <p:nvSpPr>
          <p:cNvPr id="15" name="Shape 13"/>
          <p:cNvSpPr/>
          <p:nvPr/>
        </p:nvSpPr>
        <p:spPr>
          <a:xfrm>
            <a:off x="1069848" y="5084064"/>
            <a:ext cx="384048" cy="384048"/>
          </a:xfrm>
          <a:prstGeom prst="ellipse">
            <a:avLst/>
          </a:prstGeom>
          <a:solidFill>
            <a:srgbClr val="6B2C33"/>
          </a:solidFill>
          <a:ln/>
        </p:spPr>
      </p:sp>
      <p:sp>
        <p:nvSpPr>
          <p:cNvPr id="16" name="Text 14"/>
          <p:cNvSpPr/>
          <p:nvPr/>
        </p:nvSpPr>
        <p:spPr>
          <a:xfrm>
            <a:off x="1069848" y="5084064"/>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7" name="Text 15"/>
          <p:cNvSpPr/>
          <p:nvPr/>
        </p:nvSpPr>
        <p:spPr>
          <a:xfrm>
            <a:off x="1618488" y="5010912"/>
            <a:ext cx="4937760" cy="292608"/>
          </a:xfrm>
          <a:prstGeom prst="rect">
            <a:avLst/>
          </a:prstGeom>
          <a:noFill/>
          <a:ln/>
        </p:spPr>
        <p:txBody>
          <a:bodyPr wrap="square" lIns="0" tIns="0" rIns="0" bIns="0" rtlCol="0" anchor="ctr"/>
          <a:lstStyle/>
          <a:p>
            <a:pPr indent="0" marL="0">
              <a:buNone/>
            </a:pPr>
            <a:r>
              <a:rPr lang="en-US" sz="1450" b="1" dirty="0">
                <a:solidFill>
                  <a:srgbClr val="1B2230"/>
                </a:solidFill>
                <a:latin typeface="Calibri" pitchFamily="34" charset="0"/>
                <a:ea typeface="Calibri" pitchFamily="34" charset="-122"/>
                <a:cs typeface="Calibri" pitchFamily="34" charset="-120"/>
              </a:rPr>
              <a:t>No sabe lo que no sabe</a:t>
            </a:r>
            <a:endParaRPr lang="en-US" sz="1450" dirty="0"/>
          </a:p>
        </p:txBody>
      </p:sp>
      <p:sp>
        <p:nvSpPr>
          <p:cNvPr id="18" name="Text 16"/>
          <p:cNvSpPr/>
          <p:nvPr/>
        </p:nvSpPr>
        <p:spPr>
          <a:xfrm>
            <a:off x="1618488" y="5330952"/>
            <a:ext cx="4937760" cy="621792"/>
          </a:xfrm>
          <a:prstGeom prst="rect">
            <a:avLst/>
          </a:prstGeom>
          <a:noFill/>
          <a:ln/>
        </p:spPr>
        <p:txBody>
          <a:bodyPr wrap="square" lIns="0" tIns="0" rIns="0" bIns="0" rtlCol="0" anchor="t"/>
          <a:lstStyle/>
          <a:p>
            <a:pPr indent="0" marL="0">
              <a:buNone/>
            </a:pPr>
            <a:r>
              <a:rPr lang="en-US" sz="1150" dirty="0">
                <a:solidFill>
                  <a:srgbClr val="5A6478"/>
                </a:solidFill>
                <a:latin typeface="Calibri" pitchFamily="34" charset="0"/>
                <a:ea typeface="Calibri" pitchFamily="34" charset="-122"/>
                <a:cs typeface="Calibri" pitchFamily="34" charset="-120"/>
              </a:rPr>
              <a:t>Ante un vacío, completa. Y el relleno es indistinguible del dato bueno.</a:t>
            </a:r>
            <a:endParaRPr lang="en-US" sz="1150" dirty="0"/>
          </a:p>
        </p:txBody>
      </p:sp>
      <p:sp>
        <p:nvSpPr>
          <p:cNvPr id="19" name="Shape 17"/>
          <p:cNvSpPr/>
          <p:nvPr/>
        </p:nvSpPr>
        <p:spPr>
          <a:xfrm>
            <a:off x="7315200" y="1901952"/>
            <a:ext cx="4096512" cy="3950208"/>
          </a:xfrm>
          <a:prstGeom prst="roundRect">
            <a:avLst>
              <a:gd name="adj" fmla="val 1389"/>
            </a:avLst>
          </a:prstGeom>
          <a:solidFill>
            <a:srgbClr val="1B2230"/>
          </a:solidFill>
          <a:ln/>
        </p:spPr>
      </p:sp>
      <p:sp>
        <p:nvSpPr>
          <p:cNvPr id="20" name="Text 18"/>
          <p:cNvSpPr/>
          <p:nvPr/>
        </p:nvSpPr>
        <p:spPr>
          <a:xfrm>
            <a:off x="7699248" y="2286000"/>
            <a:ext cx="3383280" cy="274320"/>
          </a:xfrm>
          <a:prstGeom prst="rect">
            <a:avLst/>
          </a:prstGeom>
          <a:noFill/>
          <a:ln/>
        </p:spPr>
        <p:txBody>
          <a:bodyPr wrap="square" lIns="0" tIns="0" rIns="0" bIns="0" rtlCol="0" anchor="ctr"/>
          <a:lstStyle/>
          <a:p>
            <a:pPr indent="0" marL="0">
              <a:buNone/>
            </a:pPr>
            <a:r>
              <a:rPr lang="en-US" sz="1100" spc="150" kern="0" dirty="0">
                <a:solidFill>
                  <a:srgbClr val="C9A574"/>
                </a:solidFill>
                <a:latin typeface="Calibri" pitchFamily="34" charset="0"/>
                <a:ea typeface="Calibri" pitchFamily="34" charset="-122"/>
                <a:cs typeface="Calibri" pitchFamily="34" charset="-120"/>
              </a:rPr>
              <a:t>El principio</a:t>
            </a:r>
            <a:endParaRPr lang="en-US" sz="1100" dirty="0"/>
          </a:p>
        </p:txBody>
      </p:sp>
      <p:sp>
        <p:nvSpPr>
          <p:cNvPr id="21" name="Text 19"/>
          <p:cNvSpPr/>
          <p:nvPr/>
        </p:nvSpPr>
        <p:spPr>
          <a:xfrm>
            <a:off x="7699248" y="2670048"/>
            <a:ext cx="3383280" cy="914400"/>
          </a:xfrm>
          <a:prstGeom prst="rect">
            <a:avLst/>
          </a:prstGeom>
          <a:noFill/>
          <a:ln/>
        </p:spPr>
        <p:txBody>
          <a:bodyPr wrap="square" lIns="0" tIns="0" rIns="0" bIns="0" rtlCol="0" anchor="ctr"/>
          <a:lstStyle/>
          <a:p>
            <a:pPr indent="0" marL="0">
              <a:buNone/>
            </a:pPr>
            <a:r>
              <a:rPr lang="en-US" sz="1900" dirty="0">
                <a:solidFill>
                  <a:srgbClr val="FFFFFF"/>
                </a:solidFill>
                <a:latin typeface="Cambria" pitchFamily="34" charset="0"/>
                <a:ea typeface="Cambria" pitchFamily="34" charset="-122"/>
                <a:cs typeface="Cambria" pitchFamily="34" charset="-120"/>
              </a:rPr>
              <a:t>Responsa no busca que Claude sepa derecho chileno.</a:t>
            </a:r>
            <a:endParaRPr lang="en-US" sz="1900" dirty="0"/>
          </a:p>
        </p:txBody>
      </p:sp>
      <p:sp>
        <p:nvSpPr>
          <p:cNvPr id="22" name="Text 20"/>
          <p:cNvSpPr/>
          <p:nvPr/>
        </p:nvSpPr>
        <p:spPr>
          <a:xfrm>
            <a:off x="7699248" y="3639312"/>
            <a:ext cx="3383280" cy="777240"/>
          </a:xfrm>
          <a:prstGeom prst="rect">
            <a:avLst/>
          </a:prstGeom>
          <a:noFill/>
          <a:ln/>
        </p:spPr>
        <p:txBody>
          <a:bodyPr wrap="square" lIns="0" tIns="0" rIns="0" bIns="0" rtlCol="0" anchor="ctr"/>
          <a:lstStyle/>
          <a:p>
            <a:pPr indent="0" marL="0">
              <a:buNone/>
            </a:pPr>
            <a:r>
              <a:rPr lang="en-US" sz="2100" b="1" dirty="0">
                <a:solidFill>
                  <a:srgbClr val="C9A574"/>
                </a:solidFill>
                <a:latin typeface="Cambria" pitchFamily="34" charset="0"/>
                <a:ea typeface="Cambria" pitchFamily="34" charset="-122"/>
                <a:cs typeface="Cambria" pitchFamily="34" charset="-120"/>
              </a:rPr>
              <a:t>Busca que no pueda inventarlo.</a:t>
            </a:r>
            <a:endParaRPr lang="en-US" sz="2100" dirty="0"/>
          </a:p>
        </p:txBody>
      </p:sp>
      <p:sp>
        <p:nvSpPr>
          <p:cNvPr id="23" name="Text 21"/>
          <p:cNvSpPr/>
          <p:nvPr/>
        </p:nvSpPr>
        <p:spPr>
          <a:xfrm>
            <a:off x="7699248" y="4572000"/>
            <a:ext cx="3383280" cy="1051560"/>
          </a:xfrm>
          <a:prstGeom prst="rect">
            <a:avLst/>
          </a:prstGeom>
          <a:noFill/>
          <a:ln/>
        </p:spPr>
        <p:txBody>
          <a:bodyPr wrap="square" lIns="0" tIns="0" rIns="0" bIns="0" rtlCol="0" anchor="ctr"/>
          <a:lstStyle/>
          <a:p>
            <a:pPr indent="0" marL="0">
              <a:buNone/>
            </a:pPr>
            <a:r>
              <a:rPr lang="en-US" sz="1100" dirty="0">
                <a:solidFill>
                  <a:srgbClr val="8A93A5"/>
                </a:solidFill>
                <a:latin typeface="Calibri" pitchFamily="34" charset="0"/>
                <a:ea typeface="Calibri" pitchFamily="34" charset="-122"/>
                <a:cs typeface="Calibri" pitchFamily="34" charset="-120"/>
              </a:rPr>
              <a:t>Cada afirmación queda anclada a un fallo con rol y enlace, a un artículo con su texto oficial o a un dictamen con su número. Lo que no se pudo verificar, se declara.</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B2230"/>
        </a:solidFill>
      </p:bgPr>
    </p:bg>
    <p:spTree>
      <p:nvGrpSpPr>
        <p:cNvPr id="1" name=""/>
        <p:cNvGrpSpPr/>
        <p:nvPr/>
      </p:nvGrpSpPr>
      <p:grpSpPr>
        <a:xfrm>
          <a:off x="0" y="0"/>
          <a:ext cx="0" cy="0"/>
          <a:chOff x="0" y="0"/>
          <a:chExt cx="0" cy="0"/>
        </a:xfrm>
      </p:grpSpPr>
      <p:sp>
        <p:nvSpPr>
          <p:cNvPr id="2" name="Text 0"/>
          <p:cNvSpPr/>
          <p:nvPr/>
        </p:nvSpPr>
        <p:spPr>
          <a:xfrm>
            <a:off x="777240" y="640080"/>
            <a:ext cx="5486400" cy="548640"/>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El nombre</a:t>
            </a:r>
            <a:endParaRPr lang="en-US" sz="3200" dirty="0"/>
          </a:p>
        </p:txBody>
      </p:sp>
      <p:sp>
        <p:nvSpPr>
          <p:cNvPr id="3" name="Text 1"/>
          <p:cNvSpPr/>
          <p:nvPr/>
        </p:nvSpPr>
        <p:spPr>
          <a:xfrm>
            <a:off x="777240" y="1572768"/>
            <a:ext cx="6583680" cy="603504"/>
          </a:xfrm>
          <a:prstGeom prst="rect">
            <a:avLst/>
          </a:prstGeom>
          <a:noFill/>
          <a:ln/>
        </p:spPr>
        <p:txBody>
          <a:bodyPr wrap="square" lIns="0" tIns="0" rIns="0" bIns="0" rtlCol="0" anchor="ctr"/>
          <a:lstStyle/>
          <a:p>
            <a:pPr indent="0" marL="0">
              <a:buNone/>
            </a:pPr>
            <a:r>
              <a:rPr lang="en-US" sz="4000" i="1" dirty="0">
                <a:solidFill>
                  <a:srgbClr val="C9A574"/>
                </a:solidFill>
                <a:latin typeface="Cambria" pitchFamily="34" charset="0"/>
                <a:ea typeface="Cambria" pitchFamily="34" charset="-122"/>
                <a:cs typeface="Cambria" pitchFamily="34" charset="-120"/>
              </a:rPr>
              <a:t>responsa prudentium</a:t>
            </a:r>
            <a:endParaRPr lang="en-US" sz="4000" dirty="0"/>
          </a:p>
        </p:txBody>
      </p:sp>
      <p:sp>
        <p:nvSpPr>
          <p:cNvPr id="4" name="Text 2"/>
          <p:cNvSpPr/>
          <p:nvPr/>
        </p:nvSpPr>
        <p:spPr>
          <a:xfrm>
            <a:off x="777240" y="2340864"/>
            <a:ext cx="6035040" cy="1097280"/>
          </a:xfrm>
          <a:prstGeom prst="rect">
            <a:avLst/>
          </a:prstGeom>
          <a:noFill/>
          <a:ln/>
        </p:spPr>
        <p:txBody>
          <a:bodyPr wrap="square" lIns="0" tIns="0" rIns="0" bIns="0" rtlCol="0" anchor="ctr"/>
          <a:lstStyle/>
          <a:p>
            <a:pPr indent="0" marL="0">
              <a:lnSpc>
                <a:spcPct val="125000"/>
              </a:lnSpc>
              <a:buNone/>
            </a:pPr>
            <a:r>
              <a:rPr lang="en-US" sz="1450" dirty="0">
                <a:solidFill>
                  <a:srgbClr val="FFFFFF"/>
                </a:solidFill>
                <a:latin typeface="Calibri" pitchFamily="34" charset="0"/>
                <a:ea typeface="Calibri" pitchFamily="34" charset="-122"/>
                <a:cs typeface="Calibri" pitchFamily="34" charset="-120"/>
              </a:rPr>
              <a:t>En Roma, las respuestas fundadas que los juristas daban a consultas concretas. Su fuerza no venía del cargo que ocupaban, sino de la autoridad de quien respondía y de las fuentes que invocaba.</a:t>
            </a:r>
            <a:endParaRPr lang="en-US" sz="1450" dirty="0"/>
          </a:p>
        </p:txBody>
      </p:sp>
      <p:sp>
        <p:nvSpPr>
          <p:cNvPr id="5" name="Text 3"/>
          <p:cNvSpPr/>
          <p:nvPr/>
        </p:nvSpPr>
        <p:spPr>
          <a:xfrm>
            <a:off x="777240" y="3584448"/>
            <a:ext cx="6035040" cy="822960"/>
          </a:xfrm>
          <a:prstGeom prst="rect">
            <a:avLst/>
          </a:prstGeom>
          <a:noFill/>
          <a:ln/>
        </p:spPr>
        <p:txBody>
          <a:bodyPr wrap="square" lIns="0" tIns="0" rIns="0" bIns="0" rtlCol="0" anchor="t"/>
          <a:lstStyle/>
          <a:p>
            <a:pPr indent="0" marL="0">
              <a:buNone/>
            </a:pPr>
            <a:r>
              <a:rPr lang="en-US" sz="1300" i="1" dirty="0">
                <a:solidFill>
                  <a:srgbClr val="8A93A5"/>
                </a:solidFill>
                <a:latin typeface="Calibri" pitchFamily="34" charset="0"/>
                <a:ea typeface="Calibri" pitchFamily="34" charset="-122"/>
                <a:cs typeface="Calibri" pitchFamily="34" charset="-120"/>
              </a:rPr>
              <a:t>Un responsum sin fundamento no valía nada. Con fundamento, obligaba. Es exactamente la distinción que hace esta herramienta.</a:t>
            </a:r>
            <a:endParaRPr lang="en-US" sz="1300" dirty="0"/>
          </a:p>
        </p:txBody>
      </p:sp>
      <p:sp>
        <p:nvSpPr>
          <p:cNvPr id="6" name="Text 4"/>
          <p:cNvSpPr/>
          <p:nvPr/>
        </p:nvSpPr>
        <p:spPr>
          <a:xfrm>
            <a:off x="777240" y="4553712"/>
            <a:ext cx="6035040" cy="457200"/>
          </a:xfrm>
          <a:prstGeom prst="rect">
            <a:avLst/>
          </a:prstGeom>
          <a:noFill/>
          <a:ln/>
        </p:spPr>
        <p:txBody>
          <a:bodyPr wrap="square" lIns="0" tIns="0" rIns="0" bIns="0" rtlCol="0" anchor="t"/>
          <a:lstStyle/>
          <a:p>
            <a:pPr indent="0" marL="0">
              <a:buNone/>
            </a:pPr>
            <a:r>
              <a:rPr lang="en-US" sz="2400" b="1" dirty="0">
                <a:solidFill>
                  <a:srgbClr val="FFFFFF"/>
                </a:solidFill>
                <a:latin typeface="Cambria" pitchFamily="34" charset="0"/>
                <a:ea typeface="Cambria" pitchFamily="34" charset="-122"/>
                <a:cs typeface="Cambria" pitchFamily="34" charset="-120"/>
              </a:rPr>
              <a:t>Una respuesta sin fuente es una opinión.</a:t>
            </a:r>
            <a:endParaRPr lang="en-US" sz="2400" dirty="0"/>
          </a:p>
        </p:txBody>
      </p:sp>
      <p:sp>
        <p:nvSpPr>
          <p:cNvPr id="7" name="Text 5"/>
          <p:cNvSpPr/>
          <p:nvPr/>
        </p:nvSpPr>
        <p:spPr>
          <a:xfrm>
            <a:off x="777240" y="5029200"/>
            <a:ext cx="6035040" cy="457200"/>
          </a:xfrm>
          <a:prstGeom prst="rect">
            <a:avLst/>
          </a:prstGeom>
          <a:noFill/>
          <a:ln/>
        </p:spPr>
        <p:txBody>
          <a:bodyPr wrap="square" lIns="0" tIns="0" rIns="0" bIns="0" rtlCol="0" anchor="t"/>
          <a:lstStyle/>
          <a:p>
            <a:pPr indent="0" marL="0">
              <a:buNone/>
            </a:pPr>
            <a:r>
              <a:rPr lang="en-US" sz="2400" b="1" dirty="0">
                <a:solidFill>
                  <a:srgbClr val="C9A574"/>
                </a:solidFill>
                <a:latin typeface="Cambria" pitchFamily="34" charset="0"/>
                <a:ea typeface="Cambria" pitchFamily="34" charset="-122"/>
                <a:cs typeface="Cambria" pitchFamily="34" charset="-120"/>
              </a:rPr>
              <a:t>Con fuente, es un fundamento.</a:t>
            </a:r>
            <a:endParaRPr lang="en-US" sz="2400" dirty="0"/>
          </a:p>
        </p:txBody>
      </p:sp>
      <p:sp>
        <p:nvSpPr>
          <p:cNvPr id="8" name="Shape 6"/>
          <p:cNvSpPr/>
          <p:nvPr/>
        </p:nvSpPr>
        <p:spPr>
          <a:xfrm>
            <a:off x="7406640" y="1572768"/>
            <a:ext cx="4005072" cy="3931920"/>
          </a:xfrm>
          <a:prstGeom prst="roundRect">
            <a:avLst>
              <a:gd name="adj" fmla="val 1395"/>
            </a:avLst>
          </a:prstGeom>
          <a:solidFill>
            <a:srgbClr val="2A3446"/>
          </a:solidFill>
          <a:ln/>
        </p:spPr>
      </p:sp>
      <p:sp>
        <p:nvSpPr>
          <p:cNvPr id="9" name="Text 7"/>
          <p:cNvSpPr/>
          <p:nvPr/>
        </p:nvSpPr>
        <p:spPr>
          <a:xfrm>
            <a:off x="7772400" y="1883664"/>
            <a:ext cx="3291840" cy="274320"/>
          </a:xfrm>
          <a:prstGeom prst="rect">
            <a:avLst/>
          </a:prstGeom>
          <a:noFill/>
          <a:ln/>
        </p:spPr>
        <p:txBody>
          <a:bodyPr wrap="square" lIns="0" tIns="0" rIns="0" bIns="0" rtlCol="0" anchor="ctr"/>
          <a:lstStyle/>
          <a:p>
            <a:pPr indent="0" marL="0">
              <a:buNone/>
            </a:pPr>
            <a:r>
              <a:rPr lang="en-US" sz="1100" spc="150" kern="0" dirty="0">
                <a:solidFill>
                  <a:srgbClr val="C9A574"/>
                </a:solidFill>
                <a:latin typeface="Calibri" pitchFamily="34" charset="0"/>
                <a:ea typeface="Calibri" pitchFamily="34" charset="-122"/>
                <a:cs typeface="Calibri" pitchFamily="34" charset="-120"/>
              </a:rPr>
              <a:t>Qué era un responsum</a:t>
            </a:r>
            <a:endParaRPr lang="en-US" sz="1100" dirty="0"/>
          </a:p>
        </p:txBody>
      </p:sp>
      <p:sp>
        <p:nvSpPr>
          <p:cNvPr id="10" name="Text 8"/>
          <p:cNvSpPr/>
          <p:nvPr/>
        </p:nvSpPr>
        <p:spPr>
          <a:xfrm>
            <a:off x="7772400" y="2304288"/>
            <a:ext cx="3291840" cy="256032"/>
          </a:xfrm>
          <a:prstGeom prst="rect">
            <a:avLst/>
          </a:prstGeom>
          <a:noFill/>
          <a:ln/>
        </p:spPr>
        <p:txBody>
          <a:bodyPr wrap="square" lIns="0" tIns="0" rIns="0" bIns="0" rtlCol="0" anchor="t"/>
          <a:lstStyle/>
          <a:p>
            <a:pPr indent="0" marL="0">
              <a:buNone/>
            </a:pPr>
            <a:r>
              <a:rPr lang="en-US" sz="1400" b="1" dirty="0">
                <a:solidFill>
                  <a:srgbClr val="FFFFFF"/>
                </a:solidFill>
                <a:latin typeface="Cambria" pitchFamily="34" charset="0"/>
                <a:ea typeface="Cambria" pitchFamily="34" charset="-122"/>
                <a:cs typeface="Cambria" pitchFamily="34" charset="-120"/>
              </a:rPr>
              <a:t>Sobre un caso concreto</a:t>
            </a:r>
            <a:endParaRPr lang="en-US" sz="1400" dirty="0"/>
          </a:p>
        </p:txBody>
      </p:sp>
      <p:sp>
        <p:nvSpPr>
          <p:cNvPr id="11" name="Text 9"/>
          <p:cNvSpPr/>
          <p:nvPr/>
        </p:nvSpPr>
        <p:spPr>
          <a:xfrm>
            <a:off x="7772400" y="2569464"/>
            <a:ext cx="3291840" cy="457200"/>
          </a:xfrm>
          <a:prstGeom prst="rect">
            <a:avLst/>
          </a:prstGeom>
          <a:noFill/>
          <a:ln/>
        </p:spPr>
        <p:txBody>
          <a:bodyPr wrap="square" lIns="0" tIns="0" rIns="0" bIns="0" rtlCol="0" anchor="t"/>
          <a:lstStyle/>
          <a:p>
            <a:pPr indent="0" marL="0">
              <a:lnSpc>
                <a:spcPct val="100000"/>
              </a:lnSpc>
              <a:buNone/>
            </a:pPr>
            <a:r>
              <a:rPr lang="en-US" sz="950" dirty="0">
                <a:solidFill>
                  <a:srgbClr val="8A93A5"/>
                </a:solidFill>
                <a:latin typeface="Calibri" pitchFamily="34" charset="0"/>
                <a:ea typeface="Calibri" pitchFamily="34" charset="-122"/>
                <a:cs typeface="Calibri" pitchFamily="34" charset="-120"/>
              </a:rPr>
              <a:t>No una disertación abstracta: la respuesta a la consulta que alguien traía.</a:t>
            </a:r>
            <a:endParaRPr lang="en-US" sz="950" dirty="0"/>
          </a:p>
        </p:txBody>
      </p:sp>
      <p:sp>
        <p:nvSpPr>
          <p:cNvPr id="12" name="Text 10"/>
          <p:cNvSpPr/>
          <p:nvPr/>
        </p:nvSpPr>
        <p:spPr>
          <a:xfrm>
            <a:off x="7772400" y="3026664"/>
            <a:ext cx="3291840" cy="274320"/>
          </a:xfrm>
          <a:prstGeom prst="rect">
            <a:avLst/>
          </a:prstGeom>
          <a:noFill/>
          <a:ln/>
        </p:spPr>
        <p:txBody>
          <a:bodyPr wrap="square" lIns="0" tIns="0" rIns="0" bIns="0" rtlCol="0" anchor="t"/>
          <a:lstStyle/>
          <a:p>
            <a:pPr indent="0" marL="0">
              <a:lnSpc>
                <a:spcPct val="95000"/>
              </a:lnSpc>
              <a:buNone/>
            </a:pPr>
            <a:r>
              <a:rPr lang="en-US" sz="900" b="1" dirty="0">
                <a:solidFill>
                  <a:srgbClr val="A87C4F"/>
                </a:solidFill>
                <a:latin typeface="Calibri" pitchFamily="34" charset="0"/>
                <a:ea typeface="Calibri" pitchFamily="34" charset="-122"/>
                <a:cs typeface="Calibri" pitchFamily="34" charset="-120"/>
              </a:rPr>
              <a:t>Aquí: se pregunta en lenguaje natural, por un problema real</a:t>
            </a:r>
            <a:endParaRPr lang="en-US" sz="900" dirty="0"/>
          </a:p>
        </p:txBody>
      </p:sp>
      <p:sp>
        <p:nvSpPr>
          <p:cNvPr id="13" name="Text 11"/>
          <p:cNvSpPr/>
          <p:nvPr/>
        </p:nvSpPr>
        <p:spPr>
          <a:xfrm>
            <a:off x="7772400" y="3383280"/>
            <a:ext cx="3291840" cy="256032"/>
          </a:xfrm>
          <a:prstGeom prst="rect">
            <a:avLst/>
          </a:prstGeom>
          <a:noFill/>
          <a:ln/>
        </p:spPr>
        <p:txBody>
          <a:bodyPr wrap="square" lIns="0" tIns="0" rIns="0" bIns="0" rtlCol="0" anchor="t"/>
          <a:lstStyle/>
          <a:p>
            <a:pPr indent="0" marL="0">
              <a:buNone/>
            </a:pPr>
            <a:r>
              <a:rPr lang="en-US" sz="1400" b="1" dirty="0">
                <a:solidFill>
                  <a:srgbClr val="FFFFFF"/>
                </a:solidFill>
                <a:latin typeface="Cambria" pitchFamily="34" charset="0"/>
                <a:ea typeface="Cambria" pitchFamily="34" charset="-122"/>
                <a:cs typeface="Cambria" pitchFamily="34" charset="-120"/>
              </a:rPr>
              <a:t>Con las fuentes a la vista</a:t>
            </a:r>
            <a:endParaRPr lang="en-US" sz="1400" dirty="0"/>
          </a:p>
        </p:txBody>
      </p:sp>
      <p:sp>
        <p:nvSpPr>
          <p:cNvPr id="14" name="Text 12"/>
          <p:cNvSpPr/>
          <p:nvPr/>
        </p:nvSpPr>
        <p:spPr>
          <a:xfrm>
            <a:off x="7772400" y="3648456"/>
            <a:ext cx="3291840" cy="457200"/>
          </a:xfrm>
          <a:prstGeom prst="rect">
            <a:avLst/>
          </a:prstGeom>
          <a:noFill/>
          <a:ln/>
        </p:spPr>
        <p:txBody>
          <a:bodyPr wrap="square" lIns="0" tIns="0" rIns="0" bIns="0" rtlCol="0" anchor="t"/>
          <a:lstStyle/>
          <a:p>
            <a:pPr indent="0" marL="0">
              <a:lnSpc>
                <a:spcPct val="100000"/>
              </a:lnSpc>
              <a:buNone/>
            </a:pPr>
            <a:r>
              <a:rPr lang="en-US" sz="950" dirty="0">
                <a:solidFill>
                  <a:srgbClr val="8A93A5"/>
                </a:solidFill>
                <a:latin typeface="Calibri" pitchFamily="34" charset="0"/>
                <a:ea typeface="Calibri" pitchFamily="34" charset="-122"/>
                <a:cs typeface="Calibri" pitchFamily="34" charset="-120"/>
              </a:rPr>
              <a:t>El jurista mostraba en qué se apoyaba. Quien recibía la respuesta podía comprobarla.</a:t>
            </a:r>
            <a:endParaRPr lang="en-US" sz="950" dirty="0"/>
          </a:p>
        </p:txBody>
      </p:sp>
      <p:sp>
        <p:nvSpPr>
          <p:cNvPr id="15" name="Text 13"/>
          <p:cNvSpPr/>
          <p:nvPr/>
        </p:nvSpPr>
        <p:spPr>
          <a:xfrm>
            <a:off x="7772400" y="4105656"/>
            <a:ext cx="3291840" cy="274320"/>
          </a:xfrm>
          <a:prstGeom prst="rect">
            <a:avLst/>
          </a:prstGeom>
          <a:noFill/>
          <a:ln/>
        </p:spPr>
        <p:txBody>
          <a:bodyPr wrap="square" lIns="0" tIns="0" rIns="0" bIns="0" rtlCol="0" anchor="t"/>
          <a:lstStyle/>
          <a:p>
            <a:pPr indent="0" marL="0">
              <a:lnSpc>
                <a:spcPct val="95000"/>
              </a:lnSpc>
              <a:buNone/>
            </a:pPr>
            <a:r>
              <a:rPr lang="en-US" sz="900" b="1" dirty="0">
                <a:solidFill>
                  <a:srgbClr val="A87C4F"/>
                </a:solidFill>
                <a:latin typeface="Calibri" pitchFamily="34" charset="0"/>
                <a:ea typeface="Calibri" pitchFamily="34" charset="-122"/>
                <a:cs typeface="Calibri" pitchFamily="34" charset="-120"/>
              </a:rPr>
              <a:t>Aquí: rol, tribunal, fecha y enlace en cada cita</a:t>
            </a:r>
            <a:endParaRPr lang="en-US" sz="900" dirty="0"/>
          </a:p>
        </p:txBody>
      </p:sp>
      <p:sp>
        <p:nvSpPr>
          <p:cNvPr id="16" name="Text 14"/>
          <p:cNvSpPr/>
          <p:nvPr/>
        </p:nvSpPr>
        <p:spPr>
          <a:xfrm>
            <a:off x="7772400" y="4462272"/>
            <a:ext cx="3291840" cy="256032"/>
          </a:xfrm>
          <a:prstGeom prst="rect">
            <a:avLst/>
          </a:prstGeom>
          <a:noFill/>
          <a:ln/>
        </p:spPr>
        <p:txBody>
          <a:bodyPr wrap="square" lIns="0" tIns="0" rIns="0" bIns="0" rtlCol="0" anchor="t"/>
          <a:lstStyle/>
          <a:p>
            <a:pPr indent="0" marL="0">
              <a:buNone/>
            </a:pPr>
            <a:r>
              <a:rPr lang="en-US" sz="1400" b="1" dirty="0">
                <a:solidFill>
                  <a:srgbClr val="FFFFFF"/>
                </a:solidFill>
                <a:latin typeface="Cambria" pitchFamily="34" charset="0"/>
                <a:ea typeface="Cambria" pitchFamily="34" charset="-122"/>
                <a:cs typeface="Cambria" pitchFamily="34" charset="-120"/>
              </a:rPr>
              <a:t>Valía por su fundamento</a:t>
            </a:r>
            <a:endParaRPr lang="en-US" sz="1400" dirty="0"/>
          </a:p>
        </p:txBody>
      </p:sp>
      <p:sp>
        <p:nvSpPr>
          <p:cNvPr id="17" name="Text 15"/>
          <p:cNvSpPr/>
          <p:nvPr/>
        </p:nvSpPr>
        <p:spPr>
          <a:xfrm>
            <a:off x="7772400" y="4727448"/>
            <a:ext cx="3291840" cy="457200"/>
          </a:xfrm>
          <a:prstGeom prst="rect">
            <a:avLst/>
          </a:prstGeom>
          <a:noFill/>
          <a:ln/>
        </p:spPr>
        <p:txBody>
          <a:bodyPr wrap="square" lIns="0" tIns="0" rIns="0" bIns="0" rtlCol="0" anchor="t"/>
          <a:lstStyle/>
          <a:p>
            <a:pPr indent="0" marL="0">
              <a:lnSpc>
                <a:spcPct val="100000"/>
              </a:lnSpc>
              <a:buNone/>
            </a:pPr>
            <a:r>
              <a:rPr lang="en-US" sz="950" dirty="0">
                <a:solidFill>
                  <a:srgbClr val="8A93A5"/>
                </a:solidFill>
                <a:latin typeface="Calibri" pitchFamily="34" charset="0"/>
                <a:ea typeface="Calibri" pitchFamily="34" charset="-122"/>
                <a:cs typeface="Calibri" pitchFamily="34" charset="-120"/>
              </a:rPr>
              <a:t>No por el cargo de quien respondía. Sin respaldo, no valía nada.</a:t>
            </a:r>
            <a:endParaRPr lang="en-US" sz="950" dirty="0"/>
          </a:p>
        </p:txBody>
      </p:sp>
      <p:sp>
        <p:nvSpPr>
          <p:cNvPr id="18" name="Text 16"/>
          <p:cNvSpPr/>
          <p:nvPr/>
        </p:nvSpPr>
        <p:spPr>
          <a:xfrm>
            <a:off x="7772400" y="5184648"/>
            <a:ext cx="3291840" cy="274320"/>
          </a:xfrm>
          <a:prstGeom prst="rect">
            <a:avLst/>
          </a:prstGeom>
          <a:noFill/>
          <a:ln/>
        </p:spPr>
        <p:txBody>
          <a:bodyPr wrap="square" lIns="0" tIns="0" rIns="0" bIns="0" rtlCol="0" anchor="t"/>
          <a:lstStyle/>
          <a:p>
            <a:pPr indent="0" marL="0">
              <a:lnSpc>
                <a:spcPct val="95000"/>
              </a:lnSpc>
              <a:buNone/>
            </a:pPr>
            <a:r>
              <a:rPr lang="en-US" sz="900" b="1" dirty="0">
                <a:solidFill>
                  <a:srgbClr val="A87C4F"/>
                </a:solidFill>
                <a:latin typeface="Calibri" pitchFamily="34" charset="0"/>
                <a:ea typeface="Calibri" pitchFamily="34" charset="-122"/>
                <a:cs typeface="Calibri" pitchFamily="34" charset="-120"/>
              </a:rPr>
              <a:t>Aquí: lo que no se pudo verificar, se declara</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4F1EA"/>
        </a:solidFill>
      </p:bgPr>
    </p:bg>
    <p:spTree>
      <p:nvGrpSpPr>
        <p:cNvPr id="1" name=""/>
        <p:cNvGrpSpPr/>
        <p:nvPr/>
      </p:nvGrpSpPr>
      <p:grpSpPr>
        <a:xfrm>
          <a:off x="0" y="0"/>
          <a:ext cx="0" cy="0"/>
          <a:chOff x="0" y="0"/>
          <a:chExt cx="0" cy="0"/>
        </a:xfrm>
      </p:grpSpPr>
      <p:sp>
        <p:nvSpPr>
          <p:cNvPr id="2" name="Text 0"/>
          <p:cNvSpPr/>
          <p:nvPr/>
        </p:nvSpPr>
        <p:spPr>
          <a:xfrm>
            <a:off x="777240" y="566928"/>
            <a:ext cx="10634472" cy="566928"/>
          </a:xfrm>
          <a:prstGeom prst="rect">
            <a:avLst/>
          </a:prstGeom>
          <a:noFill/>
          <a:ln/>
        </p:spPr>
        <p:txBody>
          <a:bodyPr wrap="square" lIns="0" tIns="0" rIns="0" bIns="0" rtlCol="0" anchor="ctr"/>
          <a:lstStyle/>
          <a:p>
            <a:pPr indent="0" marL="0">
              <a:buNone/>
            </a:pPr>
            <a:r>
              <a:rPr lang="en-US" sz="3200" b="1" dirty="0">
                <a:solidFill>
                  <a:srgbClr val="1B2230"/>
                </a:solidFill>
                <a:latin typeface="Cambria" pitchFamily="34" charset="0"/>
                <a:ea typeface="Cambria" pitchFamily="34" charset="-122"/>
                <a:cs typeface="Cambria" pitchFamily="34" charset="-120"/>
              </a:rPr>
              <a:t>Diez fuentes, todas oficiales y gratuitas</a:t>
            </a:r>
            <a:endParaRPr lang="en-US" sz="3200" dirty="0"/>
          </a:p>
        </p:txBody>
      </p:sp>
      <p:sp>
        <p:nvSpPr>
          <p:cNvPr id="3" name="Text 1"/>
          <p:cNvSpPr/>
          <p:nvPr/>
        </p:nvSpPr>
        <p:spPr>
          <a:xfrm>
            <a:off x="777240" y="1152144"/>
            <a:ext cx="9537192" cy="384048"/>
          </a:xfrm>
          <a:prstGeom prst="rect">
            <a:avLst/>
          </a:prstGeom>
          <a:noFill/>
          <a:ln/>
        </p:spPr>
        <p:txBody>
          <a:bodyPr wrap="square" lIns="0" tIns="0" rIns="0" bIns="0" rtlCol="0" anchor="ctr"/>
          <a:lstStyle/>
          <a:p>
            <a:pPr indent="0" marL="0">
              <a:buNone/>
            </a:pPr>
            <a:r>
              <a:rPr lang="en-US" sz="1350" i="1" dirty="0">
                <a:solidFill>
                  <a:srgbClr val="5A6478"/>
                </a:solidFill>
                <a:latin typeface="Calibri" pitchFamily="34" charset="0"/>
                <a:ea typeface="Calibri" pitchFamily="34" charset="-122"/>
                <a:cs typeface="Calibri" pitchFamily="34" charset="-120"/>
              </a:rPr>
              <a:t>Ninguna base de suscripción: la herramienta se puede compartir sin comprometer licencias</a:t>
            </a:r>
            <a:endParaRPr lang="en-US" sz="1350" dirty="0"/>
          </a:p>
        </p:txBody>
      </p:sp>
      <p:sp>
        <p:nvSpPr>
          <p:cNvPr id="4" name="Shape 2"/>
          <p:cNvSpPr/>
          <p:nvPr/>
        </p:nvSpPr>
        <p:spPr>
          <a:xfrm>
            <a:off x="777240" y="1883664"/>
            <a:ext cx="310896" cy="310896"/>
          </a:xfrm>
          <a:prstGeom prst="ellipse">
            <a:avLst/>
          </a:prstGeom>
          <a:solidFill>
            <a:srgbClr val="A87C4F"/>
          </a:solidFill>
          <a:ln/>
        </p:spPr>
      </p:sp>
      <p:sp>
        <p:nvSpPr>
          <p:cNvPr id="5" name="Text 3"/>
          <p:cNvSpPr/>
          <p:nvPr/>
        </p:nvSpPr>
        <p:spPr>
          <a:xfrm>
            <a:off x="777240" y="1883664"/>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6" name="Text 4"/>
          <p:cNvSpPr/>
          <p:nvPr/>
        </p:nvSpPr>
        <p:spPr>
          <a:xfrm>
            <a:off x="1234440" y="1828800"/>
            <a:ext cx="4663440" cy="256032"/>
          </a:xfrm>
          <a:prstGeom prst="rect">
            <a:avLst/>
          </a:prstGeom>
          <a:noFill/>
          <a:ln/>
        </p:spPr>
        <p:txBody>
          <a:bodyPr wrap="square" lIns="0" tIns="0" rIns="0" bIns="0" rtlCol="0" anchor="ctr"/>
          <a:lstStyle/>
          <a:p>
            <a:pPr indent="0" marL="0">
              <a:buNone/>
            </a:pPr>
            <a:r>
              <a:rPr lang="en-US" sz="1300" b="1" dirty="0">
                <a:solidFill>
                  <a:srgbClr val="1B2230"/>
                </a:solidFill>
                <a:latin typeface="Calibri" pitchFamily="34" charset="0"/>
                <a:ea typeface="Calibri" pitchFamily="34" charset="-122"/>
                <a:cs typeface="Calibri" pitchFamily="34" charset="-120"/>
              </a:rPr>
              <a:t>Poder Judicial</a:t>
            </a:r>
            <a:endParaRPr lang="en-US" sz="1300" dirty="0"/>
          </a:p>
        </p:txBody>
      </p:sp>
      <p:sp>
        <p:nvSpPr>
          <p:cNvPr id="7" name="Text 5"/>
          <p:cNvSpPr/>
          <p:nvPr/>
        </p:nvSpPr>
        <p:spPr>
          <a:xfrm>
            <a:off x="1234440" y="2084832"/>
            <a:ext cx="4663440" cy="566928"/>
          </a:xfrm>
          <a:prstGeom prst="rect">
            <a:avLst/>
          </a:prstGeom>
          <a:noFill/>
          <a:ln/>
        </p:spPr>
        <p:txBody>
          <a:bodyPr wrap="square" lIns="0" tIns="0" rIns="0" bIns="0" rtlCol="0" anchor="ctr"/>
          <a:lstStyle/>
          <a:p>
            <a:pPr indent="0" marL="0">
              <a:lnSpc>
                <a:spcPct val="95000"/>
              </a:lnSpc>
              <a:buNone/>
            </a:pPr>
            <a:r>
              <a:rPr lang="en-US" sz="950" dirty="0">
                <a:solidFill>
                  <a:srgbClr val="5A6478"/>
                </a:solidFill>
                <a:latin typeface="Calibri" pitchFamily="34" charset="0"/>
                <a:ea typeface="Calibri" pitchFamily="34" charset="-122"/>
                <a:cs typeface="Calibri" pitchFamily="34" charset="-120"/>
              </a:rPr>
              <a:t>Siete buscadores: Corte Suprema, Cortes de</a:t>
            </a:r>
            <a:endParaRPr lang="en-US" sz="950" dirty="0"/>
          </a:p>
          <a:p>
            <a:pPr indent="0" marL="0">
              <a:lnSpc>
                <a:spcPct val="95000"/>
              </a:lnSpc>
              <a:buNone/>
            </a:pPr>
            <a:r>
              <a:rPr lang="en-US" sz="950" dirty="0">
                <a:solidFill>
                  <a:srgbClr val="5A6478"/>
                </a:solidFill>
                <a:latin typeface="Calibri" pitchFamily="34" charset="0"/>
                <a:ea typeface="Calibri" pitchFamily="34" charset="-122"/>
                <a:cs typeface="Calibri" pitchFamily="34" charset="-120"/>
              </a:rPr>
              <a:t>Apelaciones, Laboral, Penal, Familia,</a:t>
            </a:r>
            <a:endParaRPr lang="en-US" sz="950" dirty="0"/>
          </a:p>
          <a:p>
            <a:pPr indent="0" marL="0">
              <a:lnSpc>
                <a:spcPct val="95000"/>
              </a:lnSpc>
              <a:buNone/>
            </a:pPr>
            <a:r>
              <a:rPr lang="en-US" sz="950" dirty="0">
                <a:solidFill>
                  <a:srgbClr val="5A6478"/>
                </a:solidFill>
                <a:latin typeface="Calibri" pitchFamily="34" charset="0"/>
                <a:ea typeface="Calibri" pitchFamily="34" charset="-122"/>
                <a:cs typeface="Calibri" pitchFamily="34" charset="-120"/>
              </a:rPr>
              <a:t>Cobranza y Civil</a:t>
            </a:r>
            <a:endParaRPr lang="en-US" sz="950" dirty="0"/>
          </a:p>
        </p:txBody>
      </p:sp>
      <p:sp>
        <p:nvSpPr>
          <p:cNvPr id="8" name="Shape 6"/>
          <p:cNvSpPr/>
          <p:nvPr/>
        </p:nvSpPr>
        <p:spPr>
          <a:xfrm>
            <a:off x="6217920" y="1883664"/>
            <a:ext cx="310896" cy="310896"/>
          </a:xfrm>
          <a:prstGeom prst="ellipse">
            <a:avLst/>
          </a:prstGeom>
          <a:solidFill>
            <a:srgbClr val="A87C4F"/>
          </a:solidFill>
          <a:ln/>
        </p:spPr>
      </p:sp>
      <p:sp>
        <p:nvSpPr>
          <p:cNvPr id="9" name="Text 7"/>
          <p:cNvSpPr/>
          <p:nvPr/>
        </p:nvSpPr>
        <p:spPr>
          <a:xfrm>
            <a:off x="6217920" y="1883664"/>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0" name="Text 8"/>
          <p:cNvSpPr/>
          <p:nvPr/>
        </p:nvSpPr>
        <p:spPr>
          <a:xfrm>
            <a:off x="6675120" y="1828800"/>
            <a:ext cx="4663440" cy="256032"/>
          </a:xfrm>
          <a:prstGeom prst="rect">
            <a:avLst/>
          </a:prstGeom>
          <a:noFill/>
          <a:ln/>
        </p:spPr>
        <p:txBody>
          <a:bodyPr wrap="square" lIns="0" tIns="0" rIns="0" bIns="0" rtlCol="0" anchor="ctr"/>
          <a:lstStyle/>
          <a:p>
            <a:pPr indent="0" marL="0">
              <a:buNone/>
            </a:pPr>
            <a:r>
              <a:rPr lang="en-US" sz="1300" b="1" dirty="0">
                <a:solidFill>
                  <a:srgbClr val="1B2230"/>
                </a:solidFill>
                <a:latin typeface="Calibri" pitchFamily="34" charset="0"/>
                <a:ea typeface="Calibri" pitchFamily="34" charset="-122"/>
                <a:cs typeface="Calibri" pitchFamily="34" charset="-120"/>
              </a:rPr>
              <a:t>Tribunal Constitucional</a:t>
            </a:r>
            <a:endParaRPr lang="en-US" sz="1300" dirty="0"/>
          </a:p>
        </p:txBody>
      </p:sp>
      <p:sp>
        <p:nvSpPr>
          <p:cNvPr id="11" name="Text 9"/>
          <p:cNvSpPr/>
          <p:nvPr/>
        </p:nvSpPr>
        <p:spPr>
          <a:xfrm>
            <a:off x="6675120" y="2084832"/>
            <a:ext cx="4663440" cy="566928"/>
          </a:xfrm>
          <a:prstGeom prst="rect">
            <a:avLst/>
          </a:prstGeom>
          <a:noFill/>
          <a:ln/>
        </p:spPr>
        <p:txBody>
          <a:bodyPr wrap="square" lIns="0" tIns="0" rIns="0" bIns="0" rtlCol="0" anchor="ctr"/>
          <a:lstStyle/>
          <a:p>
            <a:pPr indent="0" marL="0">
              <a:lnSpc>
                <a:spcPct val="95000"/>
              </a:lnSpc>
              <a:buNone/>
            </a:pPr>
            <a:r>
              <a:rPr lang="en-US" sz="950" dirty="0">
                <a:solidFill>
                  <a:srgbClr val="5A6478"/>
                </a:solidFill>
                <a:latin typeface="Calibri" pitchFamily="34" charset="0"/>
                <a:ea typeface="Calibri" pitchFamily="34" charset="-122"/>
                <a:cs typeface="Calibri" pitchFamily="34" charset="-120"/>
              </a:rPr>
              <a:t>Sentencias a texto completo y fichas de</a:t>
            </a:r>
            <a:endParaRPr lang="en-US" sz="950" dirty="0"/>
          </a:p>
          <a:p>
            <a:pPr indent="0" marL="0">
              <a:lnSpc>
                <a:spcPct val="95000"/>
              </a:lnSpc>
              <a:buNone/>
            </a:pPr>
            <a:r>
              <a:rPr lang="en-US" sz="950" dirty="0">
                <a:solidFill>
                  <a:srgbClr val="5A6478"/>
                </a:solidFill>
                <a:latin typeface="Calibri" pitchFamily="34" charset="0"/>
                <a:ea typeface="Calibri" pitchFamily="34" charset="-122"/>
                <a:cs typeface="Calibri" pitchFamily="34" charset="-120"/>
              </a:rPr>
              <a:t>jurisprudencia, con descarga del PDF</a:t>
            </a:r>
            <a:endParaRPr lang="en-US" sz="950" dirty="0"/>
          </a:p>
        </p:txBody>
      </p:sp>
      <p:sp>
        <p:nvSpPr>
          <p:cNvPr id="12" name="Shape 10"/>
          <p:cNvSpPr/>
          <p:nvPr/>
        </p:nvSpPr>
        <p:spPr>
          <a:xfrm>
            <a:off x="777240" y="2816352"/>
            <a:ext cx="310896" cy="310896"/>
          </a:xfrm>
          <a:prstGeom prst="ellipse">
            <a:avLst/>
          </a:prstGeom>
          <a:solidFill>
            <a:srgbClr val="A87C4F"/>
          </a:solidFill>
          <a:ln/>
        </p:spPr>
      </p:sp>
      <p:sp>
        <p:nvSpPr>
          <p:cNvPr id="13" name="Text 11"/>
          <p:cNvSpPr/>
          <p:nvPr/>
        </p:nvSpPr>
        <p:spPr>
          <a:xfrm>
            <a:off x="777240" y="2816352"/>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4" name="Text 12"/>
          <p:cNvSpPr/>
          <p:nvPr/>
        </p:nvSpPr>
        <p:spPr>
          <a:xfrm>
            <a:off x="1234440" y="2761488"/>
            <a:ext cx="4663440" cy="256032"/>
          </a:xfrm>
          <a:prstGeom prst="rect">
            <a:avLst/>
          </a:prstGeom>
          <a:noFill/>
          <a:ln/>
        </p:spPr>
        <p:txBody>
          <a:bodyPr wrap="square" lIns="0" tIns="0" rIns="0" bIns="0" rtlCol="0" anchor="ctr"/>
          <a:lstStyle/>
          <a:p>
            <a:pPr indent="0" marL="0">
              <a:buNone/>
            </a:pPr>
            <a:r>
              <a:rPr lang="en-US" sz="1300" b="1" dirty="0">
                <a:solidFill>
                  <a:srgbClr val="1B2230"/>
                </a:solidFill>
                <a:latin typeface="Calibri" pitchFamily="34" charset="0"/>
                <a:ea typeface="Calibri" pitchFamily="34" charset="-122"/>
                <a:cs typeface="Calibri" pitchFamily="34" charset="-120"/>
              </a:rPr>
              <a:t>Contraloría</a:t>
            </a:r>
            <a:endParaRPr lang="en-US" sz="1300" dirty="0"/>
          </a:p>
        </p:txBody>
      </p:sp>
      <p:sp>
        <p:nvSpPr>
          <p:cNvPr id="15" name="Text 13"/>
          <p:cNvSpPr/>
          <p:nvPr/>
        </p:nvSpPr>
        <p:spPr>
          <a:xfrm>
            <a:off x="1234440" y="3017520"/>
            <a:ext cx="4663440" cy="566928"/>
          </a:xfrm>
          <a:prstGeom prst="rect">
            <a:avLst/>
          </a:prstGeom>
          <a:noFill/>
          <a:ln/>
        </p:spPr>
        <p:txBody>
          <a:bodyPr wrap="square" lIns="0" tIns="0" rIns="0" bIns="0" rtlCol="0" anchor="ctr"/>
          <a:lstStyle/>
          <a:p>
            <a:pPr indent="0" marL="0">
              <a:lnSpc>
                <a:spcPct val="95000"/>
              </a:lnSpc>
              <a:buNone/>
            </a:pPr>
            <a:r>
              <a:rPr lang="en-US" sz="950" dirty="0">
                <a:solidFill>
                  <a:srgbClr val="5A6478"/>
                </a:solidFill>
                <a:latin typeface="Calibri" pitchFamily="34" charset="0"/>
                <a:ea typeface="Calibri" pitchFamily="34" charset="-122"/>
                <a:cs typeface="Calibri" pitchFamily="34" charset="-120"/>
              </a:rPr>
              <a:t>6.910 dictámenes, con su estado de vigencia:</a:t>
            </a:r>
            <a:endParaRPr lang="en-US" sz="950" dirty="0"/>
          </a:p>
          <a:p>
            <a:pPr indent="0" marL="0">
              <a:lnSpc>
                <a:spcPct val="95000"/>
              </a:lnSpc>
              <a:buNone/>
            </a:pPr>
            <a:r>
              <a:rPr lang="en-US" sz="950" dirty="0">
                <a:solidFill>
                  <a:srgbClr val="5A6478"/>
                </a:solidFill>
                <a:latin typeface="Calibri" pitchFamily="34" charset="0"/>
                <a:ea typeface="Calibri" pitchFamily="34" charset="-122"/>
                <a:cs typeface="Calibri" pitchFamily="34" charset="-120"/>
              </a:rPr>
              <a:t>si fue reconsiderado, ya no sirve para fundar</a:t>
            </a:r>
            <a:endParaRPr lang="en-US" sz="950" dirty="0"/>
          </a:p>
        </p:txBody>
      </p:sp>
      <p:sp>
        <p:nvSpPr>
          <p:cNvPr id="16" name="Shape 14"/>
          <p:cNvSpPr/>
          <p:nvPr/>
        </p:nvSpPr>
        <p:spPr>
          <a:xfrm>
            <a:off x="6217920" y="2816352"/>
            <a:ext cx="310896" cy="310896"/>
          </a:xfrm>
          <a:prstGeom prst="ellipse">
            <a:avLst/>
          </a:prstGeom>
          <a:solidFill>
            <a:srgbClr val="A87C4F"/>
          </a:solidFill>
          <a:ln/>
        </p:spPr>
      </p:sp>
      <p:sp>
        <p:nvSpPr>
          <p:cNvPr id="17" name="Text 15"/>
          <p:cNvSpPr/>
          <p:nvPr/>
        </p:nvSpPr>
        <p:spPr>
          <a:xfrm>
            <a:off x="6217920" y="2816352"/>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18" name="Text 16"/>
          <p:cNvSpPr/>
          <p:nvPr/>
        </p:nvSpPr>
        <p:spPr>
          <a:xfrm>
            <a:off x="6675120" y="2761488"/>
            <a:ext cx="4663440" cy="256032"/>
          </a:xfrm>
          <a:prstGeom prst="rect">
            <a:avLst/>
          </a:prstGeom>
          <a:noFill/>
          <a:ln/>
        </p:spPr>
        <p:txBody>
          <a:bodyPr wrap="square" lIns="0" tIns="0" rIns="0" bIns="0" rtlCol="0" anchor="ctr"/>
          <a:lstStyle/>
          <a:p>
            <a:pPr indent="0" marL="0">
              <a:buNone/>
            </a:pPr>
            <a:r>
              <a:rPr lang="en-US" sz="1300" b="1" dirty="0">
                <a:solidFill>
                  <a:srgbClr val="1B2230"/>
                </a:solidFill>
                <a:latin typeface="Calibri" pitchFamily="34" charset="0"/>
                <a:ea typeface="Calibri" pitchFamily="34" charset="-122"/>
                <a:cs typeface="Calibri" pitchFamily="34" charset="-120"/>
              </a:rPr>
              <a:t>Dirección del Trabajo</a:t>
            </a:r>
            <a:endParaRPr lang="en-US" sz="1300" dirty="0"/>
          </a:p>
        </p:txBody>
      </p:sp>
      <p:sp>
        <p:nvSpPr>
          <p:cNvPr id="19" name="Text 17"/>
          <p:cNvSpPr/>
          <p:nvPr/>
        </p:nvSpPr>
        <p:spPr>
          <a:xfrm>
            <a:off x="6675120" y="3017520"/>
            <a:ext cx="4663440" cy="566928"/>
          </a:xfrm>
          <a:prstGeom prst="rect">
            <a:avLst/>
          </a:prstGeom>
          <a:noFill/>
          <a:ln/>
        </p:spPr>
        <p:txBody>
          <a:bodyPr wrap="square" lIns="0" tIns="0" rIns="0" bIns="0" rtlCol="0" anchor="ctr"/>
          <a:lstStyle/>
          <a:p>
            <a:pPr indent="0" marL="0">
              <a:lnSpc>
                <a:spcPct val="95000"/>
              </a:lnSpc>
              <a:buNone/>
            </a:pPr>
            <a:r>
              <a:rPr lang="en-US" sz="950" dirty="0">
                <a:solidFill>
                  <a:srgbClr val="5A6478"/>
                </a:solidFill>
                <a:latin typeface="Calibri" pitchFamily="34" charset="0"/>
                <a:ea typeface="Calibri" pitchFamily="34" charset="-122"/>
                <a:cs typeface="Calibri" pitchFamily="34" charset="-120"/>
              </a:rPr>
              <a:t>1.342 dictámenes indexados con sus</a:t>
            </a:r>
            <a:endParaRPr lang="en-US" sz="950" dirty="0"/>
          </a:p>
          <a:p>
            <a:pPr indent="0" marL="0">
              <a:lnSpc>
                <a:spcPct val="95000"/>
              </a:lnSpc>
              <a:buNone/>
            </a:pPr>
            <a:r>
              <a:rPr lang="en-US" sz="950" dirty="0">
                <a:solidFill>
                  <a:srgbClr val="5A6478"/>
                </a:solidFill>
                <a:latin typeface="Calibri" pitchFamily="34" charset="0"/>
                <a:ea typeface="Calibri" pitchFamily="34" charset="-122"/>
                <a:cs typeface="Calibri" pitchFamily="34" charset="-120"/>
              </a:rPr>
              <a:t>descriptores; datos desde 2005</a:t>
            </a:r>
            <a:endParaRPr lang="en-US" sz="950" dirty="0"/>
          </a:p>
        </p:txBody>
      </p:sp>
      <p:sp>
        <p:nvSpPr>
          <p:cNvPr id="20" name="Shape 18"/>
          <p:cNvSpPr/>
          <p:nvPr/>
        </p:nvSpPr>
        <p:spPr>
          <a:xfrm>
            <a:off x="777240" y="3749040"/>
            <a:ext cx="310896" cy="310896"/>
          </a:xfrm>
          <a:prstGeom prst="ellipse">
            <a:avLst/>
          </a:prstGeom>
          <a:solidFill>
            <a:srgbClr val="A87C4F"/>
          </a:solidFill>
          <a:ln/>
        </p:spPr>
      </p:sp>
      <p:sp>
        <p:nvSpPr>
          <p:cNvPr id="21" name="Text 19"/>
          <p:cNvSpPr/>
          <p:nvPr/>
        </p:nvSpPr>
        <p:spPr>
          <a:xfrm>
            <a:off x="777240" y="374904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22" name="Text 20"/>
          <p:cNvSpPr/>
          <p:nvPr/>
        </p:nvSpPr>
        <p:spPr>
          <a:xfrm>
            <a:off x="1234440" y="3694176"/>
            <a:ext cx="4663440" cy="256032"/>
          </a:xfrm>
          <a:prstGeom prst="rect">
            <a:avLst/>
          </a:prstGeom>
          <a:noFill/>
          <a:ln/>
        </p:spPr>
        <p:txBody>
          <a:bodyPr wrap="square" lIns="0" tIns="0" rIns="0" bIns="0" rtlCol="0" anchor="ctr"/>
          <a:lstStyle/>
          <a:p>
            <a:pPr indent="0" marL="0">
              <a:buNone/>
            </a:pPr>
            <a:r>
              <a:rPr lang="en-US" sz="1300" b="1" dirty="0">
                <a:solidFill>
                  <a:srgbClr val="1B2230"/>
                </a:solidFill>
                <a:latin typeface="Calibri" pitchFamily="34" charset="0"/>
                <a:ea typeface="Calibri" pitchFamily="34" charset="-122"/>
                <a:cs typeface="Calibri" pitchFamily="34" charset="-120"/>
              </a:rPr>
              <a:t>CAM Santiago</a:t>
            </a:r>
            <a:endParaRPr lang="en-US" sz="1300" dirty="0"/>
          </a:p>
        </p:txBody>
      </p:sp>
      <p:sp>
        <p:nvSpPr>
          <p:cNvPr id="23" name="Text 21"/>
          <p:cNvSpPr/>
          <p:nvPr/>
        </p:nvSpPr>
        <p:spPr>
          <a:xfrm>
            <a:off x="1234440" y="3950208"/>
            <a:ext cx="4663440" cy="566928"/>
          </a:xfrm>
          <a:prstGeom prst="rect">
            <a:avLst/>
          </a:prstGeom>
          <a:noFill/>
          <a:ln/>
        </p:spPr>
        <p:txBody>
          <a:bodyPr wrap="square" lIns="0" tIns="0" rIns="0" bIns="0" rtlCol="0" anchor="ctr"/>
          <a:lstStyle/>
          <a:p>
            <a:pPr indent="0" marL="0">
              <a:lnSpc>
                <a:spcPct val="95000"/>
              </a:lnSpc>
              <a:buNone/>
            </a:pPr>
            <a:r>
              <a:rPr lang="en-US" sz="950" dirty="0">
                <a:solidFill>
                  <a:srgbClr val="5A6478"/>
                </a:solidFill>
                <a:latin typeface="Calibri" pitchFamily="34" charset="0"/>
                <a:ea typeface="Calibri" pitchFamily="34" charset="-122"/>
                <a:cs typeface="Calibri" pitchFamily="34" charset="-120"/>
              </a:rPr>
              <a:t>1.812 laudos arbitrales por materia y por</a:t>
            </a:r>
            <a:endParaRPr lang="en-US" sz="950" dirty="0"/>
          </a:p>
          <a:p>
            <a:pPr indent="0" marL="0">
              <a:lnSpc>
                <a:spcPct val="95000"/>
              </a:lnSpc>
              <a:buNone/>
            </a:pPr>
            <a:r>
              <a:rPr lang="en-US" sz="950" dirty="0">
                <a:solidFill>
                  <a:srgbClr val="5A6478"/>
                </a:solidFill>
                <a:latin typeface="Calibri" pitchFamily="34" charset="0"/>
                <a:ea typeface="Calibri" pitchFamily="34" charset="-122"/>
                <a:cs typeface="Calibri" pitchFamily="34" charset="-120"/>
              </a:rPr>
              <a:t>árbitro, con enlace al PDF oficial</a:t>
            </a:r>
            <a:endParaRPr lang="en-US" sz="950" dirty="0"/>
          </a:p>
        </p:txBody>
      </p:sp>
      <p:sp>
        <p:nvSpPr>
          <p:cNvPr id="24" name="Shape 22"/>
          <p:cNvSpPr/>
          <p:nvPr/>
        </p:nvSpPr>
        <p:spPr>
          <a:xfrm>
            <a:off x="6217920" y="3749040"/>
            <a:ext cx="310896" cy="310896"/>
          </a:xfrm>
          <a:prstGeom prst="ellipse">
            <a:avLst/>
          </a:prstGeom>
          <a:solidFill>
            <a:srgbClr val="A87C4F"/>
          </a:solidFill>
          <a:ln/>
        </p:spPr>
      </p:sp>
      <p:sp>
        <p:nvSpPr>
          <p:cNvPr id="25" name="Text 23"/>
          <p:cNvSpPr/>
          <p:nvPr/>
        </p:nvSpPr>
        <p:spPr>
          <a:xfrm>
            <a:off x="6217920" y="374904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6</a:t>
            </a:r>
            <a:endParaRPr lang="en-US" sz="1200" dirty="0"/>
          </a:p>
        </p:txBody>
      </p:sp>
      <p:sp>
        <p:nvSpPr>
          <p:cNvPr id="26" name="Text 24"/>
          <p:cNvSpPr/>
          <p:nvPr/>
        </p:nvSpPr>
        <p:spPr>
          <a:xfrm>
            <a:off x="6675120" y="3694176"/>
            <a:ext cx="4663440" cy="256032"/>
          </a:xfrm>
          <a:prstGeom prst="rect">
            <a:avLst/>
          </a:prstGeom>
          <a:noFill/>
          <a:ln/>
        </p:spPr>
        <p:txBody>
          <a:bodyPr wrap="square" lIns="0" tIns="0" rIns="0" bIns="0" rtlCol="0" anchor="ctr"/>
          <a:lstStyle/>
          <a:p>
            <a:pPr indent="0" marL="0">
              <a:buNone/>
            </a:pPr>
            <a:r>
              <a:rPr lang="en-US" sz="1300" b="1" dirty="0">
                <a:solidFill>
                  <a:srgbClr val="1B2230"/>
                </a:solidFill>
                <a:latin typeface="Calibri" pitchFamily="34" charset="0"/>
                <a:ea typeface="Calibri" pitchFamily="34" charset="-122"/>
                <a:cs typeface="Calibri" pitchFamily="34" charset="-120"/>
              </a:rPr>
              <a:t>Ley Chile — BCN</a:t>
            </a:r>
            <a:endParaRPr lang="en-US" sz="1300" dirty="0"/>
          </a:p>
        </p:txBody>
      </p:sp>
      <p:sp>
        <p:nvSpPr>
          <p:cNvPr id="27" name="Text 25"/>
          <p:cNvSpPr/>
          <p:nvPr/>
        </p:nvSpPr>
        <p:spPr>
          <a:xfrm>
            <a:off x="6675120" y="3950208"/>
            <a:ext cx="4663440" cy="566928"/>
          </a:xfrm>
          <a:prstGeom prst="rect">
            <a:avLst/>
          </a:prstGeom>
          <a:noFill/>
          <a:ln/>
        </p:spPr>
        <p:txBody>
          <a:bodyPr wrap="square" lIns="0" tIns="0" rIns="0" bIns="0" rtlCol="0" anchor="ctr"/>
          <a:lstStyle/>
          <a:p>
            <a:pPr indent="0" marL="0">
              <a:lnSpc>
                <a:spcPct val="95000"/>
              </a:lnSpc>
              <a:buNone/>
            </a:pPr>
            <a:r>
              <a:rPr lang="en-US" sz="950" dirty="0">
                <a:solidFill>
                  <a:srgbClr val="5A6478"/>
                </a:solidFill>
                <a:latin typeface="Calibri" pitchFamily="34" charset="0"/>
                <a:ea typeface="Calibri" pitchFamily="34" charset="-122"/>
                <a:cs typeface="Calibri" pitchFamily="34" charset="-120"/>
              </a:rPr>
              <a:t>258.633 normas, con texto vigente por</a:t>
            </a:r>
            <a:endParaRPr lang="en-US" sz="950" dirty="0"/>
          </a:p>
          <a:p>
            <a:pPr indent="0" marL="0">
              <a:lnSpc>
                <a:spcPct val="95000"/>
              </a:lnSpc>
              <a:buNone/>
            </a:pPr>
            <a:r>
              <a:rPr lang="en-US" sz="950" dirty="0">
                <a:solidFill>
                  <a:srgbClr val="5A6478"/>
                </a:solidFill>
                <a:latin typeface="Calibri" pitchFamily="34" charset="0"/>
                <a:ea typeface="Calibri" pitchFamily="34" charset="-122"/>
                <a:cs typeface="Calibri" pitchFamily="34" charset="-120"/>
              </a:rPr>
              <a:t>artículo y marca de derogación</a:t>
            </a:r>
            <a:endParaRPr lang="en-US" sz="950" dirty="0"/>
          </a:p>
        </p:txBody>
      </p:sp>
      <p:sp>
        <p:nvSpPr>
          <p:cNvPr id="28" name="Shape 26"/>
          <p:cNvSpPr/>
          <p:nvPr/>
        </p:nvSpPr>
        <p:spPr>
          <a:xfrm>
            <a:off x="777240" y="4681728"/>
            <a:ext cx="310896" cy="310896"/>
          </a:xfrm>
          <a:prstGeom prst="ellipse">
            <a:avLst/>
          </a:prstGeom>
          <a:solidFill>
            <a:srgbClr val="A87C4F"/>
          </a:solidFill>
          <a:ln/>
        </p:spPr>
      </p:sp>
      <p:sp>
        <p:nvSpPr>
          <p:cNvPr id="29" name="Text 27"/>
          <p:cNvSpPr/>
          <p:nvPr/>
        </p:nvSpPr>
        <p:spPr>
          <a:xfrm>
            <a:off x="777240" y="4681728"/>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7</a:t>
            </a:r>
            <a:endParaRPr lang="en-US" sz="1200" dirty="0"/>
          </a:p>
        </p:txBody>
      </p:sp>
      <p:sp>
        <p:nvSpPr>
          <p:cNvPr id="30" name="Text 28"/>
          <p:cNvSpPr/>
          <p:nvPr/>
        </p:nvSpPr>
        <p:spPr>
          <a:xfrm>
            <a:off x="1234440" y="4626864"/>
            <a:ext cx="4663440" cy="256032"/>
          </a:xfrm>
          <a:prstGeom prst="rect">
            <a:avLst/>
          </a:prstGeom>
          <a:noFill/>
          <a:ln/>
        </p:spPr>
        <p:txBody>
          <a:bodyPr wrap="square" lIns="0" tIns="0" rIns="0" bIns="0" rtlCol="0" anchor="ctr"/>
          <a:lstStyle/>
          <a:p>
            <a:pPr indent="0" marL="0">
              <a:buNone/>
            </a:pPr>
            <a:r>
              <a:rPr lang="en-US" sz="1300" b="1" dirty="0">
                <a:solidFill>
                  <a:srgbClr val="1B2230"/>
                </a:solidFill>
                <a:latin typeface="Calibri" pitchFamily="34" charset="0"/>
                <a:ea typeface="Calibri" pitchFamily="34" charset="-122"/>
                <a:cs typeface="Calibri" pitchFamily="34" charset="-120"/>
              </a:rPr>
              <a:t>Revistas jurídicas</a:t>
            </a:r>
            <a:endParaRPr lang="en-US" sz="1300" dirty="0"/>
          </a:p>
        </p:txBody>
      </p:sp>
      <p:sp>
        <p:nvSpPr>
          <p:cNvPr id="31" name="Text 29"/>
          <p:cNvSpPr/>
          <p:nvPr/>
        </p:nvSpPr>
        <p:spPr>
          <a:xfrm>
            <a:off x="1234440" y="4882896"/>
            <a:ext cx="4663440" cy="566928"/>
          </a:xfrm>
          <a:prstGeom prst="rect">
            <a:avLst/>
          </a:prstGeom>
          <a:noFill/>
          <a:ln/>
        </p:spPr>
        <p:txBody>
          <a:bodyPr wrap="square" lIns="0" tIns="0" rIns="0" bIns="0" rtlCol="0" anchor="ctr"/>
          <a:lstStyle/>
          <a:p>
            <a:pPr indent="0" marL="0">
              <a:lnSpc>
                <a:spcPct val="95000"/>
              </a:lnSpc>
              <a:buNone/>
            </a:pPr>
            <a:r>
              <a:rPr lang="en-US" sz="950" dirty="0">
                <a:solidFill>
                  <a:srgbClr val="5A6478"/>
                </a:solidFill>
                <a:latin typeface="Calibri" pitchFamily="34" charset="0"/>
                <a:ea typeface="Calibri" pitchFamily="34" charset="-122"/>
                <a:cs typeface="Calibri" pitchFamily="34" charset="-120"/>
              </a:rPr>
              <a:t>Nueve revistas chilenas indexadas, con DOI</a:t>
            </a:r>
            <a:endParaRPr lang="en-US" sz="950" dirty="0"/>
          </a:p>
          <a:p>
            <a:pPr indent="0" marL="0">
              <a:lnSpc>
                <a:spcPct val="95000"/>
              </a:lnSpc>
              <a:buNone/>
            </a:pPr>
            <a:r>
              <a:rPr lang="en-US" sz="950" dirty="0">
                <a:solidFill>
                  <a:srgbClr val="5A6478"/>
                </a:solidFill>
                <a:latin typeface="Calibri" pitchFamily="34" charset="0"/>
                <a:ea typeface="Calibri" pitchFamily="34" charset="-122"/>
                <a:cs typeface="Calibri" pitchFamily="34" charset="-120"/>
              </a:rPr>
              <a:t>para citar</a:t>
            </a:r>
            <a:endParaRPr lang="en-US" sz="950" dirty="0"/>
          </a:p>
        </p:txBody>
      </p:sp>
      <p:sp>
        <p:nvSpPr>
          <p:cNvPr id="32" name="Shape 30"/>
          <p:cNvSpPr/>
          <p:nvPr/>
        </p:nvSpPr>
        <p:spPr>
          <a:xfrm>
            <a:off x="6217920" y="4681728"/>
            <a:ext cx="310896" cy="310896"/>
          </a:xfrm>
          <a:prstGeom prst="ellipse">
            <a:avLst/>
          </a:prstGeom>
          <a:solidFill>
            <a:srgbClr val="A87C4F"/>
          </a:solidFill>
          <a:ln/>
        </p:spPr>
      </p:sp>
      <p:sp>
        <p:nvSpPr>
          <p:cNvPr id="33" name="Text 31"/>
          <p:cNvSpPr/>
          <p:nvPr/>
        </p:nvSpPr>
        <p:spPr>
          <a:xfrm>
            <a:off x="6217920" y="4681728"/>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8</a:t>
            </a:r>
            <a:endParaRPr lang="en-US" sz="1200" dirty="0"/>
          </a:p>
        </p:txBody>
      </p:sp>
      <p:sp>
        <p:nvSpPr>
          <p:cNvPr id="34" name="Text 32"/>
          <p:cNvSpPr/>
          <p:nvPr/>
        </p:nvSpPr>
        <p:spPr>
          <a:xfrm>
            <a:off x="6675120" y="4626864"/>
            <a:ext cx="4663440" cy="256032"/>
          </a:xfrm>
          <a:prstGeom prst="rect">
            <a:avLst/>
          </a:prstGeom>
          <a:noFill/>
          <a:ln/>
        </p:spPr>
        <p:txBody>
          <a:bodyPr wrap="square" lIns="0" tIns="0" rIns="0" bIns="0" rtlCol="0" anchor="ctr"/>
          <a:lstStyle/>
          <a:p>
            <a:pPr indent="0" marL="0">
              <a:buNone/>
            </a:pPr>
            <a:r>
              <a:rPr lang="en-US" sz="1300" b="1" dirty="0">
                <a:solidFill>
                  <a:srgbClr val="1B2230"/>
                </a:solidFill>
                <a:latin typeface="Calibri" pitchFamily="34" charset="0"/>
                <a:ea typeface="Calibri" pitchFamily="34" charset="-122"/>
                <a:cs typeface="Calibri" pitchFamily="34" charset="-120"/>
              </a:rPr>
              <a:t>Estadísticas del PJUD</a:t>
            </a:r>
            <a:endParaRPr lang="en-US" sz="1300" dirty="0"/>
          </a:p>
        </p:txBody>
      </p:sp>
      <p:sp>
        <p:nvSpPr>
          <p:cNvPr id="35" name="Text 33"/>
          <p:cNvSpPr/>
          <p:nvPr/>
        </p:nvSpPr>
        <p:spPr>
          <a:xfrm>
            <a:off x="6675120" y="4882896"/>
            <a:ext cx="4663440" cy="566928"/>
          </a:xfrm>
          <a:prstGeom prst="rect">
            <a:avLst/>
          </a:prstGeom>
          <a:noFill/>
          <a:ln/>
        </p:spPr>
        <p:txBody>
          <a:bodyPr wrap="square" lIns="0" tIns="0" rIns="0" bIns="0" rtlCol="0" anchor="ctr"/>
          <a:lstStyle/>
          <a:p>
            <a:pPr indent="0" marL="0">
              <a:lnSpc>
                <a:spcPct val="95000"/>
              </a:lnSpc>
              <a:buNone/>
            </a:pPr>
            <a:r>
              <a:rPr lang="en-US" sz="950" dirty="0">
                <a:solidFill>
                  <a:srgbClr val="5A6478"/>
                </a:solidFill>
                <a:latin typeface="Calibri" pitchFamily="34" charset="0"/>
                <a:ea typeface="Calibri" pitchFamily="34" charset="-122"/>
                <a:cs typeface="Calibri" pitchFamily="34" charset="-120"/>
              </a:rPr>
              <a:t>Duración real de las causas, ingresos y</a:t>
            </a:r>
            <a:endParaRPr lang="en-US" sz="950" dirty="0"/>
          </a:p>
          <a:p>
            <a:pPr indent="0" marL="0">
              <a:lnSpc>
                <a:spcPct val="95000"/>
              </a:lnSpc>
              <a:buNone/>
            </a:pPr>
            <a:r>
              <a:rPr lang="en-US" sz="950" dirty="0">
                <a:solidFill>
                  <a:srgbClr val="5A6478"/>
                </a:solidFill>
                <a:latin typeface="Calibri" pitchFamily="34" charset="0"/>
                <a:ea typeface="Calibri" pitchFamily="34" charset="-122"/>
                <a:cs typeface="Calibri" pitchFamily="34" charset="-120"/>
              </a:rPr>
              <a:t>formas de término, desde 2015</a:t>
            </a:r>
            <a:endParaRPr lang="en-US" sz="950" dirty="0"/>
          </a:p>
        </p:txBody>
      </p:sp>
      <p:sp>
        <p:nvSpPr>
          <p:cNvPr id="36" name="Shape 34"/>
          <p:cNvSpPr/>
          <p:nvPr/>
        </p:nvSpPr>
        <p:spPr>
          <a:xfrm>
            <a:off x="777240" y="5614416"/>
            <a:ext cx="310896" cy="310896"/>
          </a:xfrm>
          <a:prstGeom prst="ellipse">
            <a:avLst/>
          </a:prstGeom>
          <a:solidFill>
            <a:srgbClr val="A87C4F"/>
          </a:solidFill>
          <a:ln/>
        </p:spPr>
      </p:sp>
      <p:sp>
        <p:nvSpPr>
          <p:cNvPr id="37" name="Text 35"/>
          <p:cNvSpPr/>
          <p:nvPr/>
        </p:nvSpPr>
        <p:spPr>
          <a:xfrm>
            <a:off x="777240" y="5614416"/>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9</a:t>
            </a:r>
            <a:endParaRPr lang="en-US" sz="1200" dirty="0"/>
          </a:p>
        </p:txBody>
      </p:sp>
      <p:sp>
        <p:nvSpPr>
          <p:cNvPr id="38" name="Text 36"/>
          <p:cNvSpPr/>
          <p:nvPr/>
        </p:nvSpPr>
        <p:spPr>
          <a:xfrm>
            <a:off x="1234440" y="5559552"/>
            <a:ext cx="4663440" cy="256032"/>
          </a:xfrm>
          <a:prstGeom prst="rect">
            <a:avLst/>
          </a:prstGeom>
          <a:noFill/>
          <a:ln/>
        </p:spPr>
        <p:txBody>
          <a:bodyPr wrap="square" lIns="0" tIns="0" rIns="0" bIns="0" rtlCol="0" anchor="ctr"/>
          <a:lstStyle/>
          <a:p>
            <a:pPr indent="0" marL="0">
              <a:buNone/>
            </a:pPr>
            <a:r>
              <a:rPr lang="en-US" sz="1300" b="1" dirty="0">
                <a:solidFill>
                  <a:srgbClr val="1B2230"/>
                </a:solidFill>
                <a:latin typeface="Calibri" pitchFamily="34" charset="0"/>
                <a:ea typeface="Calibri" pitchFamily="34" charset="-122"/>
                <a:cs typeface="Calibri" pitchFamily="34" charset="-120"/>
              </a:rPr>
              <a:t>Banco Central y SII</a:t>
            </a:r>
            <a:endParaRPr lang="en-US" sz="1300" dirty="0"/>
          </a:p>
        </p:txBody>
      </p:sp>
      <p:sp>
        <p:nvSpPr>
          <p:cNvPr id="39" name="Text 37"/>
          <p:cNvSpPr/>
          <p:nvPr/>
        </p:nvSpPr>
        <p:spPr>
          <a:xfrm>
            <a:off x="1234440" y="5815584"/>
            <a:ext cx="4663440" cy="566928"/>
          </a:xfrm>
          <a:prstGeom prst="rect">
            <a:avLst/>
          </a:prstGeom>
          <a:noFill/>
          <a:ln/>
        </p:spPr>
        <p:txBody>
          <a:bodyPr wrap="square" lIns="0" tIns="0" rIns="0" bIns="0" rtlCol="0" anchor="ctr"/>
          <a:lstStyle/>
          <a:p>
            <a:pPr indent="0" marL="0">
              <a:lnSpc>
                <a:spcPct val="95000"/>
              </a:lnSpc>
              <a:buNone/>
            </a:pPr>
            <a:r>
              <a:rPr lang="en-US" sz="950" dirty="0">
                <a:solidFill>
                  <a:srgbClr val="5A6478"/>
                </a:solidFill>
                <a:latin typeface="Calibri" pitchFamily="34" charset="0"/>
                <a:ea typeface="Calibri" pitchFamily="34" charset="-122"/>
                <a:cs typeface="Calibri" pitchFamily="34" charset="-120"/>
              </a:rPr>
              <a:t>UF, UTM e IPC, del día o de una fecha pasada</a:t>
            </a:r>
            <a:endParaRPr lang="en-US" sz="950" dirty="0"/>
          </a:p>
        </p:txBody>
      </p:sp>
      <p:sp>
        <p:nvSpPr>
          <p:cNvPr id="40" name="Shape 38"/>
          <p:cNvSpPr/>
          <p:nvPr/>
        </p:nvSpPr>
        <p:spPr>
          <a:xfrm>
            <a:off x="6217920" y="5614416"/>
            <a:ext cx="310896" cy="310896"/>
          </a:xfrm>
          <a:prstGeom prst="ellipse">
            <a:avLst/>
          </a:prstGeom>
          <a:solidFill>
            <a:srgbClr val="8A93A5"/>
          </a:solidFill>
          <a:ln/>
        </p:spPr>
      </p:sp>
      <p:sp>
        <p:nvSpPr>
          <p:cNvPr id="41" name="Text 39"/>
          <p:cNvSpPr/>
          <p:nvPr/>
        </p:nvSpPr>
        <p:spPr>
          <a:xfrm>
            <a:off x="6217920" y="5614416"/>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10</a:t>
            </a:r>
            <a:endParaRPr lang="en-US" sz="1200" dirty="0"/>
          </a:p>
        </p:txBody>
      </p:sp>
      <p:sp>
        <p:nvSpPr>
          <p:cNvPr id="42" name="Text 40"/>
          <p:cNvSpPr/>
          <p:nvPr/>
        </p:nvSpPr>
        <p:spPr>
          <a:xfrm>
            <a:off x="6675120" y="5559552"/>
            <a:ext cx="4663440" cy="256032"/>
          </a:xfrm>
          <a:prstGeom prst="rect">
            <a:avLst/>
          </a:prstGeom>
          <a:noFill/>
          <a:ln/>
        </p:spPr>
        <p:txBody>
          <a:bodyPr wrap="square" lIns="0" tIns="0" rIns="0" bIns="0" rtlCol="0" anchor="ctr"/>
          <a:lstStyle/>
          <a:p>
            <a:pPr indent="0" marL="0">
              <a:buNone/>
            </a:pPr>
            <a:r>
              <a:rPr lang="en-US" sz="1300" b="1" dirty="0">
                <a:solidFill>
                  <a:srgbClr val="5A6478"/>
                </a:solidFill>
                <a:latin typeface="Calibri" pitchFamily="34" charset="0"/>
                <a:ea typeface="Calibri" pitchFamily="34" charset="-122"/>
                <a:cs typeface="Calibri" pitchFamily="34" charset="-120"/>
              </a:rPr>
              <a:t>Oficina Judicial Virtual</a:t>
            </a:r>
            <a:endParaRPr lang="en-US" sz="1300" dirty="0"/>
          </a:p>
        </p:txBody>
      </p:sp>
      <p:sp>
        <p:nvSpPr>
          <p:cNvPr id="43" name="Text 41"/>
          <p:cNvSpPr/>
          <p:nvPr/>
        </p:nvSpPr>
        <p:spPr>
          <a:xfrm>
            <a:off x="6675120" y="5815584"/>
            <a:ext cx="4663440" cy="566928"/>
          </a:xfrm>
          <a:prstGeom prst="rect">
            <a:avLst/>
          </a:prstGeom>
          <a:noFill/>
          <a:ln/>
        </p:spPr>
        <p:txBody>
          <a:bodyPr wrap="square" lIns="0" tIns="0" rIns="0" bIns="0" rtlCol="0" anchor="ctr"/>
          <a:lstStyle/>
          <a:p>
            <a:pPr indent="0" marL="0">
              <a:lnSpc>
                <a:spcPct val="95000"/>
              </a:lnSpc>
              <a:buNone/>
            </a:pPr>
            <a:r>
              <a:rPr lang="en-US" sz="950" dirty="0">
                <a:solidFill>
                  <a:srgbClr val="5A6478"/>
                </a:solidFill>
                <a:latin typeface="Calibri" pitchFamily="34" charset="0"/>
                <a:ea typeface="Calibri" pitchFamily="34" charset="-122"/>
                <a:cs typeface="Calibri" pitchFamily="34" charset="-120"/>
              </a:rPr>
              <a:t>Enlace y pasos para consultar una causa</a:t>
            </a:r>
            <a:endParaRPr lang="en-US" sz="950" dirty="0"/>
          </a:p>
          <a:p>
            <a:pPr indent="0" marL="0">
              <a:lnSpc>
                <a:spcPct val="95000"/>
              </a:lnSpc>
              <a:buNone/>
            </a:pPr>
            <a:r>
              <a:rPr lang="en-US" sz="950" dirty="0">
                <a:solidFill>
                  <a:srgbClr val="5A6478"/>
                </a:solidFill>
                <a:latin typeface="Calibri" pitchFamily="34" charset="0"/>
                <a:ea typeface="Calibri" pitchFamily="34" charset="-122"/>
                <a:cs typeface="Calibri" pitchFamily="34" charset="-120"/>
              </a:rPr>
              <a:t>(no automatizado, ver más adelante)</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4F1EA"/>
        </a:solidFill>
      </p:bgPr>
    </p:bg>
    <p:spTree>
      <p:nvGrpSpPr>
        <p:cNvPr id="1" name=""/>
        <p:cNvGrpSpPr/>
        <p:nvPr/>
      </p:nvGrpSpPr>
      <p:grpSpPr>
        <a:xfrm>
          <a:off x="0" y="0"/>
          <a:ext cx="0" cy="0"/>
          <a:chOff x="0" y="0"/>
          <a:chExt cx="0" cy="0"/>
        </a:xfrm>
      </p:grpSpPr>
      <p:sp>
        <p:nvSpPr>
          <p:cNvPr id="2" name="Text 0"/>
          <p:cNvSpPr/>
          <p:nvPr/>
        </p:nvSpPr>
        <p:spPr>
          <a:xfrm>
            <a:off x="777240" y="566928"/>
            <a:ext cx="10634472" cy="566928"/>
          </a:xfrm>
          <a:prstGeom prst="rect">
            <a:avLst/>
          </a:prstGeom>
          <a:noFill/>
          <a:ln/>
        </p:spPr>
        <p:txBody>
          <a:bodyPr wrap="square" lIns="0" tIns="0" rIns="0" bIns="0" rtlCol="0" anchor="ctr"/>
          <a:lstStyle/>
          <a:p>
            <a:pPr indent="0" marL="0">
              <a:buNone/>
            </a:pPr>
            <a:r>
              <a:rPr lang="en-US" sz="3200" b="1" dirty="0">
                <a:solidFill>
                  <a:srgbClr val="1B2230"/>
                </a:solidFill>
                <a:latin typeface="Cambria" pitchFamily="34" charset="0"/>
                <a:ea typeface="Cambria" pitchFamily="34" charset="-122"/>
                <a:cs typeface="Cambria" pitchFamily="34" charset="-120"/>
              </a:rPr>
              <a:t>Qué devuelve, exactamente</a:t>
            </a:r>
            <a:endParaRPr lang="en-US" sz="3200" dirty="0"/>
          </a:p>
        </p:txBody>
      </p:sp>
      <p:sp>
        <p:nvSpPr>
          <p:cNvPr id="3" name="Text 1"/>
          <p:cNvSpPr/>
          <p:nvPr/>
        </p:nvSpPr>
        <p:spPr>
          <a:xfrm>
            <a:off x="777240" y="1152144"/>
            <a:ext cx="9537192" cy="384048"/>
          </a:xfrm>
          <a:prstGeom prst="rect">
            <a:avLst/>
          </a:prstGeom>
          <a:noFill/>
          <a:ln/>
        </p:spPr>
        <p:txBody>
          <a:bodyPr wrap="square" lIns="0" tIns="0" rIns="0" bIns="0" rtlCol="0" anchor="ctr"/>
          <a:lstStyle/>
          <a:p>
            <a:pPr indent="0" marL="0">
              <a:buNone/>
            </a:pPr>
            <a:r>
              <a:rPr lang="en-US" sz="1350" i="1" dirty="0">
                <a:solidFill>
                  <a:srgbClr val="5A6478"/>
                </a:solidFill>
                <a:latin typeface="Calibri" pitchFamily="34" charset="0"/>
                <a:ea typeface="Calibri" pitchFamily="34" charset="-122"/>
                <a:cs typeface="Calibri" pitchFamily="34" charset="-120"/>
              </a:rPr>
              <a:t>Un fallo real, tal como llega desde el Poder Judicial</a:t>
            </a:r>
            <a:endParaRPr lang="en-US" sz="1350" dirty="0"/>
          </a:p>
        </p:txBody>
      </p:sp>
      <p:sp>
        <p:nvSpPr>
          <p:cNvPr id="4" name="Shape 2"/>
          <p:cNvSpPr/>
          <p:nvPr/>
        </p:nvSpPr>
        <p:spPr>
          <a:xfrm>
            <a:off x="777240" y="1847088"/>
            <a:ext cx="6858000" cy="3950208"/>
          </a:xfrm>
          <a:prstGeom prst="roundRect">
            <a:avLst>
              <a:gd name="adj" fmla="val 1389"/>
            </a:avLst>
          </a:prstGeom>
          <a:solidFill>
            <a:srgbClr val="FFFFFF"/>
          </a:solidFill>
          <a:ln w="9525">
            <a:solidFill>
              <a:srgbClr val="E3DED3"/>
            </a:solidFill>
            <a:prstDash val="solid"/>
          </a:ln>
        </p:spPr>
      </p:sp>
      <p:sp>
        <p:nvSpPr>
          <p:cNvPr id="5" name="Text 3"/>
          <p:cNvSpPr/>
          <p:nvPr/>
        </p:nvSpPr>
        <p:spPr>
          <a:xfrm>
            <a:off x="1088136" y="2048256"/>
            <a:ext cx="1572768" cy="274320"/>
          </a:xfrm>
          <a:prstGeom prst="rect">
            <a:avLst/>
          </a:prstGeom>
          <a:noFill/>
          <a:ln/>
        </p:spPr>
        <p:txBody>
          <a:bodyPr wrap="square" lIns="0" tIns="0" rIns="0" bIns="0" rtlCol="0" anchor="ctr"/>
          <a:lstStyle/>
          <a:p>
            <a:pPr indent="0" marL="0">
              <a:buNone/>
            </a:pPr>
            <a:r>
              <a:rPr lang="en-US" sz="1050" b="1" dirty="0">
                <a:solidFill>
                  <a:srgbClr val="A87C4F"/>
                </a:solidFill>
                <a:latin typeface="Calibri" pitchFamily="34" charset="0"/>
                <a:ea typeface="Calibri" pitchFamily="34" charset="-122"/>
                <a:cs typeface="Calibri" pitchFamily="34" charset="-120"/>
              </a:rPr>
              <a:t>Rol</a:t>
            </a:r>
            <a:endParaRPr lang="en-US" sz="1050" dirty="0"/>
          </a:p>
        </p:txBody>
      </p:sp>
      <p:sp>
        <p:nvSpPr>
          <p:cNvPr id="6" name="Text 4"/>
          <p:cNvSpPr/>
          <p:nvPr/>
        </p:nvSpPr>
        <p:spPr>
          <a:xfrm>
            <a:off x="2715768" y="2048256"/>
            <a:ext cx="4663440" cy="274320"/>
          </a:xfrm>
          <a:prstGeom prst="rect">
            <a:avLst/>
          </a:prstGeom>
          <a:noFill/>
          <a:ln/>
        </p:spPr>
        <p:txBody>
          <a:bodyPr wrap="square" lIns="0" tIns="0" rIns="0" bIns="0" rtlCol="0" anchor="ctr"/>
          <a:lstStyle/>
          <a:p>
            <a:pPr indent="0" marL="0">
              <a:buNone/>
            </a:pPr>
            <a:r>
              <a:rPr lang="en-US" sz="1050" dirty="0">
                <a:solidFill>
                  <a:srgbClr val="1B2230"/>
                </a:solidFill>
                <a:latin typeface="Calibri" pitchFamily="34" charset="0"/>
                <a:ea typeface="Calibri" pitchFamily="34" charset="-122"/>
                <a:cs typeface="Calibri" pitchFamily="34" charset="-120"/>
              </a:rPr>
              <a:t>34.956-2026</a:t>
            </a:r>
            <a:endParaRPr lang="en-US" sz="1050" dirty="0"/>
          </a:p>
        </p:txBody>
      </p:sp>
      <p:sp>
        <p:nvSpPr>
          <p:cNvPr id="7" name="Text 5"/>
          <p:cNvSpPr/>
          <p:nvPr/>
        </p:nvSpPr>
        <p:spPr>
          <a:xfrm>
            <a:off x="1088136" y="2391156"/>
            <a:ext cx="1572768" cy="274320"/>
          </a:xfrm>
          <a:prstGeom prst="rect">
            <a:avLst/>
          </a:prstGeom>
          <a:noFill/>
          <a:ln/>
        </p:spPr>
        <p:txBody>
          <a:bodyPr wrap="square" lIns="0" tIns="0" rIns="0" bIns="0" rtlCol="0" anchor="ctr"/>
          <a:lstStyle/>
          <a:p>
            <a:pPr indent="0" marL="0">
              <a:buNone/>
            </a:pPr>
            <a:r>
              <a:rPr lang="en-US" sz="1050" b="1" dirty="0">
                <a:solidFill>
                  <a:srgbClr val="A87C4F"/>
                </a:solidFill>
                <a:latin typeface="Calibri" pitchFamily="34" charset="0"/>
                <a:ea typeface="Calibri" pitchFamily="34" charset="-122"/>
                <a:cs typeface="Calibri" pitchFamily="34" charset="-120"/>
              </a:rPr>
              <a:t>Tribunal</a:t>
            </a:r>
            <a:endParaRPr lang="en-US" sz="1050" dirty="0"/>
          </a:p>
        </p:txBody>
      </p:sp>
      <p:sp>
        <p:nvSpPr>
          <p:cNvPr id="8" name="Text 6"/>
          <p:cNvSpPr/>
          <p:nvPr/>
        </p:nvSpPr>
        <p:spPr>
          <a:xfrm>
            <a:off x="2715768" y="2391156"/>
            <a:ext cx="4663440" cy="274320"/>
          </a:xfrm>
          <a:prstGeom prst="rect">
            <a:avLst/>
          </a:prstGeom>
          <a:noFill/>
          <a:ln/>
        </p:spPr>
        <p:txBody>
          <a:bodyPr wrap="square" lIns="0" tIns="0" rIns="0" bIns="0" rtlCol="0" anchor="ctr"/>
          <a:lstStyle/>
          <a:p>
            <a:pPr indent="0" marL="0">
              <a:buNone/>
            </a:pPr>
            <a:r>
              <a:rPr lang="en-US" sz="1050" dirty="0">
                <a:solidFill>
                  <a:srgbClr val="1B2230"/>
                </a:solidFill>
                <a:latin typeface="Calibri" pitchFamily="34" charset="0"/>
                <a:ea typeface="Calibri" pitchFamily="34" charset="-122"/>
                <a:cs typeface="Calibri" pitchFamily="34" charset="-120"/>
              </a:rPr>
              <a:t>Corte Suprema · Cuarta Sala, Mixta</a:t>
            </a:r>
            <a:endParaRPr lang="en-US" sz="1050" dirty="0"/>
          </a:p>
        </p:txBody>
      </p:sp>
      <p:sp>
        <p:nvSpPr>
          <p:cNvPr id="9" name="Text 7"/>
          <p:cNvSpPr/>
          <p:nvPr/>
        </p:nvSpPr>
        <p:spPr>
          <a:xfrm>
            <a:off x="1088136" y="2734056"/>
            <a:ext cx="1572768" cy="274320"/>
          </a:xfrm>
          <a:prstGeom prst="rect">
            <a:avLst/>
          </a:prstGeom>
          <a:noFill/>
          <a:ln/>
        </p:spPr>
        <p:txBody>
          <a:bodyPr wrap="square" lIns="0" tIns="0" rIns="0" bIns="0" rtlCol="0" anchor="ctr"/>
          <a:lstStyle/>
          <a:p>
            <a:pPr indent="0" marL="0">
              <a:buNone/>
            </a:pPr>
            <a:r>
              <a:rPr lang="en-US" sz="1050" b="1" dirty="0">
                <a:solidFill>
                  <a:srgbClr val="A87C4F"/>
                </a:solidFill>
                <a:latin typeface="Calibri" pitchFamily="34" charset="0"/>
                <a:ea typeface="Calibri" pitchFamily="34" charset="-122"/>
                <a:cs typeface="Calibri" pitchFamily="34" charset="-120"/>
              </a:rPr>
              <a:t>Corte de origen</a:t>
            </a:r>
            <a:endParaRPr lang="en-US" sz="1050" dirty="0"/>
          </a:p>
        </p:txBody>
      </p:sp>
      <p:sp>
        <p:nvSpPr>
          <p:cNvPr id="10" name="Text 8"/>
          <p:cNvSpPr/>
          <p:nvPr/>
        </p:nvSpPr>
        <p:spPr>
          <a:xfrm>
            <a:off x="2715768" y="2734056"/>
            <a:ext cx="4663440" cy="274320"/>
          </a:xfrm>
          <a:prstGeom prst="rect">
            <a:avLst/>
          </a:prstGeom>
          <a:noFill/>
          <a:ln/>
        </p:spPr>
        <p:txBody>
          <a:bodyPr wrap="square" lIns="0" tIns="0" rIns="0" bIns="0" rtlCol="0" anchor="ctr"/>
          <a:lstStyle/>
          <a:p>
            <a:pPr indent="0" marL="0">
              <a:buNone/>
            </a:pPr>
            <a:r>
              <a:rPr lang="en-US" sz="1050" dirty="0">
                <a:solidFill>
                  <a:srgbClr val="1B2230"/>
                </a:solidFill>
                <a:latin typeface="Calibri" pitchFamily="34" charset="0"/>
                <a:ea typeface="Calibri" pitchFamily="34" charset="-122"/>
                <a:cs typeface="Calibri" pitchFamily="34" charset="-120"/>
              </a:rPr>
              <a:t>C.A. de Chillán (por donde pasó, no quien falló)</a:t>
            </a:r>
            <a:endParaRPr lang="en-US" sz="1050" dirty="0"/>
          </a:p>
        </p:txBody>
      </p:sp>
      <p:sp>
        <p:nvSpPr>
          <p:cNvPr id="11" name="Text 9"/>
          <p:cNvSpPr/>
          <p:nvPr/>
        </p:nvSpPr>
        <p:spPr>
          <a:xfrm>
            <a:off x="1088136" y="3076956"/>
            <a:ext cx="1572768" cy="274320"/>
          </a:xfrm>
          <a:prstGeom prst="rect">
            <a:avLst/>
          </a:prstGeom>
          <a:noFill/>
          <a:ln/>
        </p:spPr>
        <p:txBody>
          <a:bodyPr wrap="square" lIns="0" tIns="0" rIns="0" bIns="0" rtlCol="0" anchor="ctr"/>
          <a:lstStyle/>
          <a:p>
            <a:pPr indent="0" marL="0">
              <a:buNone/>
            </a:pPr>
            <a:r>
              <a:rPr lang="en-US" sz="1050" b="1" dirty="0">
                <a:solidFill>
                  <a:srgbClr val="A87C4F"/>
                </a:solidFill>
                <a:latin typeface="Calibri" pitchFamily="34" charset="0"/>
                <a:ea typeface="Calibri" pitchFamily="34" charset="-122"/>
                <a:cs typeface="Calibri" pitchFamily="34" charset="-120"/>
              </a:rPr>
              <a:t>Fecha</a:t>
            </a:r>
            <a:endParaRPr lang="en-US" sz="1050" dirty="0"/>
          </a:p>
        </p:txBody>
      </p:sp>
      <p:sp>
        <p:nvSpPr>
          <p:cNvPr id="12" name="Text 10"/>
          <p:cNvSpPr/>
          <p:nvPr/>
        </p:nvSpPr>
        <p:spPr>
          <a:xfrm>
            <a:off x="2715768" y="3076956"/>
            <a:ext cx="4663440" cy="274320"/>
          </a:xfrm>
          <a:prstGeom prst="rect">
            <a:avLst/>
          </a:prstGeom>
          <a:noFill/>
          <a:ln/>
        </p:spPr>
        <p:txBody>
          <a:bodyPr wrap="square" lIns="0" tIns="0" rIns="0" bIns="0" rtlCol="0" anchor="ctr"/>
          <a:lstStyle/>
          <a:p>
            <a:pPr indent="0" marL="0">
              <a:buNone/>
            </a:pPr>
            <a:r>
              <a:rPr lang="en-US" sz="1050" dirty="0">
                <a:solidFill>
                  <a:srgbClr val="1B2230"/>
                </a:solidFill>
                <a:latin typeface="Calibri" pitchFamily="34" charset="0"/>
                <a:ea typeface="Calibri" pitchFamily="34" charset="-122"/>
                <a:cs typeface="Calibri" pitchFamily="34" charset="-120"/>
              </a:rPr>
              <a:t>13 de agosto de 2026</a:t>
            </a:r>
            <a:endParaRPr lang="en-US" sz="1050" dirty="0"/>
          </a:p>
        </p:txBody>
      </p:sp>
      <p:sp>
        <p:nvSpPr>
          <p:cNvPr id="13" name="Text 11"/>
          <p:cNvSpPr/>
          <p:nvPr/>
        </p:nvSpPr>
        <p:spPr>
          <a:xfrm>
            <a:off x="1088136" y="3419856"/>
            <a:ext cx="1572768" cy="274320"/>
          </a:xfrm>
          <a:prstGeom prst="rect">
            <a:avLst/>
          </a:prstGeom>
          <a:noFill/>
          <a:ln/>
        </p:spPr>
        <p:txBody>
          <a:bodyPr wrap="square" lIns="0" tIns="0" rIns="0" bIns="0" rtlCol="0" anchor="ctr"/>
          <a:lstStyle/>
          <a:p>
            <a:pPr indent="0" marL="0">
              <a:buNone/>
            </a:pPr>
            <a:r>
              <a:rPr lang="en-US" sz="1050" b="1" dirty="0">
                <a:solidFill>
                  <a:srgbClr val="A87C4F"/>
                </a:solidFill>
                <a:latin typeface="Calibri" pitchFamily="34" charset="0"/>
                <a:ea typeface="Calibri" pitchFamily="34" charset="-122"/>
                <a:cs typeface="Calibri" pitchFamily="34" charset="-120"/>
              </a:rPr>
              <a:t>Carátula</a:t>
            </a:r>
            <a:endParaRPr lang="en-US" sz="1050" dirty="0"/>
          </a:p>
        </p:txBody>
      </p:sp>
      <p:sp>
        <p:nvSpPr>
          <p:cNvPr id="14" name="Text 12"/>
          <p:cNvSpPr/>
          <p:nvPr/>
        </p:nvSpPr>
        <p:spPr>
          <a:xfrm>
            <a:off x="2715768" y="3419856"/>
            <a:ext cx="4663440" cy="274320"/>
          </a:xfrm>
          <a:prstGeom prst="rect">
            <a:avLst/>
          </a:prstGeom>
          <a:noFill/>
          <a:ln/>
        </p:spPr>
        <p:txBody>
          <a:bodyPr wrap="square" lIns="0" tIns="0" rIns="0" bIns="0" rtlCol="0" anchor="ctr"/>
          <a:lstStyle/>
          <a:p>
            <a:pPr indent="0" marL="0">
              <a:buNone/>
            </a:pPr>
            <a:r>
              <a:rPr lang="en-US" sz="1050" dirty="0">
                <a:solidFill>
                  <a:srgbClr val="1B2230"/>
                </a:solidFill>
                <a:latin typeface="Calibri" pitchFamily="34" charset="0"/>
                <a:ea typeface="Calibri" pitchFamily="34" charset="-122"/>
                <a:cs typeface="Calibri" pitchFamily="34" charset="-120"/>
              </a:rPr>
              <a:t>Mardones con Sacyr Operación y Servicios S.A.</a:t>
            </a:r>
            <a:endParaRPr lang="en-US" sz="1050" dirty="0"/>
          </a:p>
        </p:txBody>
      </p:sp>
      <p:sp>
        <p:nvSpPr>
          <p:cNvPr id="15" name="Text 13"/>
          <p:cNvSpPr/>
          <p:nvPr/>
        </p:nvSpPr>
        <p:spPr>
          <a:xfrm>
            <a:off x="1088136" y="3762756"/>
            <a:ext cx="1572768" cy="274320"/>
          </a:xfrm>
          <a:prstGeom prst="rect">
            <a:avLst/>
          </a:prstGeom>
          <a:noFill/>
          <a:ln/>
        </p:spPr>
        <p:txBody>
          <a:bodyPr wrap="square" lIns="0" tIns="0" rIns="0" bIns="0" rtlCol="0" anchor="ctr"/>
          <a:lstStyle/>
          <a:p>
            <a:pPr indent="0" marL="0">
              <a:buNone/>
            </a:pPr>
            <a:r>
              <a:rPr lang="en-US" sz="1050" b="1" dirty="0">
                <a:solidFill>
                  <a:srgbClr val="A87C4F"/>
                </a:solidFill>
                <a:latin typeface="Calibri" pitchFamily="34" charset="0"/>
                <a:ea typeface="Calibri" pitchFamily="34" charset="-122"/>
                <a:cs typeface="Calibri" pitchFamily="34" charset="-120"/>
              </a:rPr>
              <a:t>Recurso</a:t>
            </a:r>
            <a:endParaRPr lang="en-US" sz="1050" dirty="0"/>
          </a:p>
        </p:txBody>
      </p:sp>
      <p:sp>
        <p:nvSpPr>
          <p:cNvPr id="16" name="Text 14"/>
          <p:cNvSpPr/>
          <p:nvPr/>
        </p:nvSpPr>
        <p:spPr>
          <a:xfrm>
            <a:off x="2715768" y="3762756"/>
            <a:ext cx="4663440" cy="274320"/>
          </a:xfrm>
          <a:prstGeom prst="rect">
            <a:avLst/>
          </a:prstGeom>
          <a:noFill/>
          <a:ln/>
        </p:spPr>
        <p:txBody>
          <a:bodyPr wrap="square" lIns="0" tIns="0" rIns="0" bIns="0" rtlCol="0" anchor="ctr"/>
          <a:lstStyle/>
          <a:p>
            <a:pPr indent="0" marL="0">
              <a:buNone/>
            </a:pPr>
            <a:r>
              <a:rPr lang="en-US" sz="1050" dirty="0">
                <a:solidFill>
                  <a:srgbClr val="1B2230"/>
                </a:solidFill>
                <a:latin typeface="Calibri" pitchFamily="34" charset="0"/>
                <a:ea typeface="Calibri" pitchFamily="34" charset="-122"/>
                <a:cs typeface="Calibri" pitchFamily="34" charset="-120"/>
              </a:rPr>
              <a:t>Unificación de jurisprudencia (laboral)</a:t>
            </a:r>
            <a:endParaRPr lang="en-US" sz="1050" dirty="0"/>
          </a:p>
        </p:txBody>
      </p:sp>
      <p:sp>
        <p:nvSpPr>
          <p:cNvPr id="17" name="Text 15"/>
          <p:cNvSpPr/>
          <p:nvPr/>
        </p:nvSpPr>
        <p:spPr>
          <a:xfrm>
            <a:off x="1088136" y="4105656"/>
            <a:ext cx="1572768" cy="274320"/>
          </a:xfrm>
          <a:prstGeom prst="rect">
            <a:avLst/>
          </a:prstGeom>
          <a:noFill/>
          <a:ln/>
        </p:spPr>
        <p:txBody>
          <a:bodyPr wrap="square" lIns="0" tIns="0" rIns="0" bIns="0" rtlCol="0" anchor="ctr"/>
          <a:lstStyle/>
          <a:p>
            <a:pPr indent="0" marL="0">
              <a:buNone/>
            </a:pPr>
            <a:r>
              <a:rPr lang="en-US" sz="1050" b="1" dirty="0">
                <a:solidFill>
                  <a:srgbClr val="A87C4F"/>
                </a:solidFill>
                <a:latin typeface="Calibri" pitchFamily="34" charset="0"/>
                <a:ea typeface="Calibri" pitchFamily="34" charset="-122"/>
                <a:cs typeface="Calibri" pitchFamily="34" charset="-120"/>
              </a:rPr>
              <a:t>Resultado</a:t>
            </a:r>
            <a:endParaRPr lang="en-US" sz="1050" dirty="0"/>
          </a:p>
        </p:txBody>
      </p:sp>
      <p:sp>
        <p:nvSpPr>
          <p:cNvPr id="18" name="Text 16"/>
          <p:cNvSpPr/>
          <p:nvPr/>
        </p:nvSpPr>
        <p:spPr>
          <a:xfrm>
            <a:off x="2715768" y="4105656"/>
            <a:ext cx="4663440" cy="274320"/>
          </a:xfrm>
          <a:prstGeom prst="rect">
            <a:avLst/>
          </a:prstGeom>
          <a:noFill/>
          <a:ln/>
        </p:spPr>
        <p:txBody>
          <a:bodyPr wrap="square" lIns="0" tIns="0" rIns="0" bIns="0" rtlCol="0" anchor="ctr"/>
          <a:lstStyle/>
          <a:p>
            <a:pPr indent="0" marL="0">
              <a:buNone/>
            </a:pPr>
            <a:r>
              <a:rPr lang="en-US" sz="1050" dirty="0">
                <a:solidFill>
                  <a:srgbClr val="1B2230"/>
                </a:solidFill>
                <a:latin typeface="Calibri" pitchFamily="34" charset="0"/>
                <a:ea typeface="Calibri" pitchFamily="34" charset="-122"/>
                <a:cs typeface="Calibri" pitchFamily="34" charset="-120"/>
              </a:rPr>
              <a:t>Inadmisible: no es materia propia de unificación</a:t>
            </a:r>
            <a:endParaRPr lang="en-US" sz="1050" dirty="0"/>
          </a:p>
        </p:txBody>
      </p:sp>
      <p:sp>
        <p:nvSpPr>
          <p:cNvPr id="19" name="Text 17"/>
          <p:cNvSpPr/>
          <p:nvPr/>
        </p:nvSpPr>
        <p:spPr>
          <a:xfrm>
            <a:off x="1088136" y="4448556"/>
            <a:ext cx="1572768" cy="274320"/>
          </a:xfrm>
          <a:prstGeom prst="rect">
            <a:avLst/>
          </a:prstGeom>
          <a:noFill/>
          <a:ln/>
        </p:spPr>
        <p:txBody>
          <a:bodyPr wrap="square" lIns="0" tIns="0" rIns="0" bIns="0" rtlCol="0" anchor="ctr"/>
          <a:lstStyle/>
          <a:p>
            <a:pPr indent="0" marL="0">
              <a:buNone/>
            </a:pPr>
            <a:r>
              <a:rPr lang="en-US" sz="1050" b="1" dirty="0">
                <a:solidFill>
                  <a:srgbClr val="A87C4F"/>
                </a:solidFill>
                <a:latin typeface="Calibri" pitchFamily="34" charset="0"/>
                <a:ea typeface="Calibri" pitchFamily="34" charset="-122"/>
                <a:cs typeface="Calibri" pitchFamily="34" charset="-120"/>
              </a:rPr>
              <a:t>Normas aplicadas</a:t>
            </a:r>
            <a:endParaRPr lang="en-US" sz="1050" dirty="0"/>
          </a:p>
        </p:txBody>
      </p:sp>
      <p:sp>
        <p:nvSpPr>
          <p:cNvPr id="20" name="Text 18"/>
          <p:cNvSpPr/>
          <p:nvPr/>
        </p:nvSpPr>
        <p:spPr>
          <a:xfrm>
            <a:off x="2715768" y="4448556"/>
            <a:ext cx="4663440" cy="274320"/>
          </a:xfrm>
          <a:prstGeom prst="rect">
            <a:avLst/>
          </a:prstGeom>
          <a:noFill/>
          <a:ln/>
        </p:spPr>
        <p:txBody>
          <a:bodyPr wrap="square" lIns="0" tIns="0" rIns="0" bIns="0" rtlCol="0" anchor="ctr"/>
          <a:lstStyle/>
          <a:p>
            <a:pPr indent="0" marL="0">
              <a:buNone/>
            </a:pPr>
            <a:r>
              <a:rPr lang="en-US" sz="1050" dirty="0">
                <a:solidFill>
                  <a:srgbClr val="1B2230"/>
                </a:solidFill>
                <a:latin typeface="Calibri" pitchFamily="34" charset="0"/>
                <a:ea typeface="Calibri" pitchFamily="34" charset="-122"/>
                <a:cs typeface="Calibri" pitchFamily="34" charset="-120"/>
              </a:rPr>
              <a:t>Código del Trabajo, arts. 483 y 483 A → enlace a Ley Chile</a:t>
            </a:r>
            <a:endParaRPr lang="en-US" sz="1050" dirty="0"/>
          </a:p>
        </p:txBody>
      </p:sp>
      <p:sp>
        <p:nvSpPr>
          <p:cNvPr id="21" name="Text 19"/>
          <p:cNvSpPr/>
          <p:nvPr/>
        </p:nvSpPr>
        <p:spPr>
          <a:xfrm>
            <a:off x="1088136" y="4791456"/>
            <a:ext cx="1572768" cy="274320"/>
          </a:xfrm>
          <a:prstGeom prst="rect">
            <a:avLst/>
          </a:prstGeom>
          <a:noFill/>
          <a:ln/>
        </p:spPr>
        <p:txBody>
          <a:bodyPr wrap="square" lIns="0" tIns="0" rIns="0" bIns="0" rtlCol="0" anchor="ctr"/>
          <a:lstStyle/>
          <a:p>
            <a:pPr indent="0" marL="0">
              <a:buNone/>
            </a:pPr>
            <a:r>
              <a:rPr lang="en-US" sz="1050" b="1" dirty="0">
                <a:solidFill>
                  <a:srgbClr val="A87C4F"/>
                </a:solidFill>
                <a:latin typeface="Calibri" pitchFamily="34" charset="0"/>
                <a:ea typeface="Calibri" pitchFamily="34" charset="-122"/>
                <a:cs typeface="Calibri" pitchFamily="34" charset="-120"/>
              </a:rPr>
              <a:t>Historia procesal</a:t>
            </a:r>
            <a:endParaRPr lang="en-US" sz="1050" dirty="0"/>
          </a:p>
        </p:txBody>
      </p:sp>
      <p:sp>
        <p:nvSpPr>
          <p:cNvPr id="22" name="Text 20"/>
          <p:cNvSpPr/>
          <p:nvPr/>
        </p:nvSpPr>
        <p:spPr>
          <a:xfrm>
            <a:off x="2715768" y="4791456"/>
            <a:ext cx="4663440" cy="274320"/>
          </a:xfrm>
          <a:prstGeom prst="rect">
            <a:avLst/>
          </a:prstGeom>
          <a:noFill/>
          <a:ln/>
        </p:spPr>
        <p:txBody>
          <a:bodyPr wrap="square" lIns="0" tIns="0" rIns="0" bIns="0" rtlCol="0" anchor="ctr"/>
          <a:lstStyle/>
          <a:p>
            <a:pPr indent="0" marL="0">
              <a:buNone/>
            </a:pPr>
            <a:r>
              <a:rPr lang="en-US" sz="1050" dirty="0">
                <a:solidFill>
                  <a:srgbClr val="1B2230"/>
                </a:solidFill>
                <a:latin typeface="Calibri" pitchFamily="34" charset="0"/>
                <a:ea typeface="Calibri" pitchFamily="34" charset="-122"/>
                <a:cs typeface="Calibri" pitchFamily="34" charset="-120"/>
              </a:rPr>
              <a:t>1º Juzgado de Letras de San Carlos → C.A. de Chillán → C.S.</a:t>
            </a:r>
            <a:endParaRPr lang="en-US" sz="1050" dirty="0"/>
          </a:p>
        </p:txBody>
      </p:sp>
      <p:sp>
        <p:nvSpPr>
          <p:cNvPr id="23" name="Text 21"/>
          <p:cNvSpPr/>
          <p:nvPr/>
        </p:nvSpPr>
        <p:spPr>
          <a:xfrm>
            <a:off x="1088136" y="5134356"/>
            <a:ext cx="1572768" cy="274320"/>
          </a:xfrm>
          <a:prstGeom prst="rect">
            <a:avLst/>
          </a:prstGeom>
          <a:noFill/>
          <a:ln/>
        </p:spPr>
        <p:txBody>
          <a:bodyPr wrap="square" lIns="0" tIns="0" rIns="0" bIns="0" rtlCol="0" anchor="ctr"/>
          <a:lstStyle/>
          <a:p>
            <a:pPr indent="0" marL="0">
              <a:buNone/>
            </a:pPr>
            <a:r>
              <a:rPr lang="en-US" sz="1050" b="1" dirty="0">
                <a:solidFill>
                  <a:srgbClr val="A87C4F"/>
                </a:solidFill>
                <a:latin typeface="Calibri" pitchFamily="34" charset="0"/>
                <a:ea typeface="Calibri" pitchFamily="34" charset="-122"/>
                <a:cs typeface="Calibri" pitchFamily="34" charset="-120"/>
              </a:rPr>
              <a:t>Enlace</a:t>
            </a:r>
            <a:endParaRPr lang="en-US" sz="1050" dirty="0"/>
          </a:p>
        </p:txBody>
      </p:sp>
      <p:sp>
        <p:nvSpPr>
          <p:cNvPr id="24" name="Text 22"/>
          <p:cNvSpPr/>
          <p:nvPr/>
        </p:nvSpPr>
        <p:spPr>
          <a:xfrm>
            <a:off x="2715768" y="5134356"/>
            <a:ext cx="4663440" cy="274320"/>
          </a:xfrm>
          <a:prstGeom prst="rect">
            <a:avLst/>
          </a:prstGeom>
          <a:noFill/>
          <a:ln/>
        </p:spPr>
        <p:txBody>
          <a:bodyPr wrap="square" lIns="0" tIns="0" rIns="0" bIns="0" rtlCol="0" anchor="ctr"/>
          <a:lstStyle/>
          <a:p>
            <a:pPr indent="0" marL="0">
              <a:buNone/>
            </a:pPr>
            <a:r>
              <a:rPr lang="en-US" sz="1050" dirty="0">
                <a:solidFill>
                  <a:srgbClr val="1B2230"/>
                </a:solidFill>
                <a:latin typeface="Calibri" pitchFamily="34" charset="0"/>
                <a:ea typeface="Calibri" pitchFamily="34" charset="-122"/>
                <a:cs typeface="Calibri" pitchFamily="34" charset="-120"/>
              </a:rPr>
              <a:t>Permalink al fallo en el buscador del Poder Judicial</a:t>
            </a:r>
            <a:endParaRPr lang="en-US" sz="1050" dirty="0"/>
          </a:p>
        </p:txBody>
      </p:sp>
      <p:sp>
        <p:nvSpPr>
          <p:cNvPr id="25" name="Text 23"/>
          <p:cNvSpPr/>
          <p:nvPr/>
        </p:nvSpPr>
        <p:spPr>
          <a:xfrm>
            <a:off x="1088136" y="5477256"/>
            <a:ext cx="1572768" cy="274320"/>
          </a:xfrm>
          <a:prstGeom prst="rect">
            <a:avLst/>
          </a:prstGeom>
          <a:noFill/>
          <a:ln/>
        </p:spPr>
        <p:txBody>
          <a:bodyPr wrap="square" lIns="0" tIns="0" rIns="0" bIns="0" rtlCol="0" anchor="ctr"/>
          <a:lstStyle/>
          <a:p>
            <a:pPr indent="0" marL="0">
              <a:buNone/>
            </a:pPr>
            <a:r>
              <a:rPr lang="en-US" sz="1050" b="1" dirty="0">
                <a:solidFill>
                  <a:srgbClr val="A87C4F"/>
                </a:solidFill>
                <a:latin typeface="Calibri" pitchFamily="34" charset="0"/>
                <a:ea typeface="Calibri" pitchFamily="34" charset="-122"/>
                <a:cs typeface="Calibri" pitchFamily="34" charset="-120"/>
              </a:rPr>
              <a:t>Texto</a:t>
            </a:r>
            <a:endParaRPr lang="en-US" sz="1050" dirty="0"/>
          </a:p>
        </p:txBody>
      </p:sp>
      <p:sp>
        <p:nvSpPr>
          <p:cNvPr id="26" name="Text 24"/>
          <p:cNvSpPr/>
          <p:nvPr/>
        </p:nvSpPr>
        <p:spPr>
          <a:xfrm>
            <a:off x="2715768" y="5477256"/>
            <a:ext cx="4663440" cy="274320"/>
          </a:xfrm>
          <a:prstGeom prst="rect">
            <a:avLst/>
          </a:prstGeom>
          <a:noFill/>
          <a:ln/>
        </p:spPr>
        <p:txBody>
          <a:bodyPr wrap="square" lIns="0" tIns="0" rIns="0" bIns="0" rtlCol="0" anchor="ctr"/>
          <a:lstStyle/>
          <a:p>
            <a:pPr indent="0" marL="0">
              <a:buNone/>
            </a:pPr>
            <a:r>
              <a:rPr lang="en-US" sz="1050" dirty="0">
                <a:solidFill>
                  <a:srgbClr val="1B2230"/>
                </a:solidFill>
                <a:latin typeface="Calibri" pitchFamily="34" charset="0"/>
                <a:ea typeface="Calibri" pitchFamily="34" charset="-122"/>
                <a:cs typeface="Calibri" pitchFamily="34" charset="-120"/>
              </a:rPr>
              <a:t>Íntegro, más los pasajes que coinciden con la consulta</a:t>
            </a:r>
            <a:endParaRPr lang="en-US" sz="1050" dirty="0"/>
          </a:p>
        </p:txBody>
      </p:sp>
      <p:sp>
        <p:nvSpPr>
          <p:cNvPr id="27" name="Shape 25"/>
          <p:cNvSpPr/>
          <p:nvPr/>
        </p:nvSpPr>
        <p:spPr>
          <a:xfrm>
            <a:off x="8092440" y="1847088"/>
            <a:ext cx="3319272" cy="3950208"/>
          </a:xfrm>
          <a:prstGeom prst="roundRect">
            <a:avLst>
              <a:gd name="adj" fmla="val 1653"/>
            </a:avLst>
          </a:prstGeom>
          <a:solidFill>
            <a:srgbClr val="1B2230"/>
          </a:solidFill>
          <a:ln/>
        </p:spPr>
      </p:sp>
      <p:sp>
        <p:nvSpPr>
          <p:cNvPr id="28" name="Text 26"/>
          <p:cNvSpPr/>
          <p:nvPr/>
        </p:nvSpPr>
        <p:spPr>
          <a:xfrm>
            <a:off x="8412480" y="2157984"/>
            <a:ext cx="2697480" cy="274320"/>
          </a:xfrm>
          <a:prstGeom prst="rect">
            <a:avLst/>
          </a:prstGeom>
          <a:noFill/>
          <a:ln/>
        </p:spPr>
        <p:txBody>
          <a:bodyPr wrap="square" lIns="0" tIns="0" rIns="0" bIns="0" rtlCol="0" anchor="ctr"/>
          <a:lstStyle/>
          <a:p>
            <a:pPr indent="0" marL="0">
              <a:buNone/>
            </a:pPr>
            <a:r>
              <a:rPr lang="en-US" sz="1100" spc="150" kern="0" dirty="0">
                <a:solidFill>
                  <a:srgbClr val="C9A574"/>
                </a:solidFill>
                <a:latin typeface="Calibri" pitchFamily="34" charset="0"/>
                <a:ea typeface="Calibri" pitchFamily="34" charset="-122"/>
                <a:cs typeface="Calibri" pitchFamily="34" charset="-120"/>
              </a:rPr>
              <a:t>Por qué importa</a:t>
            </a:r>
            <a:endParaRPr lang="en-US" sz="1100" dirty="0"/>
          </a:p>
        </p:txBody>
      </p:sp>
      <p:sp>
        <p:nvSpPr>
          <p:cNvPr id="29" name="Text 27"/>
          <p:cNvSpPr/>
          <p:nvPr/>
        </p:nvSpPr>
        <p:spPr>
          <a:xfrm>
            <a:off x="8412480" y="2542032"/>
            <a:ext cx="2697480" cy="685800"/>
          </a:xfrm>
          <a:prstGeom prst="rect">
            <a:avLst/>
          </a:prstGeom>
          <a:noFill/>
          <a:ln/>
        </p:spPr>
        <p:txBody>
          <a:bodyPr wrap="square" lIns="0" tIns="0" rIns="0" bIns="0" rtlCol="0" anchor="ctr"/>
          <a:lstStyle/>
          <a:p>
            <a:pPr indent="0" marL="0">
              <a:buNone/>
            </a:pPr>
            <a:r>
              <a:rPr lang="en-US" sz="1500" dirty="0">
                <a:solidFill>
                  <a:srgbClr val="FFFFFF"/>
                </a:solidFill>
                <a:latin typeface="Cambria" pitchFamily="34" charset="0"/>
                <a:ea typeface="Cambria" pitchFamily="34" charset="-122"/>
                <a:cs typeface="Cambria" pitchFamily="34" charset="-120"/>
              </a:rPr>
              <a:t>Con rol, tribunal y fecha, la cita se verifica en un minuto.</a:t>
            </a:r>
            <a:endParaRPr lang="en-US" sz="1500" dirty="0"/>
          </a:p>
        </p:txBody>
      </p:sp>
      <p:sp>
        <p:nvSpPr>
          <p:cNvPr id="30" name="Text 28"/>
          <p:cNvSpPr/>
          <p:nvPr/>
        </p:nvSpPr>
        <p:spPr>
          <a:xfrm>
            <a:off x="8412480" y="3310128"/>
            <a:ext cx="2697480" cy="868680"/>
          </a:xfrm>
          <a:prstGeom prst="rect">
            <a:avLst/>
          </a:prstGeom>
          <a:noFill/>
          <a:ln/>
        </p:spPr>
        <p:txBody>
          <a:bodyPr wrap="square" lIns="0" tIns="0" rIns="0" bIns="0" rtlCol="0" anchor="ctr"/>
          <a:lstStyle/>
          <a:p>
            <a:pPr indent="0" marL="0">
              <a:buNone/>
            </a:pPr>
            <a:r>
              <a:rPr lang="en-US" sz="1100" dirty="0">
                <a:solidFill>
                  <a:srgbClr val="8A93A5"/>
                </a:solidFill>
                <a:latin typeface="Calibri" pitchFamily="34" charset="0"/>
                <a:ea typeface="Calibri" pitchFamily="34" charset="-122"/>
                <a:cs typeface="Calibri" pitchFamily="34" charset="-120"/>
              </a:rPr>
              <a:t>Las normas llegan enlazadas a Ley Chile, así que el fundamento legal también se comprueba.</a:t>
            </a:r>
            <a:endParaRPr lang="en-US" sz="1100" dirty="0"/>
          </a:p>
        </p:txBody>
      </p:sp>
      <p:sp>
        <p:nvSpPr>
          <p:cNvPr id="31" name="Text 29"/>
          <p:cNvSpPr/>
          <p:nvPr/>
        </p:nvSpPr>
        <p:spPr>
          <a:xfrm>
            <a:off x="8412480" y="4224528"/>
            <a:ext cx="2697480" cy="777240"/>
          </a:xfrm>
          <a:prstGeom prst="rect">
            <a:avLst/>
          </a:prstGeom>
          <a:noFill/>
          <a:ln/>
        </p:spPr>
        <p:txBody>
          <a:bodyPr wrap="square" lIns="0" tIns="0" rIns="0" bIns="0" rtlCol="0" anchor="ctr"/>
          <a:lstStyle/>
          <a:p>
            <a:pPr indent="0" marL="0">
              <a:buNone/>
            </a:pPr>
            <a:r>
              <a:rPr lang="en-US" sz="1100" dirty="0">
                <a:solidFill>
                  <a:srgbClr val="8A93A5"/>
                </a:solidFill>
                <a:latin typeface="Calibri" pitchFamily="34" charset="0"/>
                <a:ea typeface="Calibri" pitchFamily="34" charset="-122"/>
                <a:cs typeface="Calibri" pitchFamily="34" charset="-120"/>
              </a:rPr>
              <a:t>Y la historia procesal permite seguir la causa desde primera instancia.</a:t>
            </a:r>
            <a:endParaRPr lang="en-US" sz="1100" dirty="0"/>
          </a:p>
        </p:txBody>
      </p:sp>
      <p:sp>
        <p:nvSpPr>
          <p:cNvPr id="32" name="Text 30"/>
          <p:cNvSpPr/>
          <p:nvPr/>
        </p:nvSpPr>
        <p:spPr>
          <a:xfrm>
            <a:off x="8412480" y="5074920"/>
            <a:ext cx="2697480" cy="548640"/>
          </a:xfrm>
          <a:prstGeom prst="rect">
            <a:avLst/>
          </a:prstGeom>
          <a:noFill/>
          <a:ln/>
        </p:spPr>
        <p:txBody>
          <a:bodyPr wrap="square" lIns="0" tIns="0" rIns="0" bIns="0" rtlCol="0" anchor="ctr"/>
          <a:lstStyle/>
          <a:p>
            <a:pPr indent="0" marL="0">
              <a:buNone/>
            </a:pPr>
            <a:r>
              <a:rPr lang="en-US" sz="1150" b="1" i="1" dirty="0">
                <a:solidFill>
                  <a:srgbClr val="C9A574"/>
                </a:solidFill>
                <a:latin typeface="Calibri" pitchFamily="34" charset="0"/>
                <a:ea typeface="Calibri" pitchFamily="34" charset="-122"/>
                <a:cs typeface="Calibri" pitchFamily="34" charset="-120"/>
              </a:rPr>
              <a:t>Nada de esto se puede inventar sin que se note.</a:t>
            </a:r>
            <a:endParaRPr lang="en-US" sz="11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4F1EA"/>
        </a:solidFill>
      </p:bgPr>
    </p:bg>
    <p:spTree>
      <p:nvGrpSpPr>
        <p:cNvPr id="1" name=""/>
        <p:cNvGrpSpPr/>
        <p:nvPr/>
      </p:nvGrpSpPr>
      <p:grpSpPr>
        <a:xfrm>
          <a:off x="0" y="0"/>
          <a:ext cx="0" cy="0"/>
          <a:chOff x="0" y="0"/>
          <a:chExt cx="0" cy="0"/>
        </a:xfrm>
      </p:grpSpPr>
      <p:sp>
        <p:nvSpPr>
          <p:cNvPr id="2" name="Text 0"/>
          <p:cNvSpPr/>
          <p:nvPr/>
        </p:nvSpPr>
        <p:spPr>
          <a:xfrm>
            <a:off x="777240" y="566928"/>
            <a:ext cx="10634472" cy="566928"/>
          </a:xfrm>
          <a:prstGeom prst="rect">
            <a:avLst/>
          </a:prstGeom>
          <a:noFill/>
          <a:ln/>
        </p:spPr>
        <p:txBody>
          <a:bodyPr wrap="square" lIns="0" tIns="0" rIns="0" bIns="0" rtlCol="0" anchor="ctr"/>
          <a:lstStyle/>
          <a:p>
            <a:pPr indent="0" marL="0">
              <a:buNone/>
            </a:pPr>
            <a:r>
              <a:rPr lang="en-US" sz="3200" b="1" dirty="0">
                <a:solidFill>
                  <a:srgbClr val="1B2230"/>
                </a:solidFill>
                <a:latin typeface="Cambria" pitchFamily="34" charset="0"/>
                <a:ea typeface="Cambria" pitchFamily="34" charset="-122"/>
                <a:cs typeface="Cambria" pitchFamily="34" charset="-120"/>
              </a:rPr>
              <a:t>Lo que no hace un buscador común</a:t>
            </a:r>
            <a:endParaRPr lang="en-US" sz="3200" dirty="0"/>
          </a:p>
        </p:txBody>
      </p:sp>
      <p:sp>
        <p:nvSpPr>
          <p:cNvPr id="3" name="Text 1"/>
          <p:cNvSpPr/>
          <p:nvPr/>
        </p:nvSpPr>
        <p:spPr>
          <a:xfrm>
            <a:off x="777240" y="1152144"/>
            <a:ext cx="9537192" cy="384048"/>
          </a:xfrm>
          <a:prstGeom prst="rect">
            <a:avLst/>
          </a:prstGeom>
          <a:noFill/>
          <a:ln/>
        </p:spPr>
        <p:txBody>
          <a:bodyPr wrap="square" lIns="0" tIns="0" rIns="0" bIns="0" rtlCol="0" anchor="ctr"/>
          <a:lstStyle/>
          <a:p>
            <a:pPr indent="0" marL="0">
              <a:buNone/>
            </a:pPr>
            <a:r>
              <a:rPr lang="en-US" sz="1350" i="1" dirty="0">
                <a:solidFill>
                  <a:srgbClr val="5A6478"/>
                </a:solidFill>
                <a:latin typeface="Calibri" pitchFamily="34" charset="0"/>
                <a:ea typeface="Calibri" pitchFamily="34" charset="-122"/>
                <a:cs typeface="Calibri" pitchFamily="34" charset="-120"/>
              </a:rPr>
              <a:t>Cuatro capacidades que cambian el resultado del trabajo</a:t>
            </a:r>
            <a:endParaRPr lang="en-US" sz="1350" dirty="0"/>
          </a:p>
        </p:txBody>
      </p:sp>
      <p:sp>
        <p:nvSpPr>
          <p:cNvPr id="4" name="Shape 2"/>
          <p:cNvSpPr/>
          <p:nvPr/>
        </p:nvSpPr>
        <p:spPr>
          <a:xfrm>
            <a:off x="777240" y="1874520"/>
            <a:ext cx="5120640" cy="1847088"/>
          </a:xfrm>
          <a:prstGeom prst="roundRect">
            <a:avLst>
              <a:gd name="adj" fmla="val 2970"/>
            </a:avLst>
          </a:prstGeom>
          <a:solidFill>
            <a:srgbClr val="FFFFFF"/>
          </a:solidFill>
          <a:ln w="9525">
            <a:solidFill>
              <a:srgbClr val="E3DED3"/>
            </a:solidFill>
            <a:prstDash val="solid"/>
          </a:ln>
        </p:spPr>
      </p:sp>
      <p:sp>
        <p:nvSpPr>
          <p:cNvPr id="5" name="Shape 3"/>
          <p:cNvSpPr/>
          <p:nvPr/>
        </p:nvSpPr>
        <p:spPr>
          <a:xfrm>
            <a:off x="1069848" y="2148840"/>
            <a:ext cx="365760" cy="365760"/>
          </a:xfrm>
          <a:prstGeom prst="ellipse">
            <a:avLst/>
          </a:prstGeom>
          <a:solidFill>
            <a:srgbClr val="A87C4F"/>
          </a:solidFill>
          <a:ln/>
        </p:spPr>
      </p:sp>
      <p:sp>
        <p:nvSpPr>
          <p:cNvPr id="6" name="Text 4"/>
          <p:cNvSpPr/>
          <p:nvPr/>
        </p:nvSpPr>
        <p:spPr>
          <a:xfrm>
            <a:off x="1069848" y="214884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5"/>
          <p:cNvSpPr/>
          <p:nvPr/>
        </p:nvSpPr>
        <p:spPr>
          <a:xfrm>
            <a:off x="1581912" y="2130552"/>
            <a:ext cx="4114800" cy="292608"/>
          </a:xfrm>
          <a:prstGeom prst="rect">
            <a:avLst/>
          </a:prstGeom>
          <a:noFill/>
          <a:ln/>
        </p:spPr>
        <p:txBody>
          <a:bodyPr wrap="square" lIns="0" tIns="0" rIns="0" bIns="0" rtlCol="0" anchor="ctr"/>
          <a:lstStyle/>
          <a:p>
            <a:pPr indent="0" marL="0">
              <a:buNone/>
            </a:pPr>
            <a:r>
              <a:rPr lang="en-US" sz="1400" b="1" dirty="0">
                <a:solidFill>
                  <a:srgbClr val="1B2230"/>
                </a:solidFill>
                <a:latin typeface="Calibri" pitchFamily="34" charset="0"/>
                <a:ea typeface="Calibri" pitchFamily="34" charset="-122"/>
                <a:cs typeface="Calibri" pitchFamily="34" charset="-120"/>
              </a:rPr>
              <a:t>Buscar por norma, no por palabra</a:t>
            </a:r>
            <a:endParaRPr lang="en-US" sz="1400" dirty="0"/>
          </a:p>
        </p:txBody>
      </p:sp>
      <p:sp>
        <p:nvSpPr>
          <p:cNvPr id="8" name="Text 6"/>
          <p:cNvSpPr/>
          <p:nvPr/>
        </p:nvSpPr>
        <p:spPr>
          <a:xfrm>
            <a:off x="1581912" y="2496312"/>
            <a:ext cx="4114800" cy="1097280"/>
          </a:xfrm>
          <a:prstGeom prst="rect">
            <a:avLst/>
          </a:prstGeom>
          <a:noFill/>
          <a:ln/>
        </p:spPr>
        <p:txBody>
          <a:bodyPr wrap="square" lIns="0" tIns="0" rIns="0" bIns="0" rtlCol="0" anchor="t"/>
          <a:lstStyle/>
          <a:p>
            <a:pPr indent="0" marL="0">
              <a:lnSpc>
                <a:spcPct val="105000"/>
              </a:lnSpc>
              <a:buNone/>
            </a:pPr>
            <a:r>
              <a:rPr lang="en-US" sz="1050" dirty="0">
                <a:solidFill>
                  <a:srgbClr val="5A6478"/>
                </a:solidFill>
                <a:latin typeface="Calibri" pitchFamily="34" charset="0"/>
                <a:ea typeface="Calibri" pitchFamily="34" charset="-122"/>
                <a:cs typeface="Calibri" pitchFamily="34" charset="-120"/>
              </a:rPr>
              <a:t>Pide los fallos que APLICAN el artículo 16 de la Ley 19.496, no los que mencionan esas palabras. Devuelve además el texto del artículo para contrastar qué dice la ley con qué hicieron los tribunales.</a:t>
            </a:r>
            <a:endParaRPr lang="en-US" sz="1050" dirty="0"/>
          </a:p>
        </p:txBody>
      </p:sp>
      <p:sp>
        <p:nvSpPr>
          <p:cNvPr id="9" name="Shape 7"/>
          <p:cNvSpPr/>
          <p:nvPr/>
        </p:nvSpPr>
        <p:spPr>
          <a:xfrm>
            <a:off x="6217920" y="1874520"/>
            <a:ext cx="5120640" cy="1847088"/>
          </a:xfrm>
          <a:prstGeom prst="roundRect">
            <a:avLst>
              <a:gd name="adj" fmla="val 2970"/>
            </a:avLst>
          </a:prstGeom>
          <a:solidFill>
            <a:srgbClr val="FFFFFF"/>
          </a:solidFill>
          <a:ln w="9525">
            <a:solidFill>
              <a:srgbClr val="E3DED3"/>
            </a:solidFill>
            <a:prstDash val="solid"/>
          </a:ln>
        </p:spPr>
      </p:sp>
      <p:sp>
        <p:nvSpPr>
          <p:cNvPr id="10" name="Shape 8"/>
          <p:cNvSpPr/>
          <p:nvPr/>
        </p:nvSpPr>
        <p:spPr>
          <a:xfrm>
            <a:off x="6510528" y="2148840"/>
            <a:ext cx="365760" cy="365760"/>
          </a:xfrm>
          <a:prstGeom prst="ellipse">
            <a:avLst/>
          </a:prstGeom>
          <a:solidFill>
            <a:srgbClr val="A87C4F"/>
          </a:solidFill>
          <a:ln/>
        </p:spPr>
      </p:sp>
      <p:sp>
        <p:nvSpPr>
          <p:cNvPr id="11" name="Text 9"/>
          <p:cNvSpPr/>
          <p:nvPr/>
        </p:nvSpPr>
        <p:spPr>
          <a:xfrm>
            <a:off x="6510528" y="214884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2" name="Text 10"/>
          <p:cNvSpPr/>
          <p:nvPr/>
        </p:nvSpPr>
        <p:spPr>
          <a:xfrm>
            <a:off x="7022592" y="2130552"/>
            <a:ext cx="4114800" cy="292608"/>
          </a:xfrm>
          <a:prstGeom prst="rect">
            <a:avLst/>
          </a:prstGeom>
          <a:noFill/>
          <a:ln/>
        </p:spPr>
        <p:txBody>
          <a:bodyPr wrap="square" lIns="0" tIns="0" rIns="0" bIns="0" rtlCol="0" anchor="ctr"/>
          <a:lstStyle/>
          <a:p>
            <a:pPr indent="0" marL="0">
              <a:buNone/>
            </a:pPr>
            <a:r>
              <a:rPr lang="en-US" sz="1400" b="1" dirty="0">
                <a:solidFill>
                  <a:srgbClr val="1B2230"/>
                </a:solidFill>
                <a:latin typeface="Calibri" pitchFamily="34" charset="0"/>
                <a:ea typeface="Calibri" pitchFamily="34" charset="-122"/>
                <a:cs typeface="Calibri" pitchFamily="34" charset="-120"/>
              </a:rPr>
              <a:t>Avisar si un dictamen ya no sirve</a:t>
            </a:r>
            <a:endParaRPr lang="en-US" sz="1400" dirty="0"/>
          </a:p>
        </p:txBody>
      </p:sp>
      <p:sp>
        <p:nvSpPr>
          <p:cNvPr id="13" name="Text 11"/>
          <p:cNvSpPr/>
          <p:nvPr/>
        </p:nvSpPr>
        <p:spPr>
          <a:xfrm>
            <a:off x="7022592" y="2496312"/>
            <a:ext cx="4114800" cy="1097280"/>
          </a:xfrm>
          <a:prstGeom prst="rect">
            <a:avLst/>
          </a:prstGeom>
          <a:noFill/>
          <a:ln/>
        </p:spPr>
        <p:txBody>
          <a:bodyPr wrap="square" lIns="0" tIns="0" rIns="0" bIns="0" rtlCol="0" anchor="t"/>
          <a:lstStyle/>
          <a:p>
            <a:pPr indent="0" marL="0">
              <a:lnSpc>
                <a:spcPct val="105000"/>
              </a:lnSpc>
              <a:buNone/>
            </a:pPr>
            <a:r>
              <a:rPr lang="en-US" sz="1050" dirty="0">
                <a:solidFill>
                  <a:srgbClr val="5A6478"/>
                </a:solidFill>
                <a:latin typeface="Calibri" pitchFamily="34" charset="0"/>
                <a:ea typeface="Calibri" pitchFamily="34" charset="-122"/>
                <a:cs typeface="Calibri" pitchFamily="34" charset="-120"/>
              </a:rPr>
              <a:t>La Contraloría marca si un dictamen fue reconsiderado, aclarado o confirmado. Uno reconsiderado no sirve para fundar, y ese dato no aparece en una búsqueda de texto.</a:t>
            </a:r>
            <a:endParaRPr lang="en-US" sz="1050" dirty="0"/>
          </a:p>
        </p:txBody>
      </p:sp>
      <p:sp>
        <p:nvSpPr>
          <p:cNvPr id="14" name="Shape 12"/>
          <p:cNvSpPr/>
          <p:nvPr/>
        </p:nvSpPr>
        <p:spPr>
          <a:xfrm>
            <a:off x="777240" y="3959352"/>
            <a:ext cx="5120640" cy="1847088"/>
          </a:xfrm>
          <a:prstGeom prst="roundRect">
            <a:avLst>
              <a:gd name="adj" fmla="val 2970"/>
            </a:avLst>
          </a:prstGeom>
          <a:solidFill>
            <a:srgbClr val="FFFFFF"/>
          </a:solidFill>
          <a:ln w="9525">
            <a:solidFill>
              <a:srgbClr val="E3DED3"/>
            </a:solidFill>
            <a:prstDash val="solid"/>
          </a:ln>
        </p:spPr>
      </p:sp>
      <p:sp>
        <p:nvSpPr>
          <p:cNvPr id="15" name="Shape 13"/>
          <p:cNvSpPr/>
          <p:nvPr/>
        </p:nvSpPr>
        <p:spPr>
          <a:xfrm>
            <a:off x="1069848" y="4233672"/>
            <a:ext cx="365760" cy="365760"/>
          </a:xfrm>
          <a:prstGeom prst="ellipse">
            <a:avLst/>
          </a:prstGeom>
          <a:solidFill>
            <a:srgbClr val="A87C4F"/>
          </a:solidFill>
          <a:ln/>
        </p:spPr>
      </p:sp>
      <p:sp>
        <p:nvSpPr>
          <p:cNvPr id="16" name="Text 14"/>
          <p:cNvSpPr/>
          <p:nvPr/>
        </p:nvSpPr>
        <p:spPr>
          <a:xfrm>
            <a:off x="1069848" y="423367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7" name="Text 15"/>
          <p:cNvSpPr/>
          <p:nvPr/>
        </p:nvSpPr>
        <p:spPr>
          <a:xfrm>
            <a:off x="1581912" y="4215384"/>
            <a:ext cx="4114800" cy="292608"/>
          </a:xfrm>
          <a:prstGeom prst="rect">
            <a:avLst/>
          </a:prstGeom>
          <a:noFill/>
          <a:ln/>
        </p:spPr>
        <p:txBody>
          <a:bodyPr wrap="square" lIns="0" tIns="0" rIns="0" bIns="0" rtlCol="0" anchor="ctr"/>
          <a:lstStyle/>
          <a:p>
            <a:pPr indent="0" marL="0">
              <a:buNone/>
            </a:pPr>
            <a:r>
              <a:rPr lang="en-US" sz="1400" b="1" dirty="0">
                <a:solidFill>
                  <a:srgbClr val="1B2230"/>
                </a:solidFill>
                <a:latin typeface="Calibri" pitchFamily="34" charset="0"/>
                <a:ea typeface="Calibri" pitchFamily="34" charset="-122"/>
                <a:cs typeface="Calibri" pitchFamily="34" charset="-120"/>
              </a:rPr>
              <a:t>Cubrir el arbitraje</a:t>
            </a:r>
            <a:endParaRPr lang="en-US" sz="1400" dirty="0"/>
          </a:p>
        </p:txBody>
      </p:sp>
      <p:sp>
        <p:nvSpPr>
          <p:cNvPr id="18" name="Text 16"/>
          <p:cNvSpPr/>
          <p:nvPr/>
        </p:nvSpPr>
        <p:spPr>
          <a:xfrm>
            <a:off x="1581912" y="4581144"/>
            <a:ext cx="4114800" cy="1097280"/>
          </a:xfrm>
          <a:prstGeom prst="rect">
            <a:avLst/>
          </a:prstGeom>
          <a:noFill/>
          <a:ln/>
        </p:spPr>
        <p:txBody>
          <a:bodyPr wrap="square" lIns="0" tIns="0" rIns="0" bIns="0" rtlCol="0" anchor="t"/>
          <a:lstStyle/>
          <a:p>
            <a:pPr indent="0" marL="0">
              <a:lnSpc>
                <a:spcPct val="105000"/>
              </a:lnSpc>
              <a:buNone/>
            </a:pPr>
            <a:r>
              <a:rPr lang="en-US" sz="1050" dirty="0">
                <a:solidFill>
                  <a:srgbClr val="5A6478"/>
                </a:solidFill>
                <a:latin typeface="Calibri" pitchFamily="34" charset="0"/>
                <a:ea typeface="Calibri" pitchFamily="34" charset="-122"/>
                <a:cs typeface="Calibri" pitchFamily="34" charset="-120"/>
              </a:rPr>
              <a:t>En materias comerciales, societarias y de construcción, buena parte de los conflictos se resuelve en arbitraje y nunca llega a tribunales. Sin esto, el panorama queda incompleto.</a:t>
            </a:r>
            <a:endParaRPr lang="en-US" sz="1050" dirty="0"/>
          </a:p>
        </p:txBody>
      </p:sp>
      <p:sp>
        <p:nvSpPr>
          <p:cNvPr id="19" name="Shape 17"/>
          <p:cNvSpPr/>
          <p:nvPr/>
        </p:nvSpPr>
        <p:spPr>
          <a:xfrm>
            <a:off x="6217920" y="3959352"/>
            <a:ext cx="5120640" cy="1847088"/>
          </a:xfrm>
          <a:prstGeom prst="roundRect">
            <a:avLst>
              <a:gd name="adj" fmla="val 2970"/>
            </a:avLst>
          </a:prstGeom>
          <a:solidFill>
            <a:srgbClr val="FFFFFF"/>
          </a:solidFill>
          <a:ln w="9525">
            <a:solidFill>
              <a:srgbClr val="E3DED3"/>
            </a:solidFill>
            <a:prstDash val="solid"/>
          </a:ln>
        </p:spPr>
      </p:sp>
      <p:sp>
        <p:nvSpPr>
          <p:cNvPr id="20" name="Shape 18"/>
          <p:cNvSpPr/>
          <p:nvPr/>
        </p:nvSpPr>
        <p:spPr>
          <a:xfrm>
            <a:off x="6510528" y="4233672"/>
            <a:ext cx="365760" cy="365760"/>
          </a:xfrm>
          <a:prstGeom prst="ellipse">
            <a:avLst/>
          </a:prstGeom>
          <a:solidFill>
            <a:srgbClr val="A87C4F"/>
          </a:solidFill>
          <a:ln/>
        </p:spPr>
      </p:sp>
      <p:sp>
        <p:nvSpPr>
          <p:cNvPr id="21" name="Text 19"/>
          <p:cNvSpPr/>
          <p:nvPr/>
        </p:nvSpPr>
        <p:spPr>
          <a:xfrm>
            <a:off x="6510528" y="423367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2" name="Text 20"/>
          <p:cNvSpPr/>
          <p:nvPr/>
        </p:nvSpPr>
        <p:spPr>
          <a:xfrm>
            <a:off x="7022592" y="4215384"/>
            <a:ext cx="4114800" cy="292608"/>
          </a:xfrm>
          <a:prstGeom prst="rect">
            <a:avLst/>
          </a:prstGeom>
          <a:noFill/>
          <a:ln/>
        </p:spPr>
        <p:txBody>
          <a:bodyPr wrap="square" lIns="0" tIns="0" rIns="0" bIns="0" rtlCol="0" anchor="ctr"/>
          <a:lstStyle/>
          <a:p>
            <a:pPr indent="0" marL="0">
              <a:buNone/>
            </a:pPr>
            <a:r>
              <a:rPr lang="en-US" sz="1400" b="1" dirty="0">
                <a:solidFill>
                  <a:srgbClr val="1B2230"/>
                </a:solidFill>
                <a:latin typeface="Calibri" pitchFamily="34" charset="0"/>
                <a:ea typeface="Calibri" pitchFamily="34" charset="-122"/>
                <a:cs typeface="Calibri" pitchFamily="34" charset="-120"/>
              </a:rPr>
              <a:t>Responder cuánto demora</a:t>
            </a:r>
            <a:endParaRPr lang="en-US" sz="1400" dirty="0"/>
          </a:p>
        </p:txBody>
      </p:sp>
      <p:sp>
        <p:nvSpPr>
          <p:cNvPr id="23" name="Text 21"/>
          <p:cNvSpPr/>
          <p:nvPr/>
        </p:nvSpPr>
        <p:spPr>
          <a:xfrm>
            <a:off x="7022592" y="4581144"/>
            <a:ext cx="4114800" cy="1097280"/>
          </a:xfrm>
          <a:prstGeom prst="rect">
            <a:avLst/>
          </a:prstGeom>
          <a:noFill/>
          <a:ln/>
        </p:spPr>
        <p:txBody>
          <a:bodyPr wrap="square" lIns="0" tIns="0" rIns="0" bIns="0" rtlCol="0" anchor="t"/>
          <a:lstStyle/>
          <a:p>
            <a:pPr indent="0" marL="0">
              <a:lnSpc>
                <a:spcPct val="105000"/>
              </a:lnSpc>
              <a:buNone/>
            </a:pPr>
            <a:r>
              <a:rPr lang="en-US" sz="1050" dirty="0">
                <a:solidFill>
                  <a:srgbClr val="5A6478"/>
                </a:solidFill>
                <a:latin typeface="Calibri" pitchFamily="34" charset="0"/>
                <a:ea typeface="Calibri" pitchFamily="34" charset="-122"/>
                <a:cs typeface="Calibri" pitchFamily="34" charset="-120"/>
              </a:rPr>
              <a:t>Un laboral en la Corte de Valparaíso promedió 222 días en 2024; la Corte Suprema, 92. Es la diferencia entre decir «puede demandar» y decirle al cliente cuánto va a esperar.</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B2230"/>
        </a:solidFill>
      </p:bgPr>
    </p:bg>
    <p:spTree>
      <p:nvGrpSpPr>
        <p:cNvPr id="1" name=""/>
        <p:cNvGrpSpPr/>
        <p:nvPr/>
      </p:nvGrpSpPr>
      <p:grpSpPr>
        <a:xfrm>
          <a:off x="0" y="0"/>
          <a:ext cx="0" cy="0"/>
          <a:chOff x="0" y="0"/>
          <a:chExt cx="0" cy="0"/>
        </a:xfrm>
      </p:grpSpPr>
      <p:sp>
        <p:nvSpPr>
          <p:cNvPr id="2" name="Text 0"/>
          <p:cNvSpPr/>
          <p:nvPr/>
        </p:nvSpPr>
        <p:spPr>
          <a:xfrm>
            <a:off x="777240" y="566928"/>
            <a:ext cx="7315200" cy="548640"/>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Cómo funciona</a:t>
            </a:r>
            <a:endParaRPr lang="en-US" sz="3200" dirty="0"/>
          </a:p>
        </p:txBody>
      </p:sp>
      <p:sp>
        <p:nvSpPr>
          <p:cNvPr id="3" name="Text 1"/>
          <p:cNvSpPr/>
          <p:nvPr/>
        </p:nvSpPr>
        <p:spPr>
          <a:xfrm>
            <a:off x="777240" y="1133856"/>
            <a:ext cx="8229600" cy="365760"/>
          </a:xfrm>
          <a:prstGeom prst="rect">
            <a:avLst/>
          </a:prstGeom>
          <a:noFill/>
          <a:ln/>
        </p:spPr>
        <p:txBody>
          <a:bodyPr wrap="square" lIns="0" tIns="0" rIns="0" bIns="0" rtlCol="0" anchor="ctr"/>
          <a:lstStyle/>
          <a:p>
            <a:pPr indent="0" marL="0">
              <a:buNone/>
            </a:pPr>
            <a:r>
              <a:rPr lang="en-US" sz="1350" i="1" dirty="0">
                <a:solidFill>
                  <a:srgbClr val="8A93A5"/>
                </a:solidFill>
                <a:latin typeface="Calibri" pitchFamily="34" charset="0"/>
                <a:ea typeface="Calibri" pitchFamily="34" charset="-122"/>
                <a:cs typeface="Calibri" pitchFamily="34" charset="-120"/>
              </a:rPr>
              <a:t>No hay que aprender comandos ni recordar nombres de herramientas</a:t>
            </a:r>
            <a:endParaRPr lang="en-US" sz="1350" dirty="0"/>
          </a:p>
        </p:txBody>
      </p:sp>
      <p:sp>
        <p:nvSpPr>
          <p:cNvPr id="4" name="Shape 2"/>
          <p:cNvSpPr/>
          <p:nvPr/>
        </p:nvSpPr>
        <p:spPr>
          <a:xfrm>
            <a:off x="777240" y="1874520"/>
            <a:ext cx="2542032" cy="2788920"/>
          </a:xfrm>
          <a:prstGeom prst="roundRect">
            <a:avLst>
              <a:gd name="adj" fmla="val 2158"/>
            </a:avLst>
          </a:prstGeom>
          <a:solidFill>
            <a:srgbClr val="2A3446"/>
          </a:solidFill>
          <a:ln/>
        </p:spPr>
      </p:sp>
      <p:sp>
        <p:nvSpPr>
          <p:cNvPr id="5" name="Shape 3"/>
          <p:cNvSpPr/>
          <p:nvPr/>
        </p:nvSpPr>
        <p:spPr>
          <a:xfrm>
            <a:off x="1069848" y="2148840"/>
            <a:ext cx="402336" cy="402336"/>
          </a:xfrm>
          <a:prstGeom prst="ellipse">
            <a:avLst/>
          </a:prstGeom>
          <a:solidFill>
            <a:srgbClr val="A87C4F"/>
          </a:solidFill>
          <a:ln/>
        </p:spPr>
      </p:sp>
      <p:sp>
        <p:nvSpPr>
          <p:cNvPr id="6" name="Text 4"/>
          <p:cNvSpPr/>
          <p:nvPr/>
        </p:nvSpPr>
        <p:spPr>
          <a:xfrm>
            <a:off x="1069848" y="2148840"/>
            <a:ext cx="402336"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5"/>
          <p:cNvSpPr/>
          <p:nvPr/>
        </p:nvSpPr>
        <p:spPr>
          <a:xfrm>
            <a:off x="1069848" y="2697480"/>
            <a:ext cx="2011680" cy="310896"/>
          </a:xfrm>
          <a:prstGeom prst="rect">
            <a:avLst/>
          </a:prstGeom>
          <a:noFill/>
          <a:ln/>
        </p:spPr>
        <p:txBody>
          <a:bodyPr wrap="square" lIns="0" tIns="0" rIns="0" bIns="0" rtlCol="0" anchor="ctr"/>
          <a:lstStyle/>
          <a:p>
            <a:pPr indent="0" marL="0">
              <a:buNone/>
            </a:pPr>
            <a:r>
              <a:rPr lang="en-US" sz="1400" b="1" dirty="0">
                <a:solidFill>
                  <a:srgbClr val="C9A574"/>
                </a:solidFill>
                <a:latin typeface="Calibri" pitchFamily="34" charset="0"/>
                <a:ea typeface="Calibri" pitchFamily="34" charset="-122"/>
                <a:cs typeface="Calibri" pitchFamily="34" charset="-120"/>
              </a:rPr>
              <a:t>Usted pregunta</a:t>
            </a:r>
            <a:endParaRPr lang="en-US" sz="1400" dirty="0"/>
          </a:p>
        </p:txBody>
      </p:sp>
      <p:sp>
        <p:nvSpPr>
          <p:cNvPr id="8" name="Text 6"/>
          <p:cNvSpPr/>
          <p:nvPr/>
        </p:nvSpPr>
        <p:spPr>
          <a:xfrm>
            <a:off x="1069848" y="3090672"/>
            <a:ext cx="2011680" cy="1463040"/>
          </a:xfrm>
          <a:prstGeom prst="rect">
            <a:avLst/>
          </a:prstGeom>
          <a:noFill/>
          <a:ln/>
        </p:spPr>
        <p:txBody>
          <a:bodyPr wrap="square" lIns="0" tIns="0" rIns="0" bIns="0" rtlCol="0" anchor="t"/>
          <a:lstStyle/>
          <a:p>
            <a:pPr indent="0" marL="0">
              <a:lnSpc>
                <a:spcPct val="110000"/>
              </a:lnSpc>
              <a:buNone/>
            </a:pPr>
            <a:r>
              <a:rPr lang="en-US" sz="1050" dirty="0">
                <a:solidFill>
                  <a:srgbClr val="FFFFFF"/>
                </a:solidFill>
                <a:latin typeface="Calibri" pitchFamily="34" charset="0"/>
                <a:ea typeface="Calibri" pitchFamily="34" charset="-122"/>
                <a:cs typeface="Calibri" pitchFamily="34" charset="-120"/>
              </a:rPr>
              <a:t>En lenguaje natural, como se lo diría a un colega.</a:t>
            </a:r>
            <a:endParaRPr lang="en-US" sz="1050" dirty="0"/>
          </a:p>
          <a:p>
            <a:pPr indent="0" marL="0">
              <a:lnSpc>
                <a:spcPct val="110000"/>
              </a:lnSpc>
              <a:buNone/>
            </a:pPr>
            <a:endParaRPr lang="en-US" sz="1050" dirty="0"/>
          </a:p>
          <a:p>
            <a:pPr indent="0" marL="0">
              <a:lnSpc>
                <a:spcPct val="110000"/>
              </a:lnSpc>
              <a:buNone/>
            </a:pPr>
            <a:r>
              <a:rPr lang="en-US" sz="1050" dirty="0">
                <a:solidFill>
                  <a:srgbClr val="FFFFFF"/>
                </a:solidFill>
                <a:latin typeface="Calibri" pitchFamily="34" charset="0"/>
                <a:ea typeface="Calibri" pitchFamily="34" charset="-122"/>
                <a:cs typeface="Calibri" pitchFamily="34" charset="-120"/>
              </a:rPr>
              <a:t>«¿Qué ha resuelto la Corte Suprema sobre nulidad del despido?»</a:t>
            </a:r>
            <a:endParaRPr lang="en-US" sz="1050" dirty="0"/>
          </a:p>
        </p:txBody>
      </p:sp>
      <p:sp>
        <p:nvSpPr>
          <p:cNvPr id="9" name="Shape 7"/>
          <p:cNvSpPr/>
          <p:nvPr/>
        </p:nvSpPr>
        <p:spPr>
          <a:xfrm>
            <a:off x="3538728" y="1874520"/>
            <a:ext cx="2542032" cy="2788920"/>
          </a:xfrm>
          <a:prstGeom prst="roundRect">
            <a:avLst>
              <a:gd name="adj" fmla="val 2158"/>
            </a:avLst>
          </a:prstGeom>
          <a:solidFill>
            <a:srgbClr val="2A3446"/>
          </a:solidFill>
          <a:ln/>
        </p:spPr>
      </p:sp>
      <p:sp>
        <p:nvSpPr>
          <p:cNvPr id="10" name="Shape 8"/>
          <p:cNvSpPr/>
          <p:nvPr/>
        </p:nvSpPr>
        <p:spPr>
          <a:xfrm>
            <a:off x="3831336" y="2148840"/>
            <a:ext cx="402336" cy="402336"/>
          </a:xfrm>
          <a:prstGeom prst="ellipse">
            <a:avLst/>
          </a:prstGeom>
          <a:solidFill>
            <a:srgbClr val="A87C4F"/>
          </a:solidFill>
          <a:ln/>
        </p:spPr>
      </p:sp>
      <p:sp>
        <p:nvSpPr>
          <p:cNvPr id="11" name="Text 9"/>
          <p:cNvSpPr/>
          <p:nvPr/>
        </p:nvSpPr>
        <p:spPr>
          <a:xfrm>
            <a:off x="3831336" y="2148840"/>
            <a:ext cx="402336"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2" name="Text 10"/>
          <p:cNvSpPr/>
          <p:nvPr/>
        </p:nvSpPr>
        <p:spPr>
          <a:xfrm>
            <a:off x="3831336" y="2697480"/>
            <a:ext cx="2011680" cy="310896"/>
          </a:xfrm>
          <a:prstGeom prst="rect">
            <a:avLst/>
          </a:prstGeom>
          <a:noFill/>
          <a:ln/>
        </p:spPr>
        <p:txBody>
          <a:bodyPr wrap="square" lIns="0" tIns="0" rIns="0" bIns="0" rtlCol="0" anchor="ctr"/>
          <a:lstStyle/>
          <a:p>
            <a:pPr indent="0" marL="0">
              <a:buNone/>
            </a:pPr>
            <a:r>
              <a:rPr lang="en-US" sz="1400" b="1" dirty="0">
                <a:solidFill>
                  <a:srgbClr val="C9A574"/>
                </a:solidFill>
                <a:latin typeface="Calibri" pitchFamily="34" charset="0"/>
                <a:ea typeface="Calibri" pitchFamily="34" charset="-122"/>
                <a:cs typeface="Calibri" pitchFamily="34" charset="-120"/>
              </a:rPr>
              <a:t>Claude elige</a:t>
            </a:r>
            <a:endParaRPr lang="en-US" sz="1400" dirty="0"/>
          </a:p>
        </p:txBody>
      </p:sp>
      <p:sp>
        <p:nvSpPr>
          <p:cNvPr id="13" name="Text 11"/>
          <p:cNvSpPr/>
          <p:nvPr/>
        </p:nvSpPr>
        <p:spPr>
          <a:xfrm>
            <a:off x="3831336" y="3090672"/>
            <a:ext cx="2011680" cy="1463040"/>
          </a:xfrm>
          <a:prstGeom prst="rect">
            <a:avLst/>
          </a:prstGeom>
          <a:noFill/>
          <a:ln/>
        </p:spPr>
        <p:txBody>
          <a:bodyPr wrap="square" lIns="0" tIns="0" rIns="0" bIns="0" rtlCol="0" anchor="t"/>
          <a:lstStyle/>
          <a:p>
            <a:pPr indent="0" marL="0">
              <a:lnSpc>
                <a:spcPct val="110000"/>
              </a:lnSpc>
              <a:buNone/>
            </a:pPr>
            <a:r>
              <a:rPr lang="en-US" sz="1050" dirty="0">
                <a:solidFill>
                  <a:srgbClr val="FFFFFF"/>
                </a:solidFill>
                <a:latin typeface="Calibri" pitchFamily="34" charset="0"/>
                <a:ea typeface="Calibri" pitchFamily="34" charset="-122"/>
                <a:cs typeface="Calibri" pitchFamily="34" charset="-120"/>
              </a:rPr>
              <a:t>Entre las veinte herramientas disponibles, selecciona las que corresponden. Una consulta puede combinar varias: ubicar la norma, leer su texto, traer los fallos y sumar el criterio administrativo.</a:t>
            </a:r>
            <a:endParaRPr lang="en-US" sz="1050" dirty="0"/>
          </a:p>
        </p:txBody>
      </p:sp>
      <p:sp>
        <p:nvSpPr>
          <p:cNvPr id="14" name="Shape 12"/>
          <p:cNvSpPr/>
          <p:nvPr/>
        </p:nvSpPr>
        <p:spPr>
          <a:xfrm>
            <a:off x="6300216" y="1874520"/>
            <a:ext cx="2542032" cy="2788920"/>
          </a:xfrm>
          <a:prstGeom prst="roundRect">
            <a:avLst>
              <a:gd name="adj" fmla="val 2158"/>
            </a:avLst>
          </a:prstGeom>
          <a:solidFill>
            <a:srgbClr val="2A3446"/>
          </a:solidFill>
          <a:ln/>
        </p:spPr>
      </p:sp>
      <p:sp>
        <p:nvSpPr>
          <p:cNvPr id="15" name="Shape 13"/>
          <p:cNvSpPr/>
          <p:nvPr/>
        </p:nvSpPr>
        <p:spPr>
          <a:xfrm>
            <a:off x="6592824" y="2148840"/>
            <a:ext cx="402336" cy="402336"/>
          </a:xfrm>
          <a:prstGeom prst="ellipse">
            <a:avLst/>
          </a:prstGeom>
          <a:solidFill>
            <a:srgbClr val="A87C4F"/>
          </a:solidFill>
          <a:ln/>
        </p:spPr>
      </p:sp>
      <p:sp>
        <p:nvSpPr>
          <p:cNvPr id="16" name="Text 14"/>
          <p:cNvSpPr/>
          <p:nvPr/>
        </p:nvSpPr>
        <p:spPr>
          <a:xfrm>
            <a:off x="6592824" y="2148840"/>
            <a:ext cx="402336"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7" name="Text 15"/>
          <p:cNvSpPr/>
          <p:nvPr/>
        </p:nvSpPr>
        <p:spPr>
          <a:xfrm>
            <a:off x="6592824" y="2697480"/>
            <a:ext cx="2011680" cy="310896"/>
          </a:xfrm>
          <a:prstGeom prst="rect">
            <a:avLst/>
          </a:prstGeom>
          <a:noFill/>
          <a:ln/>
        </p:spPr>
        <p:txBody>
          <a:bodyPr wrap="square" lIns="0" tIns="0" rIns="0" bIns="0" rtlCol="0" anchor="ctr"/>
          <a:lstStyle/>
          <a:p>
            <a:pPr indent="0" marL="0">
              <a:buNone/>
            </a:pPr>
            <a:r>
              <a:rPr lang="en-US" sz="1400" b="1" dirty="0">
                <a:solidFill>
                  <a:srgbClr val="C9A574"/>
                </a:solidFill>
                <a:latin typeface="Calibri" pitchFamily="34" charset="0"/>
                <a:ea typeface="Calibri" pitchFamily="34" charset="-122"/>
                <a:cs typeface="Calibri" pitchFamily="34" charset="-120"/>
              </a:rPr>
              <a:t>Responsa consulta</a:t>
            </a:r>
            <a:endParaRPr lang="en-US" sz="1400" dirty="0"/>
          </a:p>
        </p:txBody>
      </p:sp>
      <p:sp>
        <p:nvSpPr>
          <p:cNvPr id="18" name="Text 16"/>
          <p:cNvSpPr/>
          <p:nvPr/>
        </p:nvSpPr>
        <p:spPr>
          <a:xfrm>
            <a:off x="6592824" y="3090672"/>
            <a:ext cx="2011680" cy="1463040"/>
          </a:xfrm>
          <a:prstGeom prst="rect">
            <a:avLst/>
          </a:prstGeom>
          <a:noFill/>
          <a:ln/>
        </p:spPr>
        <p:txBody>
          <a:bodyPr wrap="square" lIns="0" tIns="0" rIns="0" bIns="0" rtlCol="0" anchor="t"/>
          <a:lstStyle/>
          <a:p>
            <a:pPr indent="0" marL="0">
              <a:lnSpc>
                <a:spcPct val="110000"/>
              </a:lnSpc>
              <a:buNone/>
            </a:pPr>
            <a:r>
              <a:rPr lang="en-US" sz="1050" dirty="0">
                <a:solidFill>
                  <a:srgbClr val="FFFFFF"/>
                </a:solidFill>
                <a:latin typeface="Calibri" pitchFamily="34" charset="0"/>
                <a:ea typeface="Calibri" pitchFamily="34" charset="-122"/>
                <a:cs typeface="Calibri" pitchFamily="34" charset="-120"/>
              </a:rPr>
              <a:t>Va a las fuentes oficiales en vivo. No tiene una copia propia de las leyes: pregunta a la BCN, al Poder Judicial, a la Contraloría.</a:t>
            </a:r>
            <a:endParaRPr lang="en-US" sz="1050" dirty="0"/>
          </a:p>
        </p:txBody>
      </p:sp>
      <p:sp>
        <p:nvSpPr>
          <p:cNvPr id="19" name="Shape 17"/>
          <p:cNvSpPr/>
          <p:nvPr/>
        </p:nvSpPr>
        <p:spPr>
          <a:xfrm>
            <a:off x="9061704" y="1874520"/>
            <a:ext cx="2542032" cy="2788920"/>
          </a:xfrm>
          <a:prstGeom prst="roundRect">
            <a:avLst>
              <a:gd name="adj" fmla="val 2158"/>
            </a:avLst>
          </a:prstGeom>
          <a:solidFill>
            <a:srgbClr val="2A3446"/>
          </a:solidFill>
          <a:ln/>
        </p:spPr>
      </p:sp>
      <p:sp>
        <p:nvSpPr>
          <p:cNvPr id="20" name="Shape 18"/>
          <p:cNvSpPr/>
          <p:nvPr/>
        </p:nvSpPr>
        <p:spPr>
          <a:xfrm>
            <a:off x="9354312" y="2148840"/>
            <a:ext cx="402336" cy="402336"/>
          </a:xfrm>
          <a:prstGeom prst="ellipse">
            <a:avLst/>
          </a:prstGeom>
          <a:solidFill>
            <a:srgbClr val="A87C4F"/>
          </a:solidFill>
          <a:ln/>
        </p:spPr>
      </p:sp>
      <p:sp>
        <p:nvSpPr>
          <p:cNvPr id="21" name="Text 19"/>
          <p:cNvSpPr/>
          <p:nvPr/>
        </p:nvSpPr>
        <p:spPr>
          <a:xfrm>
            <a:off x="9354312" y="2148840"/>
            <a:ext cx="402336"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2" name="Text 20"/>
          <p:cNvSpPr/>
          <p:nvPr/>
        </p:nvSpPr>
        <p:spPr>
          <a:xfrm>
            <a:off x="9354312" y="2697480"/>
            <a:ext cx="2011680" cy="310896"/>
          </a:xfrm>
          <a:prstGeom prst="rect">
            <a:avLst/>
          </a:prstGeom>
          <a:noFill/>
          <a:ln/>
        </p:spPr>
        <p:txBody>
          <a:bodyPr wrap="square" lIns="0" tIns="0" rIns="0" bIns="0" rtlCol="0" anchor="ctr"/>
          <a:lstStyle/>
          <a:p>
            <a:pPr indent="0" marL="0">
              <a:buNone/>
            </a:pPr>
            <a:r>
              <a:rPr lang="en-US" sz="1400" b="1" dirty="0">
                <a:solidFill>
                  <a:srgbClr val="C9A574"/>
                </a:solidFill>
                <a:latin typeface="Calibri" pitchFamily="34" charset="0"/>
                <a:ea typeface="Calibri" pitchFamily="34" charset="-122"/>
                <a:cs typeface="Calibri" pitchFamily="34" charset="-120"/>
              </a:rPr>
              <a:t>Usted recibe</a:t>
            </a:r>
            <a:endParaRPr lang="en-US" sz="1400" dirty="0"/>
          </a:p>
        </p:txBody>
      </p:sp>
      <p:sp>
        <p:nvSpPr>
          <p:cNvPr id="23" name="Text 21"/>
          <p:cNvSpPr/>
          <p:nvPr/>
        </p:nvSpPr>
        <p:spPr>
          <a:xfrm>
            <a:off x="9354312" y="3090672"/>
            <a:ext cx="2011680" cy="1463040"/>
          </a:xfrm>
          <a:prstGeom prst="rect">
            <a:avLst/>
          </a:prstGeom>
          <a:noFill/>
          <a:ln/>
        </p:spPr>
        <p:txBody>
          <a:bodyPr wrap="square" lIns="0" tIns="0" rIns="0" bIns="0" rtlCol="0" anchor="t"/>
          <a:lstStyle/>
          <a:p>
            <a:pPr indent="0" marL="0">
              <a:lnSpc>
                <a:spcPct val="110000"/>
              </a:lnSpc>
              <a:buNone/>
            </a:pPr>
            <a:r>
              <a:rPr lang="en-US" sz="1050" dirty="0">
                <a:solidFill>
                  <a:srgbClr val="FFFFFF"/>
                </a:solidFill>
                <a:latin typeface="Calibri" pitchFamily="34" charset="0"/>
                <a:ea typeface="Calibri" pitchFamily="34" charset="-122"/>
                <a:cs typeface="Calibri" pitchFamily="34" charset="-120"/>
              </a:rPr>
              <a:t>La respuesta con rol, tribunal, fecha, enlace y texto. Y si algo no se pudo verificar, se dice.</a:t>
            </a:r>
            <a:endParaRPr lang="en-US" sz="1050" dirty="0"/>
          </a:p>
        </p:txBody>
      </p:sp>
      <p:sp>
        <p:nvSpPr>
          <p:cNvPr id="24" name="Text 22"/>
          <p:cNvSpPr/>
          <p:nvPr/>
        </p:nvSpPr>
        <p:spPr>
          <a:xfrm>
            <a:off x="777240" y="5010912"/>
            <a:ext cx="10607040" cy="365760"/>
          </a:xfrm>
          <a:prstGeom prst="rect">
            <a:avLst/>
          </a:prstGeom>
          <a:noFill/>
          <a:ln/>
        </p:spPr>
        <p:txBody>
          <a:bodyPr wrap="square" lIns="0" tIns="0" rIns="0" bIns="0" rtlCol="0" anchor="t"/>
          <a:lstStyle/>
          <a:p>
            <a:pPr indent="0" marL="0">
              <a:buNone/>
            </a:pPr>
            <a:r>
              <a:rPr lang="en-US" sz="1200" i="1" dirty="0">
                <a:solidFill>
                  <a:srgbClr val="8A93A5"/>
                </a:solidFill>
                <a:latin typeface="Calibri" pitchFamily="34" charset="0"/>
                <a:ea typeface="Calibri" pitchFamily="34" charset="-122"/>
                <a:cs typeface="Calibri" pitchFamily="34" charset="-120"/>
              </a:rPr>
              <a:t>Responsa se instala una vez y queda disponible en toda conversación con Claude.</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4F1EA"/>
        </a:solidFill>
      </p:bgPr>
    </p:bg>
    <p:spTree>
      <p:nvGrpSpPr>
        <p:cNvPr id="1" name=""/>
        <p:cNvGrpSpPr/>
        <p:nvPr/>
      </p:nvGrpSpPr>
      <p:grpSpPr>
        <a:xfrm>
          <a:off x="0" y="0"/>
          <a:ext cx="0" cy="0"/>
          <a:chOff x="0" y="0"/>
          <a:chExt cx="0" cy="0"/>
        </a:xfrm>
      </p:grpSpPr>
      <p:sp>
        <p:nvSpPr>
          <p:cNvPr id="2" name="Text 0"/>
          <p:cNvSpPr/>
          <p:nvPr/>
        </p:nvSpPr>
        <p:spPr>
          <a:xfrm>
            <a:off x="777240" y="566928"/>
            <a:ext cx="10634472" cy="566928"/>
          </a:xfrm>
          <a:prstGeom prst="rect">
            <a:avLst/>
          </a:prstGeom>
          <a:noFill/>
          <a:ln/>
        </p:spPr>
        <p:txBody>
          <a:bodyPr wrap="square" lIns="0" tIns="0" rIns="0" bIns="0" rtlCol="0" anchor="ctr"/>
          <a:lstStyle/>
          <a:p>
            <a:pPr indent="0" marL="0">
              <a:buNone/>
            </a:pPr>
            <a:r>
              <a:rPr lang="en-US" sz="3200" b="1" dirty="0">
                <a:solidFill>
                  <a:srgbClr val="1B2230"/>
                </a:solidFill>
                <a:latin typeface="Cambria" pitchFamily="34" charset="0"/>
                <a:ea typeface="Cambria" pitchFamily="34" charset="-122"/>
                <a:cs typeface="Cambria" pitchFamily="34" charset="-120"/>
              </a:rPr>
              <a:t>Cómo falla</a:t>
            </a:r>
            <a:endParaRPr lang="en-US" sz="3200" dirty="0"/>
          </a:p>
        </p:txBody>
      </p:sp>
      <p:sp>
        <p:nvSpPr>
          <p:cNvPr id="3" name="Text 1"/>
          <p:cNvSpPr/>
          <p:nvPr/>
        </p:nvSpPr>
        <p:spPr>
          <a:xfrm>
            <a:off x="777240" y="1152144"/>
            <a:ext cx="9537192" cy="384048"/>
          </a:xfrm>
          <a:prstGeom prst="rect">
            <a:avLst/>
          </a:prstGeom>
          <a:noFill/>
          <a:ln/>
        </p:spPr>
        <p:txBody>
          <a:bodyPr wrap="square" lIns="0" tIns="0" rIns="0" bIns="0" rtlCol="0" anchor="ctr"/>
          <a:lstStyle/>
          <a:p>
            <a:pPr indent="0" marL="0">
              <a:buNone/>
            </a:pPr>
            <a:r>
              <a:rPr lang="en-US" sz="1350" i="1" dirty="0">
                <a:solidFill>
                  <a:srgbClr val="5A6478"/>
                </a:solidFill>
                <a:latin typeface="Calibri" pitchFamily="34" charset="0"/>
                <a:ea typeface="Calibri" pitchFamily="34" charset="-122"/>
                <a:cs typeface="Calibri" pitchFamily="34" charset="-120"/>
              </a:rPr>
              <a:t>La forma peligrosa de fallar no es el error: es el resultado vacío que se lee como una ausencia</a:t>
            </a:r>
            <a:endParaRPr lang="en-US" sz="1350" dirty="0"/>
          </a:p>
        </p:txBody>
      </p:sp>
      <p:sp>
        <p:nvSpPr>
          <p:cNvPr id="4" name="Shape 2"/>
          <p:cNvSpPr/>
          <p:nvPr/>
        </p:nvSpPr>
        <p:spPr>
          <a:xfrm>
            <a:off x="777240" y="1947672"/>
            <a:ext cx="347472" cy="347472"/>
          </a:xfrm>
          <a:prstGeom prst="ellipse">
            <a:avLst/>
          </a:prstGeom>
          <a:solidFill>
            <a:srgbClr val="A87C4F"/>
          </a:solidFill>
          <a:ln/>
        </p:spPr>
      </p:sp>
      <p:sp>
        <p:nvSpPr>
          <p:cNvPr id="5" name="Text 3"/>
          <p:cNvSpPr/>
          <p:nvPr/>
        </p:nvSpPr>
        <p:spPr>
          <a:xfrm>
            <a:off x="777240" y="1947672"/>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6" name="Text 4"/>
          <p:cNvSpPr/>
          <p:nvPr/>
        </p:nvSpPr>
        <p:spPr>
          <a:xfrm>
            <a:off x="1289304" y="1874520"/>
            <a:ext cx="3017520" cy="292608"/>
          </a:xfrm>
          <a:prstGeom prst="rect">
            <a:avLst/>
          </a:prstGeom>
          <a:noFill/>
          <a:ln/>
        </p:spPr>
        <p:txBody>
          <a:bodyPr wrap="square" lIns="0" tIns="0" rIns="0" bIns="0" rtlCol="0" anchor="t"/>
          <a:lstStyle/>
          <a:p>
            <a:pPr indent="0" marL="0">
              <a:buNone/>
            </a:pPr>
            <a:r>
              <a:rPr lang="en-US" sz="1350" b="1" dirty="0">
                <a:solidFill>
                  <a:srgbClr val="1B2230"/>
                </a:solidFill>
                <a:latin typeface="Calibri" pitchFamily="34" charset="0"/>
                <a:ea typeface="Calibri" pitchFamily="34" charset="-122"/>
                <a:cs typeface="Calibri" pitchFamily="34" charset="-120"/>
              </a:rPr>
              <a:t>Declara los vacíos</a:t>
            </a:r>
            <a:endParaRPr lang="en-US" sz="1350" dirty="0"/>
          </a:p>
        </p:txBody>
      </p:sp>
      <p:sp>
        <p:nvSpPr>
          <p:cNvPr id="7" name="Text 5"/>
          <p:cNvSpPr/>
          <p:nvPr/>
        </p:nvSpPr>
        <p:spPr>
          <a:xfrm>
            <a:off x="4434840" y="1856232"/>
            <a:ext cx="6858000" cy="841248"/>
          </a:xfrm>
          <a:prstGeom prst="rect">
            <a:avLst/>
          </a:prstGeom>
          <a:noFill/>
          <a:ln/>
        </p:spPr>
        <p:txBody>
          <a:bodyPr wrap="square" lIns="0" tIns="0" rIns="0" bIns="0" rtlCol="0" anchor="t"/>
          <a:lstStyle/>
          <a:p>
            <a:pPr indent="0" marL="0">
              <a:lnSpc>
                <a:spcPct val="108000"/>
              </a:lnSpc>
              <a:buNone/>
            </a:pPr>
            <a:r>
              <a:rPr lang="en-US" sz="1100" dirty="0">
                <a:solidFill>
                  <a:srgbClr val="5A6478"/>
                </a:solidFill>
                <a:latin typeface="Calibri" pitchFamily="34" charset="0"/>
                <a:ea typeface="Calibri" pitchFamily="34" charset="-122"/>
                <a:cs typeface="Calibri" pitchFamily="34" charset="-120"/>
              </a:rPr>
              <a:t>Si una fuente no responde, se dice. Nunca se completa el hueco con conocimiento propio, porque ese relleno es indistinguible del dato bueno.</a:t>
            </a:r>
            <a:endParaRPr lang="en-US" sz="1100" dirty="0"/>
          </a:p>
        </p:txBody>
      </p:sp>
      <p:sp>
        <p:nvSpPr>
          <p:cNvPr id="8" name="Shape 6"/>
          <p:cNvSpPr/>
          <p:nvPr/>
        </p:nvSpPr>
        <p:spPr>
          <a:xfrm>
            <a:off x="777240" y="2990088"/>
            <a:ext cx="347472" cy="347472"/>
          </a:xfrm>
          <a:prstGeom prst="ellipse">
            <a:avLst/>
          </a:prstGeom>
          <a:solidFill>
            <a:srgbClr val="A87C4F"/>
          </a:solidFill>
          <a:ln/>
        </p:spPr>
      </p:sp>
      <p:sp>
        <p:nvSpPr>
          <p:cNvPr id="9" name="Text 7"/>
          <p:cNvSpPr/>
          <p:nvPr/>
        </p:nvSpPr>
        <p:spPr>
          <a:xfrm>
            <a:off x="777240" y="2990088"/>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0" name="Text 8"/>
          <p:cNvSpPr/>
          <p:nvPr/>
        </p:nvSpPr>
        <p:spPr>
          <a:xfrm>
            <a:off x="1289304" y="2916936"/>
            <a:ext cx="3017520" cy="292608"/>
          </a:xfrm>
          <a:prstGeom prst="rect">
            <a:avLst/>
          </a:prstGeom>
          <a:noFill/>
          <a:ln/>
        </p:spPr>
        <p:txBody>
          <a:bodyPr wrap="square" lIns="0" tIns="0" rIns="0" bIns="0" rtlCol="0" anchor="t"/>
          <a:lstStyle/>
          <a:p>
            <a:pPr indent="0" marL="0">
              <a:buNone/>
            </a:pPr>
            <a:r>
              <a:rPr lang="en-US" sz="1350" b="1" dirty="0">
                <a:solidFill>
                  <a:srgbClr val="1B2230"/>
                </a:solidFill>
                <a:latin typeface="Calibri" pitchFamily="34" charset="0"/>
                <a:ea typeface="Calibri" pitchFamily="34" charset="-122"/>
                <a:cs typeface="Calibri" pitchFamily="34" charset="-120"/>
              </a:rPr>
              <a:t>Distingue caída de ausencia</a:t>
            </a:r>
            <a:endParaRPr lang="en-US" sz="1350" dirty="0"/>
          </a:p>
        </p:txBody>
      </p:sp>
      <p:sp>
        <p:nvSpPr>
          <p:cNvPr id="11" name="Text 9"/>
          <p:cNvSpPr/>
          <p:nvPr/>
        </p:nvSpPr>
        <p:spPr>
          <a:xfrm>
            <a:off x="4434840" y="2898648"/>
            <a:ext cx="6858000" cy="841248"/>
          </a:xfrm>
          <a:prstGeom prst="rect">
            <a:avLst/>
          </a:prstGeom>
          <a:noFill/>
          <a:ln/>
        </p:spPr>
        <p:txBody>
          <a:bodyPr wrap="square" lIns="0" tIns="0" rIns="0" bIns="0" rtlCol="0" anchor="t"/>
          <a:lstStyle/>
          <a:p>
            <a:pPr indent="0" marL="0">
              <a:lnSpc>
                <a:spcPct val="108000"/>
              </a:lnSpc>
              <a:buNone/>
            </a:pPr>
            <a:r>
              <a:rPr lang="en-US" sz="1100" dirty="0">
                <a:solidFill>
                  <a:srgbClr val="5A6478"/>
                </a:solidFill>
                <a:latin typeface="Calibri" pitchFamily="34" charset="0"/>
                <a:ea typeface="Calibri" pitchFamily="34" charset="-122"/>
                <a:cs typeface="Calibri" pitchFamily="34" charset="-120"/>
              </a:rPr>
              <a:t>Cuando el Poder Judicial devolvió un error de base de datos, Responsa lo nombró: «su base responde ORA-12541, es una falla del organismo». No lo presentó como «no hay jurisprudencia».</a:t>
            </a:r>
            <a:endParaRPr lang="en-US" sz="1100" dirty="0"/>
          </a:p>
        </p:txBody>
      </p:sp>
      <p:sp>
        <p:nvSpPr>
          <p:cNvPr id="12" name="Shape 10"/>
          <p:cNvSpPr/>
          <p:nvPr/>
        </p:nvSpPr>
        <p:spPr>
          <a:xfrm>
            <a:off x="777240" y="4032504"/>
            <a:ext cx="347472" cy="347472"/>
          </a:xfrm>
          <a:prstGeom prst="ellipse">
            <a:avLst/>
          </a:prstGeom>
          <a:solidFill>
            <a:srgbClr val="A87C4F"/>
          </a:solidFill>
          <a:ln/>
        </p:spPr>
      </p:sp>
      <p:sp>
        <p:nvSpPr>
          <p:cNvPr id="13" name="Text 11"/>
          <p:cNvSpPr/>
          <p:nvPr/>
        </p:nvSpPr>
        <p:spPr>
          <a:xfrm>
            <a:off x="777240" y="4032504"/>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4" name="Text 12"/>
          <p:cNvSpPr/>
          <p:nvPr/>
        </p:nvSpPr>
        <p:spPr>
          <a:xfrm>
            <a:off x="1289304" y="3959352"/>
            <a:ext cx="3017520" cy="292608"/>
          </a:xfrm>
          <a:prstGeom prst="rect">
            <a:avLst/>
          </a:prstGeom>
          <a:noFill/>
          <a:ln/>
        </p:spPr>
        <p:txBody>
          <a:bodyPr wrap="square" lIns="0" tIns="0" rIns="0" bIns="0" rtlCol="0" anchor="t"/>
          <a:lstStyle/>
          <a:p>
            <a:pPr indent="0" marL="0">
              <a:buNone/>
            </a:pPr>
            <a:r>
              <a:rPr lang="en-US" sz="1350" b="1" dirty="0">
                <a:solidFill>
                  <a:srgbClr val="1B2230"/>
                </a:solidFill>
                <a:latin typeface="Calibri" pitchFamily="34" charset="0"/>
                <a:ea typeface="Calibri" pitchFamily="34" charset="-122"/>
                <a:cs typeface="Calibri" pitchFamily="34" charset="-120"/>
              </a:rPr>
              <a:t>Se puede auditar</a:t>
            </a:r>
            <a:endParaRPr lang="en-US" sz="1350" dirty="0"/>
          </a:p>
        </p:txBody>
      </p:sp>
      <p:sp>
        <p:nvSpPr>
          <p:cNvPr id="15" name="Text 13"/>
          <p:cNvSpPr/>
          <p:nvPr/>
        </p:nvSpPr>
        <p:spPr>
          <a:xfrm>
            <a:off x="4434840" y="3941064"/>
            <a:ext cx="6858000" cy="841248"/>
          </a:xfrm>
          <a:prstGeom prst="rect">
            <a:avLst/>
          </a:prstGeom>
          <a:noFill/>
          <a:ln/>
        </p:spPr>
        <p:txBody>
          <a:bodyPr wrap="square" lIns="0" tIns="0" rIns="0" bIns="0" rtlCol="0" anchor="t"/>
          <a:lstStyle/>
          <a:p>
            <a:pPr indent="0" marL="0">
              <a:lnSpc>
                <a:spcPct val="108000"/>
              </a:lnSpc>
              <a:buNone/>
            </a:pPr>
            <a:r>
              <a:rPr lang="en-US" sz="1100" dirty="0">
                <a:solidFill>
                  <a:srgbClr val="5A6478"/>
                </a:solidFill>
                <a:latin typeface="Calibri" pitchFamily="34" charset="0"/>
                <a:ea typeface="Calibri" pitchFamily="34" charset="-122"/>
                <a:cs typeface="Calibri" pitchFamily="34" charset="-120"/>
              </a:rPr>
              <a:t>Un comando consulta las diez fuentes con preguntas de respuesta conocida y dice cuál responde y cuál no. Sesenta comprobaciones automáticas verifican que cada fuente entregue lo que corresponde.</a:t>
            </a:r>
            <a:endParaRPr lang="en-US" sz="1100" dirty="0"/>
          </a:p>
        </p:txBody>
      </p:sp>
      <p:sp>
        <p:nvSpPr>
          <p:cNvPr id="16" name="Shape 14"/>
          <p:cNvSpPr/>
          <p:nvPr/>
        </p:nvSpPr>
        <p:spPr>
          <a:xfrm>
            <a:off x="777240" y="5074920"/>
            <a:ext cx="347472" cy="347472"/>
          </a:xfrm>
          <a:prstGeom prst="ellipse">
            <a:avLst/>
          </a:prstGeom>
          <a:solidFill>
            <a:srgbClr val="A87C4F"/>
          </a:solidFill>
          <a:ln/>
        </p:spPr>
      </p:sp>
      <p:sp>
        <p:nvSpPr>
          <p:cNvPr id="17" name="Text 15"/>
          <p:cNvSpPr/>
          <p:nvPr/>
        </p:nvSpPr>
        <p:spPr>
          <a:xfrm>
            <a:off x="777240" y="50749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18" name="Text 16"/>
          <p:cNvSpPr/>
          <p:nvPr/>
        </p:nvSpPr>
        <p:spPr>
          <a:xfrm>
            <a:off x="1289304" y="5001768"/>
            <a:ext cx="3017520" cy="292608"/>
          </a:xfrm>
          <a:prstGeom prst="rect">
            <a:avLst/>
          </a:prstGeom>
          <a:noFill/>
          <a:ln/>
        </p:spPr>
        <p:txBody>
          <a:bodyPr wrap="square" lIns="0" tIns="0" rIns="0" bIns="0" rtlCol="0" anchor="t"/>
          <a:lstStyle/>
          <a:p>
            <a:pPr indent="0" marL="0">
              <a:buNone/>
            </a:pPr>
            <a:r>
              <a:rPr lang="en-US" sz="1350" b="1" dirty="0">
                <a:solidFill>
                  <a:srgbClr val="1B2230"/>
                </a:solidFill>
                <a:latin typeface="Calibri" pitchFamily="34" charset="0"/>
                <a:ea typeface="Calibri" pitchFamily="34" charset="-122"/>
                <a:cs typeface="Calibri" pitchFamily="34" charset="-120"/>
              </a:rPr>
              <a:t>Avisa si cambia una fuente</a:t>
            </a:r>
            <a:endParaRPr lang="en-US" sz="1350" dirty="0"/>
          </a:p>
        </p:txBody>
      </p:sp>
      <p:sp>
        <p:nvSpPr>
          <p:cNvPr id="19" name="Text 17"/>
          <p:cNvSpPr/>
          <p:nvPr/>
        </p:nvSpPr>
        <p:spPr>
          <a:xfrm>
            <a:off x="4434840" y="4983480"/>
            <a:ext cx="6858000" cy="841248"/>
          </a:xfrm>
          <a:prstGeom prst="rect">
            <a:avLst/>
          </a:prstGeom>
          <a:noFill/>
          <a:ln/>
        </p:spPr>
        <p:txBody>
          <a:bodyPr wrap="square" lIns="0" tIns="0" rIns="0" bIns="0" rtlCol="0" anchor="t"/>
          <a:lstStyle/>
          <a:p>
            <a:pPr indent="0" marL="0">
              <a:lnSpc>
                <a:spcPct val="108000"/>
              </a:lnSpc>
              <a:buNone/>
            </a:pPr>
            <a:r>
              <a:rPr lang="en-US" sz="1100" dirty="0">
                <a:solidFill>
                  <a:srgbClr val="5A6478"/>
                </a:solidFill>
                <a:latin typeface="Calibri" pitchFamily="34" charset="0"/>
                <a:ea typeface="Calibri" pitchFamily="34" charset="-122"/>
                <a:cs typeface="Calibri" pitchFamily="34" charset="-120"/>
              </a:rPr>
              <a:t>Son sitios de terceros que cambian sin previo aviso. Si alguno altera su estructura, el error lo dice explícitamente en vez de devolver una lista vacía en silencio.</a:t>
            </a:r>
            <a:endParaRPr lang="en-US" sz="1100" dirty="0"/>
          </a:p>
        </p:txBody>
      </p:sp>
      <p:sp>
        <p:nvSpPr>
          <p:cNvPr id="20" name="Text 18"/>
          <p:cNvSpPr/>
          <p:nvPr/>
        </p:nvSpPr>
        <p:spPr>
          <a:xfrm>
            <a:off x="777240" y="5943600"/>
            <a:ext cx="10607040" cy="411480"/>
          </a:xfrm>
          <a:prstGeom prst="rect">
            <a:avLst/>
          </a:prstGeom>
          <a:noFill/>
          <a:ln/>
        </p:spPr>
        <p:txBody>
          <a:bodyPr wrap="square" lIns="0" tIns="0" rIns="0" bIns="0" rtlCol="0" anchor="ctr"/>
          <a:lstStyle/>
          <a:p>
            <a:pPr indent="0" marL="0">
              <a:buNone/>
            </a:pPr>
            <a:r>
              <a:rPr lang="en-US" sz="1100" i="1" dirty="0">
                <a:solidFill>
                  <a:srgbClr val="6B2C33"/>
                </a:solidFill>
                <a:latin typeface="Calibri" pitchFamily="34" charset="0"/>
                <a:ea typeface="Calibri" pitchFamily="34" charset="-122"/>
                <a:cs typeface="Calibri" pitchFamily="34" charset="-120"/>
              </a:rPr>
              <a:t>Es investigación jurídica asistida, no asesoría legal. En materias con plazos, prescripción o caducidad de por medio, corresponde revisión profesional antes de actuar.</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4F1EA"/>
        </a:solidFill>
      </p:bgPr>
    </p:bg>
    <p:spTree>
      <p:nvGrpSpPr>
        <p:cNvPr id="1" name=""/>
        <p:cNvGrpSpPr/>
        <p:nvPr/>
      </p:nvGrpSpPr>
      <p:grpSpPr>
        <a:xfrm>
          <a:off x="0" y="0"/>
          <a:ext cx="0" cy="0"/>
          <a:chOff x="0" y="0"/>
          <a:chExt cx="0" cy="0"/>
        </a:xfrm>
      </p:grpSpPr>
      <p:sp>
        <p:nvSpPr>
          <p:cNvPr id="2" name="Text 0"/>
          <p:cNvSpPr/>
          <p:nvPr/>
        </p:nvSpPr>
        <p:spPr>
          <a:xfrm>
            <a:off x="777240" y="566928"/>
            <a:ext cx="10634472" cy="566928"/>
          </a:xfrm>
          <a:prstGeom prst="rect">
            <a:avLst/>
          </a:prstGeom>
          <a:noFill/>
          <a:ln/>
        </p:spPr>
        <p:txBody>
          <a:bodyPr wrap="square" lIns="0" tIns="0" rIns="0" bIns="0" rtlCol="0" anchor="ctr"/>
          <a:lstStyle/>
          <a:p>
            <a:pPr indent="0" marL="0">
              <a:buNone/>
            </a:pPr>
            <a:r>
              <a:rPr lang="en-US" sz="3200" b="1" dirty="0">
                <a:solidFill>
                  <a:srgbClr val="1B2230"/>
                </a:solidFill>
                <a:latin typeface="Cambria" pitchFamily="34" charset="0"/>
                <a:ea typeface="Cambria" pitchFamily="34" charset="-122"/>
                <a:cs typeface="Cambria" pitchFamily="34" charset="-120"/>
              </a:rPr>
              <a:t>Instalación en Windows</a:t>
            </a:r>
            <a:endParaRPr lang="en-US" sz="3200" dirty="0"/>
          </a:p>
        </p:txBody>
      </p:sp>
      <p:sp>
        <p:nvSpPr>
          <p:cNvPr id="3" name="Text 1"/>
          <p:cNvSpPr/>
          <p:nvPr/>
        </p:nvSpPr>
        <p:spPr>
          <a:xfrm>
            <a:off x="777240" y="1152144"/>
            <a:ext cx="9537192" cy="384048"/>
          </a:xfrm>
          <a:prstGeom prst="rect">
            <a:avLst/>
          </a:prstGeom>
          <a:noFill/>
          <a:ln/>
        </p:spPr>
        <p:txBody>
          <a:bodyPr wrap="square" lIns="0" tIns="0" rIns="0" bIns="0" rtlCol="0" anchor="ctr"/>
          <a:lstStyle/>
          <a:p>
            <a:pPr indent="0" marL="0">
              <a:buNone/>
            </a:pPr>
            <a:r>
              <a:rPr lang="en-US" sz="1350" i="1" dirty="0">
                <a:solidFill>
                  <a:srgbClr val="5A6478"/>
                </a:solidFill>
                <a:latin typeface="Calibri" pitchFamily="34" charset="0"/>
                <a:ea typeface="Calibri" pitchFamily="34" charset="-122"/>
                <a:cs typeface="Calibri" pitchFamily="34" charset="-120"/>
              </a:rPr>
              <a:t>Un solo comando hace todo: dependencias, registro, skill, precarga y verificación</a:t>
            </a:r>
            <a:endParaRPr lang="en-US" sz="1350" dirty="0"/>
          </a:p>
        </p:txBody>
      </p:sp>
      <p:sp>
        <p:nvSpPr>
          <p:cNvPr id="4" name="Shape 2"/>
          <p:cNvSpPr/>
          <p:nvPr/>
        </p:nvSpPr>
        <p:spPr>
          <a:xfrm>
            <a:off x="777240" y="1901952"/>
            <a:ext cx="347472" cy="347472"/>
          </a:xfrm>
          <a:prstGeom prst="ellipse">
            <a:avLst/>
          </a:prstGeom>
          <a:solidFill>
            <a:srgbClr val="A87C4F"/>
          </a:solidFill>
          <a:ln/>
        </p:spPr>
      </p:sp>
      <p:sp>
        <p:nvSpPr>
          <p:cNvPr id="5" name="Text 3"/>
          <p:cNvSpPr/>
          <p:nvPr/>
        </p:nvSpPr>
        <p:spPr>
          <a:xfrm>
            <a:off x="777240" y="1901952"/>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6" name="Text 4"/>
          <p:cNvSpPr/>
          <p:nvPr/>
        </p:nvSpPr>
        <p:spPr>
          <a:xfrm>
            <a:off x="1289304" y="1847088"/>
            <a:ext cx="3200400" cy="274320"/>
          </a:xfrm>
          <a:prstGeom prst="rect">
            <a:avLst/>
          </a:prstGeom>
          <a:noFill/>
          <a:ln/>
        </p:spPr>
        <p:txBody>
          <a:bodyPr wrap="square" lIns="0" tIns="0" rIns="0" bIns="0" rtlCol="0" anchor="ctr"/>
          <a:lstStyle/>
          <a:p>
            <a:pPr indent="0" marL="0">
              <a:buNone/>
            </a:pPr>
            <a:r>
              <a:rPr lang="en-US" sz="1300" b="1" dirty="0">
                <a:solidFill>
                  <a:srgbClr val="1B2230"/>
                </a:solidFill>
                <a:latin typeface="Calibri" pitchFamily="34" charset="0"/>
                <a:ea typeface="Calibri" pitchFamily="34" charset="-122"/>
                <a:cs typeface="Calibri" pitchFamily="34" charset="-120"/>
              </a:rPr>
              <a:t>Instalar Node.js</a:t>
            </a:r>
            <a:endParaRPr lang="en-US" sz="1300" dirty="0"/>
          </a:p>
        </p:txBody>
      </p:sp>
      <p:sp>
        <p:nvSpPr>
          <p:cNvPr id="7" name="Text 5"/>
          <p:cNvSpPr/>
          <p:nvPr/>
        </p:nvSpPr>
        <p:spPr>
          <a:xfrm>
            <a:off x="1289304" y="2121408"/>
            <a:ext cx="3200400" cy="566928"/>
          </a:xfrm>
          <a:prstGeom prst="rect">
            <a:avLst/>
          </a:prstGeom>
          <a:noFill/>
          <a:ln/>
        </p:spPr>
        <p:txBody>
          <a:bodyPr wrap="square" lIns="0" tIns="0" rIns="0" bIns="0" rtlCol="0" anchor="ctr"/>
          <a:lstStyle/>
          <a:p>
            <a:pPr indent="0" marL="0">
              <a:lnSpc>
                <a:spcPct val="100000"/>
              </a:lnSpc>
              <a:buNone/>
            </a:pPr>
            <a:r>
              <a:rPr lang="en-US" sz="1000" dirty="0">
                <a:solidFill>
                  <a:srgbClr val="5A6478"/>
                </a:solidFill>
                <a:latin typeface="Calibri" pitchFamily="34" charset="0"/>
                <a:ea typeface="Calibri" pitchFamily="34" charset="-122"/>
                <a:cs typeface="Calibri" pitchFamily="34" charset="-120"/>
              </a:rPr>
              <a:t>Descargar la versión LTS desde nodejs.org y ejecutar el instalador. Aceptar las opciones por defecto.</a:t>
            </a:r>
            <a:endParaRPr lang="en-US" sz="1000" dirty="0"/>
          </a:p>
        </p:txBody>
      </p:sp>
      <p:sp>
        <p:nvSpPr>
          <p:cNvPr id="8" name="Shape 6"/>
          <p:cNvSpPr/>
          <p:nvPr/>
        </p:nvSpPr>
        <p:spPr>
          <a:xfrm>
            <a:off x="4709160" y="1865376"/>
            <a:ext cx="6675120" cy="658368"/>
          </a:xfrm>
          <a:prstGeom prst="roundRect">
            <a:avLst>
              <a:gd name="adj" fmla="val 6944"/>
            </a:avLst>
          </a:prstGeom>
          <a:solidFill>
            <a:srgbClr val="1B2230"/>
          </a:solidFill>
          <a:ln/>
        </p:spPr>
      </p:sp>
      <p:sp>
        <p:nvSpPr>
          <p:cNvPr id="9" name="Text 7"/>
          <p:cNvSpPr/>
          <p:nvPr/>
        </p:nvSpPr>
        <p:spPr>
          <a:xfrm>
            <a:off x="4937760" y="1865376"/>
            <a:ext cx="6217920" cy="658368"/>
          </a:xfrm>
          <a:prstGeom prst="rect">
            <a:avLst/>
          </a:prstGeom>
          <a:noFill/>
          <a:ln/>
        </p:spPr>
        <p:txBody>
          <a:bodyPr wrap="square" lIns="0" tIns="0" rIns="0" bIns="0" rtlCol="0" anchor="ctr"/>
          <a:lstStyle/>
          <a:p>
            <a:pPr indent="0" marL="0">
              <a:buNone/>
            </a:pPr>
            <a:r>
              <a:rPr lang="en-US" sz="1150" b="1" dirty="0">
                <a:solidFill>
                  <a:srgbClr val="C9A574"/>
                </a:solidFill>
                <a:latin typeface="Courier New" pitchFamily="34" charset="0"/>
                <a:ea typeface="Courier New" pitchFamily="34" charset="-122"/>
                <a:cs typeface="Courier New" pitchFamily="34" charset="-120"/>
              </a:rPr>
              <a:t>nodejs.org  →  descargar LTS</a:t>
            </a:r>
            <a:endParaRPr lang="en-US" sz="1150" dirty="0"/>
          </a:p>
        </p:txBody>
      </p:sp>
      <p:sp>
        <p:nvSpPr>
          <p:cNvPr id="10" name="Shape 8"/>
          <p:cNvSpPr/>
          <p:nvPr/>
        </p:nvSpPr>
        <p:spPr>
          <a:xfrm>
            <a:off x="777240" y="2871216"/>
            <a:ext cx="347472" cy="347472"/>
          </a:xfrm>
          <a:prstGeom prst="ellipse">
            <a:avLst/>
          </a:prstGeom>
          <a:solidFill>
            <a:srgbClr val="A87C4F"/>
          </a:solidFill>
          <a:ln/>
        </p:spPr>
      </p:sp>
      <p:sp>
        <p:nvSpPr>
          <p:cNvPr id="11" name="Text 9"/>
          <p:cNvSpPr/>
          <p:nvPr/>
        </p:nvSpPr>
        <p:spPr>
          <a:xfrm>
            <a:off x="777240" y="2871216"/>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2" name="Text 10"/>
          <p:cNvSpPr/>
          <p:nvPr/>
        </p:nvSpPr>
        <p:spPr>
          <a:xfrm>
            <a:off x="1289304" y="2816352"/>
            <a:ext cx="3200400" cy="274320"/>
          </a:xfrm>
          <a:prstGeom prst="rect">
            <a:avLst/>
          </a:prstGeom>
          <a:noFill/>
          <a:ln/>
        </p:spPr>
        <p:txBody>
          <a:bodyPr wrap="square" lIns="0" tIns="0" rIns="0" bIns="0" rtlCol="0" anchor="ctr"/>
          <a:lstStyle/>
          <a:p>
            <a:pPr indent="0" marL="0">
              <a:buNone/>
            </a:pPr>
            <a:r>
              <a:rPr lang="en-US" sz="1300" b="1" dirty="0">
                <a:solidFill>
                  <a:srgbClr val="1B2230"/>
                </a:solidFill>
                <a:latin typeface="Calibri" pitchFamily="34" charset="0"/>
                <a:ea typeface="Calibri" pitchFamily="34" charset="-122"/>
                <a:cs typeface="Calibri" pitchFamily="34" charset="-120"/>
              </a:rPr>
              <a:t>Abrir PowerShell</a:t>
            </a:r>
            <a:endParaRPr lang="en-US" sz="1300" dirty="0"/>
          </a:p>
        </p:txBody>
      </p:sp>
      <p:sp>
        <p:nvSpPr>
          <p:cNvPr id="13" name="Text 11"/>
          <p:cNvSpPr/>
          <p:nvPr/>
        </p:nvSpPr>
        <p:spPr>
          <a:xfrm>
            <a:off x="1289304" y="3090672"/>
            <a:ext cx="3200400" cy="566928"/>
          </a:xfrm>
          <a:prstGeom prst="rect">
            <a:avLst/>
          </a:prstGeom>
          <a:noFill/>
          <a:ln/>
        </p:spPr>
        <p:txBody>
          <a:bodyPr wrap="square" lIns="0" tIns="0" rIns="0" bIns="0" rtlCol="0" anchor="ctr"/>
          <a:lstStyle/>
          <a:p>
            <a:pPr indent="0" marL="0">
              <a:lnSpc>
                <a:spcPct val="100000"/>
              </a:lnSpc>
              <a:buNone/>
            </a:pPr>
            <a:r>
              <a:rPr lang="en-US" sz="1000" dirty="0">
                <a:solidFill>
                  <a:srgbClr val="5A6478"/>
                </a:solidFill>
                <a:latin typeface="Calibri" pitchFamily="34" charset="0"/>
                <a:ea typeface="Calibri" pitchFamily="34" charset="-122"/>
                <a:cs typeface="Calibri" pitchFamily="34" charset="-120"/>
              </a:rPr>
              <a:t>Menú Inicio, escribir «PowerShell» y abrirlo. Situarse en la carpeta de Responsa.</a:t>
            </a:r>
            <a:endParaRPr lang="en-US" sz="1000" dirty="0"/>
          </a:p>
        </p:txBody>
      </p:sp>
      <p:sp>
        <p:nvSpPr>
          <p:cNvPr id="14" name="Shape 12"/>
          <p:cNvSpPr/>
          <p:nvPr/>
        </p:nvSpPr>
        <p:spPr>
          <a:xfrm>
            <a:off x="4709160" y="2834640"/>
            <a:ext cx="6675120" cy="658368"/>
          </a:xfrm>
          <a:prstGeom prst="roundRect">
            <a:avLst>
              <a:gd name="adj" fmla="val 6944"/>
            </a:avLst>
          </a:prstGeom>
          <a:solidFill>
            <a:srgbClr val="1B2230"/>
          </a:solidFill>
          <a:ln/>
        </p:spPr>
      </p:sp>
      <p:sp>
        <p:nvSpPr>
          <p:cNvPr id="15" name="Text 13"/>
          <p:cNvSpPr/>
          <p:nvPr/>
        </p:nvSpPr>
        <p:spPr>
          <a:xfrm>
            <a:off x="4937760" y="2834640"/>
            <a:ext cx="6217920" cy="658368"/>
          </a:xfrm>
          <a:prstGeom prst="rect">
            <a:avLst/>
          </a:prstGeom>
          <a:noFill/>
          <a:ln/>
        </p:spPr>
        <p:txBody>
          <a:bodyPr wrap="square" lIns="0" tIns="0" rIns="0" bIns="0" rtlCol="0" anchor="ctr"/>
          <a:lstStyle/>
          <a:p>
            <a:pPr indent="0" marL="0">
              <a:buNone/>
            </a:pPr>
            <a:r>
              <a:rPr lang="en-US" sz="1150" b="1" dirty="0">
                <a:solidFill>
                  <a:srgbClr val="C9A574"/>
                </a:solidFill>
                <a:latin typeface="Courier New" pitchFamily="34" charset="0"/>
                <a:ea typeface="Courier New" pitchFamily="34" charset="-122"/>
                <a:cs typeface="Courier New" pitchFamily="34" charset="-120"/>
              </a:rPr>
              <a:t>cd C:\Users\&lt;usuario&gt;\Responsa</a:t>
            </a:r>
            <a:endParaRPr lang="en-US" sz="1150" dirty="0"/>
          </a:p>
        </p:txBody>
      </p:sp>
      <p:sp>
        <p:nvSpPr>
          <p:cNvPr id="16" name="Shape 14"/>
          <p:cNvSpPr/>
          <p:nvPr/>
        </p:nvSpPr>
        <p:spPr>
          <a:xfrm>
            <a:off x="777240" y="3840480"/>
            <a:ext cx="347472" cy="347472"/>
          </a:xfrm>
          <a:prstGeom prst="ellipse">
            <a:avLst/>
          </a:prstGeom>
          <a:solidFill>
            <a:srgbClr val="A87C4F"/>
          </a:solidFill>
          <a:ln/>
        </p:spPr>
      </p:sp>
      <p:sp>
        <p:nvSpPr>
          <p:cNvPr id="17" name="Text 15"/>
          <p:cNvSpPr/>
          <p:nvPr/>
        </p:nvSpPr>
        <p:spPr>
          <a:xfrm>
            <a:off x="777240" y="384048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8" name="Text 16"/>
          <p:cNvSpPr/>
          <p:nvPr/>
        </p:nvSpPr>
        <p:spPr>
          <a:xfrm>
            <a:off x="1289304" y="3785616"/>
            <a:ext cx="3200400" cy="274320"/>
          </a:xfrm>
          <a:prstGeom prst="rect">
            <a:avLst/>
          </a:prstGeom>
          <a:noFill/>
          <a:ln/>
        </p:spPr>
        <p:txBody>
          <a:bodyPr wrap="square" lIns="0" tIns="0" rIns="0" bIns="0" rtlCol="0" anchor="ctr"/>
          <a:lstStyle/>
          <a:p>
            <a:pPr indent="0" marL="0">
              <a:buNone/>
            </a:pPr>
            <a:r>
              <a:rPr lang="en-US" sz="1300" b="1" dirty="0">
                <a:solidFill>
                  <a:srgbClr val="1B2230"/>
                </a:solidFill>
                <a:latin typeface="Calibri" pitchFamily="34" charset="0"/>
                <a:ea typeface="Calibri" pitchFamily="34" charset="-122"/>
                <a:cs typeface="Calibri" pitchFamily="34" charset="-120"/>
              </a:rPr>
              <a:t>Ejecutar el instalador</a:t>
            </a:r>
            <a:endParaRPr lang="en-US" sz="1300" dirty="0"/>
          </a:p>
        </p:txBody>
      </p:sp>
      <p:sp>
        <p:nvSpPr>
          <p:cNvPr id="19" name="Text 17"/>
          <p:cNvSpPr/>
          <p:nvPr/>
        </p:nvSpPr>
        <p:spPr>
          <a:xfrm>
            <a:off x="1289304" y="4059936"/>
            <a:ext cx="3200400" cy="566928"/>
          </a:xfrm>
          <a:prstGeom prst="rect">
            <a:avLst/>
          </a:prstGeom>
          <a:noFill/>
          <a:ln/>
        </p:spPr>
        <p:txBody>
          <a:bodyPr wrap="square" lIns="0" tIns="0" rIns="0" bIns="0" rtlCol="0" anchor="ctr"/>
          <a:lstStyle/>
          <a:p>
            <a:pPr indent="0" marL="0">
              <a:lnSpc>
                <a:spcPct val="100000"/>
              </a:lnSpc>
              <a:buNone/>
            </a:pPr>
            <a:r>
              <a:rPr lang="en-US" sz="1000" dirty="0">
                <a:solidFill>
                  <a:srgbClr val="5A6478"/>
                </a:solidFill>
                <a:latin typeface="Calibri" pitchFamily="34" charset="0"/>
                <a:ea typeface="Calibri" pitchFamily="34" charset="-122"/>
                <a:cs typeface="Calibri" pitchFamily="34" charset="-120"/>
              </a:rPr>
              <a:t>Instala dependencias, registra el servidor en Claude Desktop y Claude Code, instala la skill, precarga los códigos y verifica las fuentes.</a:t>
            </a:r>
            <a:endParaRPr lang="en-US" sz="1000" dirty="0"/>
          </a:p>
        </p:txBody>
      </p:sp>
      <p:sp>
        <p:nvSpPr>
          <p:cNvPr id="20" name="Shape 18"/>
          <p:cNvSpPr/>
          <p:nvPr/>
        </p:nvSpPr>
        <p:spPr>
          <a:xfrm>
            <a:off x="4709160" y="3803904"/>
            <a:ext cx="6675120" cy="658368"/>
          </a:xfrm>
          <a:prstGeom prst="roundRect">
            <a:avLst>
              <a:gd name="adj" fmla="val 6944"/>
            </a:avLst>
          </a:prstGeom>
          <a:solidFill>
            <a:srgbClr val="1B2230"/>
          </a:solidFill>
          <a:ln/>
        </p:spPr>
      </p:sp>
      <p:sp>
        <p:nvSpPr>
          <p:cNvPr id="21" name="Text 19"/>
          <p:cNvSpPr/>
          <p:nvPr/>
        </p:nvSpPr>
        <p:spPr>
          <a:xfrm>
            <a:off x="4937760" y="3803904"/>
            <a:ext cx="6217920" cy="658368"/>
          </a:xfrm>
          <a:prstGeom prst="rect">
            <a:avLst/>
          </a:prstGeom>
          <a:noFill/>
          <a:ln/>
        </p:spPr>
        <p:txBody>
          <a:bodyPr wrap="square" lIns="0" tIns="0" rIns="0" bIns="0" rtlCol="0" anchor="ctr"/>
          <a:lstStyle/>
          <a:p>
            <a:pPr indent="0" marL="0">
              <a:buNone/>
            </a:pPr>
            <a:r>
              <a:rPr lang="en-US" sz="1150" b="1" dirty="0">
                <a:solidFill>
                  <a:srgbClr val="C9A574"/>
                </a:solidFill>
                <a:latin typeface="Courier New" pitchFamily="34" charset="0"/>
                <a:ea typeface="Courier New" pitchFamily="34" charset="-122"/>
                <a:cs typeface="Courier New" pitchFamily="34" charset="-120"/>
              </a:rPr>
              <a:t>node instalar.mjs</a:t>
            </a:r>
            <a:endParaRPr lang="en-US" sz="1150" dirty="0"/>
          </a:p>
        </p:txBody>
      </p:sp>
      <p:sp>
        <p:nvSpPr>
          <p:cNvPr id="22" name="Shape 20"/>
          <p:cNvSpPr/>
          <p:nvPr/>
        </p:nvSpPr>
        <p:spPr>
          <a:xfrm>
            <a:off x="777240" y="4809744"/>
            <a:ext cx="347472" cy="347472"/>
          </a:xfrm>
          <a:prstGeom prst="ellipse">
            <a:avLst/>
          </a:prstGeom>
          <a:solidFill>
            <a:srgbClr val="A87C4F"/>
          </a:solidFill>
          <a:ln/>
        </p:spPr>
      </p:sp>
      <p:sp>
        <p:nvSpPr>
          <p:cNvPr id="23" name="Text 21"/>
          <p:cNvSpPr/>
          <p:nvPr/>
        </p:nvSpPr>
        <p:spPr>
          <a:xfrm>
            <a:off x="777240" y="4809744"/>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4" name="Text 22"/>
          <p:cNvSpPr/>
          <p:nvPr/>
        </p:nvSpPr>
        <p:spPr>
          <a:xfrm>
            <a:off x="1289304" y="4754880"/>
            <a:ext cx="3200400" cy="274320"/>
          </a:xfrm>
          <a:prstGeom prst="rect">
            <a:avLst/>
          </a:prstGeom>
          <a:noFill/>
          <a:ln/>
        </p:spPr>
        <p:txBody>
          <a:bodyPr wrap="square" lIns="0" tIns="0" rIns="0" bIns="0" rtlCol="0" anchor="ctr"/>
          <a:lstStyle/>
          <a:p>
            <a:pPr indent="0" marL="0">
              <a:buNone/>
            </a:pPr>
            <a:r>
              <a:rPr lang="en-US" sz="1300" b="1" dirty="0">
                <a:solidFill>
                  <a:srgbClr val="1B2230"/>
                </a:solidFill>
                <a:latin typeface="Calibri" pitchFamily="34" charset="0"/>
                <a:ea typeface="Calibri" pitchFamily="34" charset="-122"/>
                <a:cs typeface="Calibri" pitchFamily="34" charset="-120"/>
              </a:rPr>
              <a:t>Reiniciar Claude Desktop</a:t>
            </a:r>
            <a:endParaRPr lang="en-US" sz="1300" dirty="0"/>
          </a:p>
        </p:txBody>
      </p:sp>
      <p:sp>
        <p:nvSpPr>
          <p:cNvPr id="25" name="Text 23"/>
          <p:cNvSpPr/>
          <p:nvPr/>
        </p:nvSpPr>
        <p:spPr>
          <a:xfrm>
            <a:off x="1289304" y="5029200"/>
            <a:ext cx="3200400" cy="566928"/>
          </a:xfrm>
          <a:prstGeom prst="rect">
            <a:avLst/>
          </a:prstGeom>
          <a:noFill/>
          <a:ln/>
        </p:spPr>
        <p:txBody>
          <a:bodyPr wrap="square" lIns="0" tIns="0" rIns="0" bIns="0" rtlCol="0" anchor="ctr"/>
          <a:lstStyle/>
          <a:p>
            <a:pPr indent="0" marL="0">
              <a:lnSpc>
                <a:spcPct val="100000"/>
              </a:lnSpc>
              <a:buNone/>
            </a:pPr>
            <a:r>
              <a:rPr lang="en-US" sz="1000" dirty="0">
                <a:solidFill>
                  <a:srgbClr val="5A6478"/>
                </a:solidFill>
                <a:latin typeface="Calibri" pitchFamily="34" charset="0"/>
                <a:ea typeface="Calibri" pitchFamily="34" charset="-122"/>
                <a:cs typeface="Calibri" pitchFamily="34" charset="-120"/>
              </a:rPr>
              <a:t>Cerrarlo por completo desde la bandeja del sistema, junto al reloj, no sólo la ventana. Los servidores se cargan al arrancar.</a:t>
            </a:r>
            <a:endParaRPr lang="en-US" sz="1000" dirty="0"/>
          </a:p>
        </p:txBody>
      </p:sp>
      <p:sp>
        <p:nvSpPr>
          <p:cNvPr id="26" name="Text 24"/>
          <p:cNvSpPr/>
          <p:nvPr/>
        </p:nvSpPr>
        <p:spPr>
          <a:xfrm>
            <a:off x="777240" y="5870448"/>
            <a:ext cx="10607040" cy="457200"/>
          </a:xfrm>
          <a:prstGeom prst="rect">
            <a:avLst/>
          </a:prstGeom>
          <a:noFill/>
          <a:ln/>
        </p:spPr>
        <p:txBody>
          <a:bodyPr wrap="square" lIns="0" tIns="0" rIns="0" bIns="0" rtlCol="0" anchor="ctr"/>
          <a:lstStyle/>
          <a:p>
            <a:pPr indent="0" marL="0">
              <a:buNone/>
            </a:pPr>
            <a:r>
              <a:rPr lang="en-US" sz="1150" i="1" dirty="0">
                <a:solidFill>
                  <a:srgbClr val="1B2230"/>
                </a:solidFill>
                <a:latin typeface="Calibri" pitchFamily="34" charset="0"/>
                <a:ea typeface="Calibri" pitchFamily="34" charset="-122"/>
                <a:cs typeface="Calibri" pitchFamily="34" charset="-120"/>
              </a:rPr>
              <a:t>Para comprobar que quedó bien: preguntar cualquier cosa de derecho chileno. Si responde con roles, tribunales y enlaces, está funcionando.</a:t>
            </a:r>
            <a:endParaRPr lang="en-US" sz="11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4F1EA"/>
        </a:solidFill>
      </p:bgPr>
    </p:bg>
    <p:spTree>
      <p:nvGrpSpPr>
        <p:cNvPr id="1" name=""/>
        <p:cNvGrpSpPr/>
        <p:nvPr/>
      </p:nvGrpSpPr>
      <p:grpSpPr>
        <a:xfrm>
          <a:off x="0" y="0"/>
          <a:ext cx="0" cy="0"/>
          <a:chOff x="0" y="0"/>
          <a:chExt cx="0" cy="0"/>
        </a:xfrm>
      </p:grpSpPr>
      <p:sp>
        <p:nvSpPr>
          <p:cNvPr id="2" name="Text 0"/>
          <p:cNvSpPr/>
          <p:nvPr/>
        </p:nvSpPr>
        <p:spPr>
          <a:xfrm>
            <a:off x="777240" y="566928"/>
            <a:ext cx="10634472" cy="566928"/>
          </a:xfrm>
          <a:prstGeom prst="rect">
            <a:avLst/>
          </a:prstGeom>
          <a:noFill/>
          <a:ln/>
        </p:spPr>
        <p:txBody>
          <a:bodyPr wrap="square" lIns="0" tIns="0" rIns="0" bIns="0" rtlCol="0" anchor="ctr"/>
          <a:lstStyle/>
          <a:p>
            <a:pPr indent="0" marL="0">
              <a:buNone/>
            </a:pPr>
            <a:r>
              <a:rPr lang="en-US" sz="3200" b="1" dirty="0">
                <a:solidFill>
                  <a:srgbClr val="1B2230"/>
                </a:solidFill>
                <a:latin typeface="Cambria" pitchFamily="34" charset="0"/>
                <a:ea typeface="Cambria" pitchFamily="34" charset="-122"/>
                <a:cs typeface="Cambria" pitchFamily="34" charset="-120"/>
              </a:rPr>
              <a:t>Instalación en macOS</a:t>
            </a:r>
            <a:endParaRPr lang="en-US" sz="3200" dirty="0"/>
          </a:p>
        </p:txBody>
      </p:sp>
      <p:sp>
        <p:nvSpPr>
          <p:cNvPr id="3" name="Text 1"/>
          <p:cNvSpPr/>
          <p:nvPr/>
        </p:nvSpPr>
        <p:spPr>
          <a:xfrm>
            <a:off x="777240" y="1152144"/>
            <a:ext cx="9537192" cy="384048"/>
          </a:xfrm>
          <a:prstGeom prst="rect">
            <a:avLst/>
          </a:prstGeom>
          <a:noFill/>
          <a:ln/>
        </p:spPr>
        <p:txBody>
          <a:bodyPr wrap="square" lIns="0" tIns="0" rIns="0" bIns="0" rtlCol="0" anchor="ctr"/>
          <a:lstStyle/>
          <a:p>
            <a:pPr indent="0" marL="0">
              <a:buNone/>
            </a:pPr>
            <a:r>
              <a:rPr lang="en-US" sz="1350" i="1" dirty="0">
                <a:solidFill>
                  <a:srgbClr val="5A6478"/>
                </a:solidFill>
                <a:latin typeface="Calibri" pitchFamily="34" charset="0"/>
                <a:ea typeface="Calibri" pitchFamily="34" charset="-122"/>
                <a:cs typeface="Calibri" pitchFamily="34" charset="-120"/>
              </a:rPr>
              <a:t>Un solo comando hace todo: dependencias, registro, skill, precarga y verificación</a:t>
            </a:r>
            <a:endParaRPr lang="en-US" sz="1350" dirty="0"/>
          </a:p>
        </p:txBody>
      </p:sp>
      <p:sp>
        <p:nvSpPr>
          <p:cNvPr id="4" name="Shape 2"/>
          <p:cNvSpPr/>
          <p:nvPr/>
        </p:nvSpPr>
        <p:spPr>
          <a:xfrm>
            <a:off x="777240" y="1901952"/>
            <a:ext cx="347472" cy="347472"/>
          </a:xfrm>
          <a:prstGeom prst="ellipse">
            <a:avLst/>
          </a:prstGeom>
          <a:solidFill>
            <a:srgbClr val="A87C4F"/>
          </a:solidFill>
          <a:ln/>
        </p:spPr>
      </p:sp>
      <p:sp>
        <p:nvSpPr>
          <p:cNvPr id="5" name="Text 3"/>
          <p:cNvSpPr/>
          <p:nvPr/>
        </p:nvSpPr>
        <p:spPr>
          <a:xfrm>
            <a:off x="777240" y="1901952"/>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6" name="Text 4"/>
          <p:cNvSpPr/>
          <p:nvPr/>
        </p:nvSpPr>
        <p:spPr>
          <a:xfrm>
            <a:off x="1289304" y="1847088"/>
            <a:ext cx="3200400" cy="274320"/>
          </a:xfrm>
          <a:prstGeom prst="rect">
            <a:avLst/>
          </a:prstGeom>
          <a:noFill/>
          <a:ln/>
        </p:spPr>
        <p:txBody>
          <a:bodyPr wrap="square" lIns="0" tIns="0" rIns="0" bIns="0" rtlCol="0" anchor="ctr"/>
          <a:lstStyle/>
          <a:p>
            <a:pPr indent="0" marL="0">
              <a:buNone/>
            </a:pPr>
            <a:r>
              <a:rPr lang="en-US" sz="1300" b="1" dirty="0">
                <a:solidFill>
                  <a:srgbClr val="1B2230"/>
                </a:solidFill>
                <a:latin typeface="Calibri" pitchFamily="34" charset="0"/>
                <a:ea typeface="Calibri" pitchFamily="34" charset="-122"/>
                <a:cs typeface="Calibri" pitchFamily="34" charset="-120"/>
              </a:rPr>
              <a:t>Instalar Node.js</a:t>
            </a:r>
            <a:endParaRPr lang="en-US" sz="1300" dirty="0"/>
          </a:p>
        </p:txBody>
      </p:sp>
      <p:sp>
        <p:nvSpPr>
          <p:cNvPr id="7" name="Text 5"/>
          <p:cNvSpPr/>
          <p:nvPr/>
        </p:nvSpPr>
        <p:spPr>
          <a:xfrm>
            <a:off x="1289304" y="2121408"/>
            <a:ext cx="3200400" cy="566928"/>
          </a:xfrm>
          <a:prstGeom prst="rect">
            <a:avLst/>
          </a:prstGeom>
          <a:noFill/>
          <a:ln/>
        </p:spPr>
        <p:txBody>
          <a:bodyPr wrap="square" lIns="0" tIns="0" rIns="0" bIns="0" rtlCol="0" anchor="ctr"/>
          <a:lstStyle/>
          <a:p>
            <a:pPr indent="0" marL="0">
              <a:lnSpc>
                <a:spcPct val="100000"/>
              </a:lnSpc>
              <a:buNone/>
            </a:pPr>
            <a:r>
              <a:rPr lang="en-US" sz="1000" dirty="0">
                <a:solidFill>
                  <a:srgbClr val="5A6478"/>
                </a:solidFill>
                <a:latin typeface="Calibri" pitchFamily="34" charset="0"/>
                <a:ea typeface="Calibri" pitchFamily="34" charset="-122"/>
                <a:cs typeface="Calibri" pitchFamily="34" charset="-120"/>
              </a:rPr>
              <a:t>Descargar la versión LTS desde nodejs.org y abrir el paquete .pkg. Aceptar las opciones por defecto.</a:t>
            </a:r>
            <a:endParaRPr lang="en-US" sz="1000" dirty="0"/>
          </a:p>
        </p:txBody>
      </p:sp>
      <p:sp>
        <p:nvSpPr>
          <p:cNvPr id="8" name="Shape 6"/>
          <p:cNvSpPr/>
          <p:nvPr/>
        </p:nvSpPr>
        <p:spPr>
          <a:xfrm>
            <a:off x="4709160" y="1865376"/>
            <a:ext cx="6675120" cy="658368"/>
          </a:xfrm>
          <a:prstGeom prst="roundRect">
            <a:avLst>
              <a:gd name="adj" fmla="val 6944"/>
            </a:avLst>
          </a:prstGeom>
          <a:solidFill>
            <a:srgbClr val="1B2230"/>
          </a:solidFill>
          <a:ln/>
        </p:spPr>
      </p:sp>
      <p:sp>
        <p:nvSpPr>
          <p:cNvPr id="9" name="Text 7"/>
          <p:cNvSpPr/>
          <p:nvPr/>
        </p:nvSpPr>
        <p:spPr>
          <a:xfrm>
            <a:off x="4937760" y="1865376"/>
            <a:ext cx="6217920" cy="658368"/>
          </a:xfrm>
          <a:prstGeom prst="rect">
            <a:avLst/>
          </a:prstGeom>
          <a:noFill/>
          <a:ln/>
        </p:spPr>
        <p:txBody>
          <a:bodyPr wrap="square" lIns="0" tIns="0" rIns="0" bIns="0" rtlCol="0" anchor="ctr"/>
          <a:lstStyle/>
          <a:p>
            <a:pPr indent="0" marL="0">
              <a:buNone/>
            </a:pPr>
            <a:r>
              <a:rPr lang="en-US" sz="1150" b="1" dirty="0">
                <a:solidFill>
                  <a:srgbClr val="C9A574"/>
                </a:solidFill>
                <a:latin typeface="Courier New" pitchFamily="34" charset="0"/>
                <a:ea typeface="Courier New" pitchFamily="34" charset="-122"/>
                <a:cs typeface="Courier New" pitchFamily="34" charset="-120"/>
              </a:rPr>
              <a:t>nodejs.org  →  descargar LTS</a:t>
            </a:r>
            <a:endParaRPr lang="en-US" sz="1150" dirty="0"/>
          </a:p>
        </p:txBody>
      </p:sp>
      <p:sp>
        <p:nvSpPr>
          <p:cNvPr id="10" name="Shape 8"/>
          <p:cNvSpPr/>
          <p:nvPr/>
        </p:nvSpPr>
        <p:spPr>
          <a:xfrm>
            <a:off x="777240" y="2871216"/>
            <a:ext cx="347472" cy="347472"/>
          </a:xfrm>
          <a:prstGeom prst="ellipse">
            <a:avLst/>
          </a:prstGeom>
          <a:solidFill>
            <a:srgbClr val="A87C4F"/>
          </a:solidFill>
          <a:ln/>
        </p:spPr>
      </p:sp>
      <p:sp>
        <p:nvSpPr>
          <p:cNvPr id="11" name="Text 9"/>
          <p:cNvSpPr/>
          <p:nvPr/>
        </p:nvSpPr>
        <p:spPr>
          <a:xfrm>
            <a:off x="777240" y="2871216"/>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2" name="Text 10"/>
          <p:cNvSpPr/>
          <p:nvPr/>
        </p:nvSpPr>
        <p:spPr>
          <a:xfrm>
            <a:off x="1289304" y="2816352"/>
            <a:ext cx="3200400" cy="274320"/>
          </a:xfrm>
          <a:prstGeom prst="rect">
            <a:avLst/>
          </a:prstGeom>
          <a:noFill/>
          <a:ln/>
        </p:spPr>
        <p:txBody>
          <a:bodyPr wrap="square" lIns="0" tIns="0" rIns="0" bIns="0" rtlCol="0" anchor="ctr"/>
          <a:lstStyle/>
          <a:p>
            <a:pPr indent="0" marL="0">
              <a:buNone/>
            </a:pPr>
            <a:r>
              <a:rPr lang="en-US" sz="1300" b="1" dirty="0">
                <a:solidFill>
                  <a:srgbClr val="1B2230"/>
                </a:solidFill>
                <a:latin typeface="Calibri" pitchFamily="34" charset="0"/>
                <a:ea typeface="Calibri" pitchFamily="34" charset="-122"/>
                <a:cs typeface="Calibri" pitchFamily="34" charset="-120"/>
              </a:rPr>
              <a:t>Abrir Terminal</a:t>
            </a:r>
            <a:endParaRPr lang="en-US" sz="1300" dirty="0"/>
          </a:p>
        </p:txBody>
      </p:sp>
      <p:sp>
        <p:nvSpPr>
          <p:cNvPr id="13" name="Text 11"/>
          <p:cNvSpPr/>
          <p:nvPr/>
        </p:nvSpPr>
        <p:spPr>
          <a:xfrm>
            <a:off x="1289304" y="3090672"/>
            <a:ext cx="3200400" cy="566928"/>
          </a:xfrm>
          <a:prstGeom prst="rect">
            <a:avLst/>
          </a:prstGeom>
          <a:noFill/>
          <a:ln/>
        </p:spPr>
        <p:txBody>
          <a:bodyPr wrap="square" lIns="0" tIns="0" rIns="0" bIns="0" rtlCol="0" anchor="ctr"/>
          <a:lstStyle/>
          <a:p>
            <a:pPr indent="0" marL="0">
              <a:lnSpc>
                <a:spcPct val="100000"/>
              </a:lnSpc>
              <a:buNone/>
            </a:pPr>
            <a:r>
              <a:rPr lang="en-US" sz="1000" dirty="0">
                <a:solidFill>
                  <a:srgbClr val="5A6478"/>
                </a:solidFill>
                <a:latin typeface="Calibri" pitchFamily="34" charset="0"/>
                <a:ea typeface="Calibri" pitchFamily="34" charset="-122"/>
                <a:cs typeface="Calibri" pitchFamily="34" charset="-120"/>
              </a:rPr>
              <a:t>Command + Espacio, escribir «Terminal». Situarse en la carpeta de Responsa.</a:t>
            </a:r>
            <a:endParaRPr lang="en-US" sz="1000" dirty="0"/>
          </a:p>
        </p:txBody>
      </p:sp>
      <p:sp>
        <p:nvSpPr>
          <p:cNvPr id="14" name="Shape 12"/>
          <p:cNvSpPr/>
          <p:nvPr/>
        </p:nvSpPr>
        <p:spPr>
          <a:xfrm>
            <a:off x="4709160" y="2834640"/>
            <a:ext cx="6675120" cy="658368"/>
          </a:xfrm>
          <a:prstGeom prst="roundRect">
            <a:avLst>
              <a:gd name="adj" fmla="val 6944"/>
            </a:avLst>
          </a:prstGeom>
          <a:solidFill>
            <a:srgbClr val="1B2230"/>
          </a:solidFill>
          <a:ln/>
        </p:spPr>
      </p:sp>
      <p:sp>
        <p:nvSpPr>
          <p:cNvPr id="15" name="Text 13"/>
          <p:cNvSpPr/>
          <p:nvPr/>
        </p:nvSpPr>
        <p:spPr>
          <a:xfrm>
            <a:off x="4937760" y="2834640"/>
            <a:ext cx="6217920" cy="658368"/>
          </a:xfrm>
          <a:prstGeom prst="rect">
            <a:avLst/>
          </a:prstGeom>
          <a:noFill/>
          <a:ln/>
        </p:spPr>
        <p:txBody>
          <a:bodyPr wrap="square" lIns="0" tIns="0" rIns="0" bIns="0" rtlCol="0" anchor="ctr"/>
          <a:lstStyle/>
          <a:p>
            <a:pPr indent="0" marL="0">
              <a:buNone/>
            </a:pPr>
            <a:r>
              <a:rPr lang="en-US" sz="1150" b="1" dirty="0">
                <a:solidFill>
                  <a:srgbClr val="C9A574"/>
                </a:solidFill>
                <a:latin typeface="Courier New" pitchFamily="34" charset="0"/>
                <a:ea typeface="Courier New" pitchFamily="34" charset="-122"/>
                <a:cs typeface="Courier New" pitchFamily="34" charset="-120"/>
              </a:rPr>
              <a:t>cd ~/Responsa</a:t>
            </a:r>
            <a:endParaRPr lang="en-US" sz="1150" dirty="0"/>
          </a:p>
        </p:txBody>
      </p:sp>
      <p:sp>
        <p:nvSpPr>
          <p:cNvPr id="16" name="Shape 14"/>
          <p:cNvSpPr/>
          <p:nvPr/>
        </p:nvSpPr>
        <p:spPr>
          <a:xfrm>
            <a:off x="777240" y="3840480"/>
            <a:ext cx="347472" cy="347472"/>
          </a:xfrm>
          <a:prstGeom prst="ellipse">
            <a:avLst/>
          </a:prstGeom>
          <a:solidFill>
            <a:srgbClr val="A87C4F"/>
          </a:solidFill>
          <a:ln/>
        </p:spPr>
      </p:sp>
      <p:sp>
        <p:nvSpPr>
          <p:cNvPr id="17" name="Text 15"/>
          <p:cNvSpPr/>
          <p:nvPr/>
        </p:nvSpPr>
        <p:spPr>
          <a:xfrm>
            <a:off x="777240" y="384048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8" name="Text 16"/>
          <p:cNvSpPr/>
          <p:nvPr/>
        </p:nvSpPr>
        <p:spPr>
          <a:xfrm>
            <a:off x="1289304" y="3785616"/>
            <a:ext cx="3200400" cy="274320"/>
          </a:xfrm>
          <a:prstGeom prst="rect">
            <a:avLst/>
          </a:prstGeom>
          <a:noFill/>
          <a:ln/>
        </p:spPr>
        <p:txBody>
          <a:bodyPr wrap="square" lIns="0" tIns="0" rIns="0" bIns="0" rtlCol="0" anchor="ctr"/>
          <a:lstStyle/>
          <a:p>
            <a:pPr indent="0" marL="0">
              <a:buNone/>
            </a:pPr>
            <a:r>
              <a:rPr lang="en-US" sz="1300" b="1" dirty="0">
                <a:solidFill>
                  <a:srgbClr val="1B2230"/>
                </a:solidFill>
                <a:latin typeface="Calibri" pitchFamily="34" charset="0"/>
                <a:ea typeface="Calibri" pitchFamily="34" charset="-122"/>
                <a:cs typeface="Calibri" pitchFamily="34" charset="-120"/>
              </a:rPr>
              <a:t>Ejecutar el instalador</a:t>
            </a:r>
            <a:endParaRPr lang="en-US" sz="1300" dirty="0"/>
          </a:p>
        </p:txBody>
      </p:sp>
      <p:sp>
        <p:nvSpPr>
          <p:cNvPr id="19" name="Text 17"/>
          <p:cNvSpPr/>
          <p:nvPr/>
        </p:nvSpPr>
        <p:spPr>
          <a:xfrm>
            <a:off x="1289304" y="4059936"/>
            <a:ext cx="3200400" cy="566928"/>
          </a:xfrm>
          <a:prstGeom prst="rect">
            <a:avLst/>
          </a:prstGeom>
          <a:noFill/>
          <a:ln/>
        </p:spPr>
        <p:txBody>
          <a:bodyPr wrap="square" lIns="0" tIns="0" rIns="0" bIns="0" rtlCol="0" anchor="ctr"/>
          <a:lstStyle/>
          <a:p>
            <a:pPr indent="0" marL="0">
              <a:lnSpc>
                <a:spcPct val="100000"/>
              </a:lnSpc>
              <a:buNone/>
            </a:pPr>
            <a:r>
              <a:rPr lang="en-US" sz="1000" dirty="0">
                <a:solidFill>
                  <a:srgbClr val="5A6478"/>
                </a:solidFill>
                <a:latin typeface="Calibri" pitchFamily="34" charset="0"/>
                <a:ea typeface="Calibri" pitchFamily="34" charset="-122"/>
                <a:cs typeface="Calibri" pitchFamily="34" charset="-120"/>
              </a:rPr>
              <a:t>El mismo comando que en Windows: el instalador detecta el sistema y escribe la configuración donde corresponde en macOS.</a:t>
            </a:r>
            <a:endParaRPr lang="en-US" sz="1000" dirty="0"/>
          </a:p>
        </p:txBody>
      </p:sp>
      <p:sp>
        <p:nvSpPr>
          <p:cNvPr id="20" name="Shape 18"/>
          <p:cNvSpPr/>
          <p:nvPr/>
        </p:nvSpPr>
        <p:spPr>
          <a:xfrm>
            <a:off x="4709160" y="3803904"/>
            <a:ext cx="6675120" cy="658368"/>
          </a:xfrm>
          <a:prstGeom prst="roundRect">
            <a:avLst>
              <a:gd name="adj" fmla="val 6944"/>
            </a:avLst>
          </a:prstGeom>
          <a:solidFill>
            <a:srgbClr val="1B2230"/>
          </a:solidFill>
          <a:ln/>
        </p:spPr>
      </p:sp>
      <p:sp>
        <p:nvSpPr>
          <p:cNvPr id="21" name="Text 19"/>
          <p:cNvSpPr/>
          <p:nvPr/>
        </p:nvSpPr>
        <p:spPr>
          <a:xfrm>
            <a:off x="4937760" y="3803904"/>
            <a:ext cx="6217920" cy="658368"/>
          </a:xfrm>
          <a:prstGeom prst="rect">
            <a:avLst/>
          </a:prstGeom>
          <a:noFill/>
          <a:ln/>
        </p:spPr>
        <p:txBody>
          <a:bodyPr wrap="square" lIns="0" tIns="0" rIns="0" bIns="0" rtlCol="0" anchor="ctr"/>
          <a:lstStyle/>
          <a:p>
            <a:pPr indent="0" marL="0">
              <a:buNone/>
            </a:pPr>
            <a:r>
              <a:rPr lang="en-US" sz="1150" b="1" dirty="0">
                <a:solidFill>
                  <a:srgbClr val="C9A574"/>
                </a:solidFill>
                <a:latin typeface="Courier New" pitchFamily="34" charset="0"/>
                <a:ea typeface="Courier New" pitchFamily="34" charset="-122"/>
                <a:cs typeface="Courier New" pitchFamily="34" charset="-120"/>
              </a:rPr>
              <a:t>node instalar.mjs</a:t>
            </a:r>
            <a:endParaRPr lang="en-US" sz="1150" dirty="0"/>
          </a:p>
        </p:txBody>
      </p:sp>
      <p:sp>
        <p:nvSpPr>
          <p:cNvPr id="22" name="Shape 20"/>
          <p:cNvSpPr/>
          <p:nvPr/>
        </p:nvSpPr>
        <p:spPr>
          <a:xfrm>
            <a:off x="777240" y="4809744"/>
            <a:ext cx="347472" cy="347472"/>
          </a:xfrm>
          <a:prstGeom prst="ellipse">
            <a:avLst/>
          </a:prstGeom>
          <a:solidFill>
            <a:srgbClr val="A87C4F"/>
          </a:solidFill>
          <a:ln/>
        </p:spPr>
      </p:sp>
      <p:sp>
        <p:nvSpPr>
          <p:cNvPr id="23" name="Text 21"/>
          <p:cNvSpPr/>
          <p:nvPr/>
        </p:nvSpPr>
        <p:spPr>
          <a:xfrm>
            <a:off x="777240" y="4809744"/>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4" name="Text 22"/>
          <p:cNvSpPr/>
          <p:nvPr/>
        </p:nvSpPr>
        <p:spPr>
          <a:xfrm>
            <a:off x="1289304" y="4754880"/>
            <a:ext cx="3200400" cy="274320"/>
          </a:xfrm>
          <a:prstGeom prst="rect">
            <a:avLst/>
          </a:prstGeom>
          <a:noFill/>
          <a:ln/>
        </p:spPr>
        <p:txBody>
          <a:bodyPr wrap="square" lIns="0" tIns="0" rIns="0" bIns="0" rtlCol="0" anchor="ctr"/>
          <a:lstStyle/>
          <a:p>
            <a:pPr indent="0" marL="0">
              <a:buNone/>
            </a:pPr>
            <a:r>
              <a:rPr lang="en-US" sz="1300" b="1" dirty="0">
                <a:solidFill>
                  <a:srgbClr val="1B2230"/>
                </a:solidFill>
                <a:latin typeface="Calibri" pitchFamily="34" charset="0"/>
                <a:ea typeface="Calibri" pitchFamily="34" charset="-122"/>
                <a:cs typeface="Calibri" pitchFamily="34" charset="-120"/>
              </a:rPr>
              <a:t>Reiniciar Claude Desktop</a:t>
            </a:r>
            <a:endParaRPr lang="en-US" sz="1300" dirty="0"/>
          </a:p>
        </p:txBody>
      </p:sp>
      <p:sp>
        <p:nvSpPr>
          <p:cNvPr id="25" name="Text 23"/>
          <p:cNvSpPr/>
          <p:nvPr/>
        </p:nvSpPr>
        <p:spPr>
          <a:xfrm>
            <a:off x="1289304" y="5029200"/>
            <a:ext cx="3200400" cy="566928"/>
          </a:xfrm>
          <a:prstGeom prst="rect">
            <a:avLst/>
          </a:prstGeom>
          <a:noFill/>
          <a:ln/>
        </p:spPr>
        <p:txBody>
          <a:bodyPr wrap="square" lIns="0" tIns="0" rIns="0" bIns="0" rtlCol="0" anchor="ctr"/>
          <a:lstStyle/>
          <a:p>
            <a:pPr indent="0" marL="0">
              <a:lnSpc>
                <a:spcPct val="100000"/>
              </a:lnSpc>
              <a:buNone/>
            </a:pPr>
            <a:r>
              <a:rPr lang="en-US" sz="1000" dirty="0">
                <a:solidFill>
                  <a:srgbClr val="5A6478"/>
                </a:solidFill>
                <a:latin typeface="Calibri" pitchFamily="34" charset="0"/>
                <a:ea typeface="Calibri" pitchFamily="34" charset="-122"/>
                <a:cs typeface="Calibri" pitchFamily="34" charset="-120"/>
              </a:rPr>
              <a:t>Cerrarlo con Command + Q, no sólo la ventana. Los servidores se cargan al arrancar.</a:t>
            </a:r>
            <a:endParaRPr lang="en-US" sz="1000" dirty="0"/>
          </a:p>
        </p:txBody>
      </p:sp>
      <p:sp>
        <p:nvSpPr>
          <p:cNvPr id="26" name="Text 24"/>
          <p:cNvSpPr/>
          <p:nvPr/>
        </p:nvSpPr>
        <p:spPr>
          <a:xfrm>
            <a:off x="777240" y="5870448"/>
            <a:ext cx="10607040" cy="457200"/>
          </a:xfrm>
          <a:prstGeom prst="rect">
            <a:avLst/>
          </a:prstGeom>
          <a:noFill/>
          <a:ln/>
        </p:spPr>
        <p:txBody>
          <a:bodyPr wrap="square" lIns="0" tIns="0" rIns="0" bIns="0" rtlCol="0" anchor="ctr"/>
          <a:lstStyle/>
          <a:p>
            <a:pPr indent="0" marL="0">
              <a:buNone/>
            </a:pPr>
            <a:r>
              <a:rPr lang="en-US" sz="1150" i="1" dirty="0">
                <a:solidFill>
                  <a:srgbClr val="1B2230"/>
                </a:solidFill>
                <a:latin typeface="Calibri" pitchFamily="34" charset="0"/>
                <a:ea typeface="Calibri" pitchFamily="34" charset="-122"/>
                <a:cs typeface="Calibri" pitchFamily="34" charset="-120"/>
              </a:rPr>
              <a:t>Si macOS advierte sobre un desarrollador no identificado al abrir el instalador de Node, autorizarlo en Ajustes del Sistema → Privacidad y seguridad.</a:t>
            </a:r>
            <a:endParaRPr lang="en-US" sz="11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B2230"/>
        </a:solidFill>
      </p:bgPr>
    </p:bg>
    <p:spTree>
      <p:nvGrpSpPr>
        <p:cNvPr id="1" name=""/>
        <p:cNvGrpSpPr/>
        <p:nvPr/>
      </p:nvGrpSpPr>
      <p:grpSpPr>
        <a:xfrm>
          <a:off x="0" y="0"/>
          <a:ext cx="0" cy="0"/>
          <a:chOff x="0" y="0"/>
          <a:chExt cx="0" cy="0"/>
        </a:xfrm>
      </p:grpSpPr>
      <p:sp>
        <p:nvSpPr>
          <p:cNvPr id="2" name="Text 0"/>
          <p:cNvSpPr/>
          <p:nvPr/>
        </p:nvSpPr>
        <p:spPr>
          <a:xfrm>
            <a:off x="777240" y="566928"/>
            <a:ext cx="7315200" cy="548640"/>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Qué preguntarle</a:t>
            </a:r>
            <a:endParaRPr lang="en-US" sz="3200" dirty="0"/>
          </a:p>
        </p:txBody>
      </p:sp>
      <p:sp>
        <p:nvSpPr>
          <p:cNvPr id="3" name="Text 1"/>
          <p:cNvSpPr/>
          <p:nvPr/>
        </p:nvSpPr>
        <p:spPr>
          <a:xfrm>
            <a:off x="777240" y="1133856"/>
            <a:ext cx="8229600" cy="365760"/>
          </a:xfrm>
          <a:prstGeom prst="rect">
            <a:avLst/>
          </a:prstGeom>
          <a:noFill/>
          <a:ln/>
        </p:spPr>
        <p:txBody>
          <a:bodyPr wrap="square" lIns="0" tIns="0" rIns="0" bIns="0" rtlCol="0" anchor="ctr"/>
          <a:lstStyle/>
          <a:p>
            <a:pPr indent="0" marL="0">
              <a:buNone/>
            </a:pPr>
            <a:r>
              <a:rPr lang="en-US" sz="1350" i="1" dirty="0">
                <a:solidFill>
                  <a:srgbClr val="8A93A5"/>
                </a:solidFill>
                <a:latin typeface="Calibri" pitchFamily="34" charset="0"/>
                <a:ea typeface="Calibri" pitchFamily="34" charset="-122"/>
                <a:cs typeface="Calibri" pitchFamily="34" charset="-120"/>
              </a:rPr>
              <a:t>En lenguaje natural. Responsa decide a qué fuente ir.</a:t>
            </a:r>
            <a:endParaRPr lang="en-US" sz="1350" dirty="0"/>
          </a:p>
        </p:txBody>
      </p:sp>
      <p:sp>
        <p:nvSpPr>
          <p:cNvPr id="4" name="Text 2"/>
          <p:cNvSpPr/>
          <p:nvPr/>
        </p:nvSpPr>
        <p:spPr>
          <a:xfrm>
            <a:off x="777240" y="1755648"/>
            <a:ext cx="6309360" cy="310896"/>
          </a:xfrm>
          <a:prstGeom prst="rect">
            <a:avLst/>
          </a:prstGeom>
          <a:noFill/>
          <a:ln/>
        </p:spPr>
        <p:txBody>
          <a:bodyPr wrap="square" lIns="0" tIns="0" rIns="0" bIns="0" rtlCol="0" anchor="ctr"/>
          <a:lstStyle/>
          <a:p>
            <a:pPr indent="0" marL="0">
              <a:buNone/>
            </a:pPr>
            <a:r>
              <a:rPr lang="en-US" sz="1450" dirty="0">
                <a:solidFill>
                  <a:srgbClr val="FFFFFF"/>
                </a:solidFill>
                <a:latin typeface="Cambria" pitchFamily="34" charset="0"/>
                <a:ea typeface="Cambria" pitchFamily="34" charset="-122"/>
                <a:cs typeface="Cambria" pitchFamily="34" charset="-120"/>
              </a:rPr>
              <a:t>«Fallos que apliquen el artículo 16 de la Ley 19.496»</a:t>
            </a:r>
            <a:endParaRPr lang="en-US" sz="1450" dirty="0"/>
          </a:p>
        </p:txBody>
      </p:sp>
      <p:sp>
        <p:nvSpPr>
          <p:cNvPr id="5" name="Text 3"/>
          <p:cNvSpPr/>
          <p:nvPr/>
        </p:nvSpPr>
        <p:spPr>
          <a:xfrm>
            <a:off x="7269480" y="1792224"/>
            <a:ext cx="4114800" cy="274320"/>
          </a:xfrm>
          <a:prstGeom prst="rect">
            <a:avLst/>
          </a:prstGeom>
          <a:noFill/>
          <a:ln/>
        </p:spPr>
        <p:txBody>
          <a:bodyPr wrap="square" lIns="0" tIns="0" rIns="0" bIns="0" rtlCol="0" anchor="ctr"/>
          <a:lstStyle/>
          <a:p>
            <a:pPr indent="0" marL="0">
              <a:buNone/>
            </a:pPr>
            <a:r>
              <a:rPr lang="en-US" sz="1050" dirty="0">
                <a:solidFill>
                  <a:srgbClr val="C9A574"/>
                </a:solidFill>
                <a:latin typeface="Calibri" pitchFamily="34" charset="0"/>
                <a:ea typeface="Calibri" pitchFamily="34" charset="-122"/>
                <a:cs typeface="Calibri" pitchFamily="34" charset="-120"/>
              </a:rPr>
              <a:t>Ley Chile + Poder Judicial, filtrando por norma aplicada</a:t>
            </a:r>
            <a:endParaRPr lang="en-US" sz="1050" dirty="0"/>
          </a:p>
        </p:txBody>
      </p:sp>
      <p:sp>
        <p:nvSpPr>
          <p:cNvPr id="6" name="Text 4"/>
          <p:cNvSpPr/>
          <p:nvPr/>
        </p:nvSpPr>
        <p:spPr>
          <a:xfrm>
            <a:off x="777240" y="2377440"/>
            <a:ext cx="6309360" cy="310896"/>
          </a:xfrm>
          <a:prstGeom prst="rect">
            <a:avLst/>
          </a:prstGeom>
          <a:noFill/>
          <a:ln/>
        </p:spPr>
        <p:txBody>
          <a:bodyPr wrap="square" lIns="0" tIns="0" rIns="0" bIns="0" rtlCol="0" anchor="ctr"/>
          <a:lstStyle/>
          <a:p>
            <a:pPr indent="0" marL="0">
              <a:buNone/>
            </a:pPr>
            <a:r>
              <a:rPr lang="en-US" sz="1450" dirty="0">
                <a:solidFill>
                  <a:srgbClr val="FFFFFF"/>
                </a:solidFill>
                <a:latin typeface="Cambria" pitchFamily="34" charset="0"/>
                <a:ea typeface="Cambria" pitchFamily="34" charset="-122"/>
                <a:cs typeface="Cambria" pitchFamily="34" charset="-120"/>
              </a:rPr>
              <a:t>«¿Qué han resuelto los tribunales sobre tutela laboral?»</a:t>
            </a:r>
            <a:endParaRPr lang="en-US" sz="1450" dirty="0"/>
          </a:p>
        </p:txBody>
      </p:sp>
      <p:sp>
        <p:nvSpPr>
          <p:cNvPr id="7" name="Text 5"/>
          <p:cNvSpPr/>
          <p:nvPr/>
        </p:nvSpPr>
        <p:spPr>
          <a:xfrm>
            <a:off x="7269480" y="2414016"/>
            <a:ext cx="4114800" cy="274320"/>
          </a:xfrm>
          <a:prstGeom prst="rect">
            <a:avLst/>
          </a:prstGeom>
          <a:noFill/>
          <a:ln/>
        </p:spPr>
        <p:txBody>
          <a:bodyPr wrap="square" lIns="0" tIns="0" rIns="0" bIns="0" rtlCol="0" anchor="ctr"/>
          <a:lstStyle/>
          <a:p>
            <a:pPr indent="0" marL="0">
              <a:buNone/>
            </a:pPr>
            <a:r>
              <a:rPr lang="en-US" sz="1050" dirty="0">
                <a:solidFill>
                  <a:srgbClr val="C9A574"/>
                </a:solidFill>
                <a:latin typeface="Calibri" pitchFamily="34" charset="0"/>
                <a:ea typeface="Calibri" pitchFamily="34" charset="-122"/>
                <a:cs typeface="Calibri" pitchFamily="34" charset="-120"/>
              </a:rPr>
              <a:t>Los siete buscadores del Poder Judicial a la vez</a:t>
            </a:r>
            <a:endParaRPr lang="en-US" sz="1050" dirty="0"/>
          </a:p>
        </p:txBody>
      </p:sp>
      <p:sp>
        <p:nvSpPr>
          <p:cNvPr id="8" name="Text 6"/>
          <p:cNvSpPr/>
          <p:nvPr/>
        </p:nvSpPr>
        <p:spPr>
          <a:xfrm>
            <a:off x="777240" y="2999232"/>
            <a:ext cx="6309360" cy="310896"/>
          </a:xfrm>
          <a:prstGeom prst="rect">
            <a:avLst/>
          </a:prstGeom>
          <a:noFill/>
          <a:ln/>
        </p:spPr>
        <p:txBody>
          <a:bodyPr wrap="square" lIns="0" tIns="0" rIns="0" bIns="0" rtlCol="0" anchor="ctr"/>
          <a:lstStyle/>
          <a:p>
            <a:pPr indent="0" marL="0">
              <a:buNone/>
            </a:pPr>
            <a:r>
              <a:rPr lang="en-US" sz="1450" dirty="0">
                <a:solidFill>
                  <a:srgbClr val="FFFFFF"/>
                </a:solidFill>
                <a:latin typeface="Cambria" pitchFamily="34" charset="0"/>
                <a:ea typeface="Cambria" pitchFamily="34" charset="-122"/>
                <a:cs typeface="Cambria" pitchFamily="34" charset="-120"/>
              </a:rPr>
              <a:t>«¿Es constitucional esta norma?»</a:t>
            </a:r>
            <a:endParaRPr lang="en-US" sz="1450" dirty="0"/>
          </a:p>
        </p:txBody>
      </p:sp>
      <p:sp>
        <p:nvSpPr>
          <p:cNvPr id="9" name="Text 7"/>
          <p:cNvSpPr/>
          <p:nvPr/>
        </p:nvSpPr>
        <p:spPr>
          <a:xfrm>
            <a:off x="7269480" y="3035808"/>
            <a:ext cx="4114800" cy="274320"/>
          </a:xfrm>
          <a:prstGeom prst="rect">
            <a:avLst/>
          </a:prstGeom>
          <a:noFill/>
          <a:ln/>
        </p:spPr>
        <p:txBody>
          <a:bodyPr wrap="square" lIns="0" tIns="0" rIns="0" bIns="0" rtlCol="0" anchor="ctr"/>
          <a:lstStyle/>
          <a:p>
            <a:pPr indent="0" marL="0">
              <a:buNone/>
            </a:pPr>
            <a:r>
              <a:rPr lang="en-US" sz="1050" dirty="0">
                <a:solidFill>
                  <a:srgbClr val="C9A574"/>
                </a:solidFill>
                <a:latin typeface="Calibri" pitchFamily="34" charset="0"/>
                <a:ea typeface="Calibri" pitchFamily="34" charset="-122"/>
                <a:cs typeface="Calibri" pitchFamily="34" charset="-120"/>
              </a:rPr>
              <a:t>Tribunal Constitucional, con los párrafos pertinentes y el PDF</a:t>
            </a:r>
            <a:endParaRPr lang="en-US" sz="1050" dirty="0"/>
          </a:p>
        </p:txBody>
      </p:sp>
      <p:sp>
        <p:nvSpPr>
          <p:cNvPr id="10" name="Text 8"/>
          <p:cNvSpPr/>
          <p:nvPr/>
        </p:nvSpPr>
        <p:spPr>
          <a:xfrm>
            <a:off x="777240" y="3621024"/>
            <a:ext cx="6309360" cy="310896"/>
          </a:xfrm>
          <a:prstGeom prst="rect">
            <a:avLst/>
          </a:prstGeom>
          <a:noFill/>
          <a:ln/>
        </p:spPr>
        <p:txBody>
          <a:bodyPr wrap="square" lIns="0" tIns="0" rIns="0" bIns="0" rtlCol="0" anchor="ctr"/>
          <a:lstStyle/>
          <a:p>
            <a:pPr indent="0" marL="0">
              <a:buNone/>
            </a:pPr>
            <a:r>
              <a:rPr lang="en-US" sz="1450" dirty="0">
                <a:solidFill>
                  <a:srgbClr val="FFFFFF"/>
                </a:solidFill>
                <a:latin typeface="Cambria" pitchFamily="34" charset="0"/>
                <a:ea typeface="Cambria" pitchFamily="34" charset="-122"/>
                <a:cs typeface="Cambria" pitchFamily="34" charset="-120"/>
              </a:rPr>
              <a:t>«Dictámenes sobre sala cuna»</a:t>
            </a:r>
            <a:endParaRPr lang="en-US" sz="1450" dirty="0"/>
          </a:p>
        </p:txBody>
      </p:sp>
      <p:sp>
        <p:nvSpPr>
          <p:cNvPr id="11" name="Text 9"/>
          <p:cNvSpPr/>
          <p:nvPr/>
        </p:nvSpPr>
        <p:spPr>
          <a:xfrm>
            <a:off x="7269480" y="3657600"/>
            <a:ext cx="4114800" cy="274320"/>
          </a:xfrm>
          <a:prstGeom prst="rect">
            <a:avLst/>
          </a:prstGeom>
          <a:noFill/>
          <a:ln/>
        </p:spPr>
        <p:txBody>
          <a:bodyPr wrap="square" lIns="0" tIns="0" rIns="0" bIns="0" rtlCol="0" anchor="ctr"/>
          <a:lstStyle/>
          <a:p>
            <a:pPr indent="0" marL="0">
              <a:buNone/>
            </a:pPr>
            <a:r>
              <a:rPr lang="en-US" sz="1050" dirty="0">
                <a:solidFill>
                  <a:srgbClr val="C9A574"/>
                </a:solidFill>
                <a:latin typeface="Calibri" pitchFamily="34" charset="0"/>
                <a:ea typeface="Calibri" pitchFamily="34" charset="-122"/>
                <a:cs typeface="Calibri" pitchFamily="34" charset="-120"/>
              </a:rPr>
              <a:t>Dirección del Trabajo, o Contraloría si es función pública</a:t>
            </a:r>
            <a:endParaRPr lang="en-US" sz="1050" dirty="0"/>
          </a:p>
        </p:txBody>
      </p:sp>
      <p:sp>
        <p:nvSpPr>
          <p:cNvPr id="12" name="Text 10"/>
          <p:cNvSpPr/>
          <p:nvPr/>
        </p:nvSpPr>
        <p:spPr>
          <a:xfrm>
            <a:off x="777240" y="4242816"/>
            <a:ext cx="6309360" cy="310896"/>
          </a:xfrm>
          <a:prstGeom prst="rect">
            <a:avLst/>
          </a:prstGeom>
          <a:noFill/>
          <a:ln/>
        </p:spPr>
        <p:txBody>
          <a:bodyPr wrap="square" lIns="0" tIns="0" rIns="0" bIns="0" rtlCol="0" anchor="ctr"/>
          <a:lstStyle/>
          <a:p>
            <a:pPr indent="0" marL="0">
              <a:buNone/>
            </a:pPr>
            <a:r>
              <a:rPr lang="en-US" sz="1450" dirty="0">
                <a:solidFill>
                  <a:srgbClr val="FFFFFF"/>
                </a:solidFill>
                <a:latin typeface="Cambria" pitchFamily="34" charset="0"/>
                <a:ea typeface="Cambria" pitchFamily="34" charset="-122"/>
                <a:cs typeface="Cambria" pitchFamily="34" charset="-120"/>
              </a:rPr>
              <a:t>«Arbitrajes sobre contratos de construcción»</a:t>
            </a:r>
            <a:endParaRPr lang="en-US" sz="1450" dirty="0"/>
          </a:p>
        </p:txBody>
      </p:sp>
      <p:sp>
        <p:nvSpPr>
          <p:cNvPr id="13" name="Text 11"/>
          <p:cNvSpPr/>
          <p:nvPr/>
        </p:nvSpPr>
        <p:spPr>
          <a:xfrm>
            <a:off x="7269480" y="4279392"/>
            <a:ext cx="4114800" cy="274320"/>
          </a:xfrm>
          <a:prstGeom prst="rect">
            <a:avLst/>
          </a:prstGeom>
          <a:noFill/>
          <a:ln/>
        </p:spPr>
        <p:txBody>
          <a:bodyPr wrap="square" lIns="0" tIns="0" rIns="0" bIns="0" rtlCol="0" anchor="ctr"/>
          <a:lstStyle/>
          <a:p>
            <a:pPr indent="0" marL="0">
              <a:buNone/>
            </a:pPr>
            <a:r>
              <a:rPr lang="en-US" sz="1050" dirty="0">
                <a:solidFill>
                  <a:srgbClr val="C9A574"/>
                </a:solidFill>
                <a:latin typeface="Calibri" pitchFamily="34" charset="0"/>
                <a:ea typeface="Calibri" pitchFamily="34" charset="-122"/>
                <a:cs typeface="Calibri" pitchFamily="34" charset="-120"/>
              </a:rPr>
              <a:t>Laudos del CAM Santiago, con enlace al PDF</a:t>
            </a:r>
            <a:endParaRPr lang="en-US" sz="1050" dirty="0"/>
          </a:p>
        </p:txBody>
      </p:sp>
      <p:sp>
        <p:nvSpPr>
          <p:cNvPr id="14" name="Text 12"/>
          <p:cNvSpPr/>
          <p:nvPr/>
        </p:nvSpPr>
        <p:spPr>
          <a:xfrm>
            <a:off x="777240" y="4864608"/>
            <a:ext cx="6309360" cy="310896"/>
          </a:xfrm>
          <a:prstGeom prst="rect">
            <a:avLst/>
          </a:prstGeom>
          <a:noFill/>
          <a:ln/>
        </p:spPr>
        <p:txBody>
          <a:bodyPr wrap="square" lIns="0" tIns="0" rIns="0" bIns="0" rtlCol="0" anchor="ctr"/>
          <a:lstStyle/>
          <a:p>
            <a:pPr indent="0" marL="0">
              <a:buNone/>
            </a:pPr>
            <a:r>
              <a:rPr lang="en-US" sz="1450" dirty="0">
                <a:solidFill>
                  <a:srgbClr val="FFFFFF"/>
                </a:solidFill>
                <a:latin typeface="Cambria" pitchFamily="34" charset="0"/>
                <a:ea typeface="Cambria" pitchFamily="34" charset="-122"/>
                <a:cs typeface="Cambria" pitchFamily="34" charset="-120"/>
              </a:rPr>
              <a:t>«¿Cuánto demora un juicio laboral en Valparaíso?»</a:t>
            </a:r>
            <a:endParaRPr lang="en-US" sz="1450" dirty="0"/>
          </a:p>
        </p:txBody>
      </p:sp>
      <p:sp>
        <p:nvSpPr>
          <p:cNvPr id="15" name="Text 13"/>
          <p:cNvSpPr/>
          <p:nvPr/>
        </p:nvSpPr>
        <p:spPr>
          <a:xfrm>
            <a:off x="7269480" y="4901184"/>
            <a:ext cx="4114800" cy="274320"/>
          </a:xfrm>
          <a:prstGeom prst="rect">
            <a:avLst/>
          </a:prstGeom>
          <a:noFill/>
          <a:ln/>
        </p:spPr>
        <p:txBody>
          <a:bodyPr wrap="square" lIns="0" tIns="0" rIns="0" bIns="0" rtlCol="0" anchor="ctr"/>
          <a:lstStyle/>
          <a:p>
            <a:pPr indent="0" marL="0">
              <a:buNone/>
            </a:pPr>
            <a:r>
              <a:rPr lang="en-US" sz="1050" dirty="0">
                <a:solidFill>
                  <a:srgbClr val="C9A574"/>
                </a:solidFill>
                <a:latin typeface="Calibri" pitchFamily="34" charset="0"/>
                <a:ea typeface="Calibri" pitchFamily="34" charset="-122"/>
                <a:cs typeface="Calibri" pitchFamily="34" charset="-120"/>
              </a:rPr>
              <a:t>Estadísticas oficiales del Poder Judicial</a:t>
            </a:r>
            <a:endParaRPr lang="en-US" sz="1050" dirty="0"/>
          </a:p>
        </p:txBody>
      </p:sp>
      <p:sp>
        <p:nvSpPr>
          <p:cNvPr id="16" name="Text 14"/>
          <p:cNvSpPr/>
          <p:nvPr/>
        </p:nvSpPr>
        <p:spPr>
          <a:xfrm>
            <a:off x="777240" y="5486400"/>
            <a:ext cx="6309360" cy="310896"/>
          </a:xfrm>
          <a:prstGeom prst="rect">
            <a:avLst/>
          </a:prstGeom>
          <a:noFill/>
          <a:ln/>
        </p:spPr>
        <p:txBody>
          <a:bodyPr wrap="square" lIns="0" tIns="0" rIns="0" bIns="0" rtlCol="0" anchor="ctr"/>
          <a:lstStyle/>
          <a:p>
            <a:pPr indent="0" marL="0">
              <a:buNone/>
            </a:pPr>
            <a:r>
              <a:rPr lang="en-US" sz="1450" dirty="0">
                <a:solidFill>
                  <a:srgbClr val="FFFFFF"/>
                </a:solidFill>
                <a:latin typeface="Cambria" pitchFamily="34" charset="0"/>
                <a:ea typeface="Cambria" pitchFamily="34" charset="-122"/>
                <a:cs typeface="Cambria" pitchFamily="34" charset="-120"/>
              </a:rPr>
              <a:t>«¿A cuánto equivalen 50 UTM hoy?»</a:t>
            </a:r>
            <a:endParaRPr lang="en-US" sz="1450" dirty="0"/>
          </a:p>
        </p:txBody>
      </p:sp>
      <p:sp>
        <p:nvSpPr>
          <p:cNvPr id="17" name="Text 15"/>
          <p:cNvSpPr/>
          <p:nvPr/>
        </p:nvSpPr>
        <p:spPr>
          <a:xfrm>
            <a:off x="7269480" y="5522976"/>
            <a:ext cx="4114800" cy="274320"/>
          </a:xfrm>
          <a:prstGeom prst="rect">
            <a:avLst/>
          </a:prstGeom>
          <a:noFill/>
          <a:ln/>
        </p:spPr>
        <p:txBody>
          <a:bodyPr wrap="square" lIns="0" tIns="0" rIns="0" bIns="0" rtlCol="0" anchor="ctr"/>
          <a:lstStyle/>
          <a:p>
            <a:pPr indent="0" marL="0">
              <a:buNone/>
            </a:pPr>
            <a:r>
              <a:rPr lang="en-US" sz="1050" dirty="0">
                <a:solidFill>
                  <a:srgbClr val="C9A574"/>
                </a:solidFill>
                <a:latin typeface="Calibri" pitchFamily="34" charset="0"/>
                <a:ea typeface="Calibri" pitchFamily="34" charset="-122"/>
                <a:cs typeface="Calibri" pitchFamily="34" charset="-120"/>
              </a:rPr>
              <a:t>Valores del Banco Central y del SII</a:t>
            </a:r>
            <a:endParaRPr lang="en-US" sz="1050" dirty="0"/>
          </a:p>
        </p:txBody>
      </p:sp>
      <p:sp>
        <p:nvSpPr>
          <p:cNvPr id="18" name="Text 16"/>
          <p:cNvSpPr/>
          <p:nvPr/>
        </p:nvSpPr>
        <p:spPr>
          <a:xfrm>
            <a:off x="777240" y="6035040"/>
            <a:ext cx="10607040" cy="411480"/>
          </a:xfrm>
          <a:prstGeom prst="rect">
            <a:avLst/>
          </a:prstGeom>
          <a:noFill/>
          <a:ln/>
        </p:spPr>
        <p:txBody>
          <a:bodyPr wrap="square" lIns="0" tIns="0" rIns="0" bIns="0" rtlCol="0" anchor="t"/>
          <a:lstStyle/>
          <a:p>
            <a:pPr indent="0" marL="0">
              <a:buNone/>
            </a:pPr>
            <a:r>
              <a:rPr lang="en-US" sz="1100" i="1" dirty="0">
                <a:solidFill>
                  <a:srgbClr val="8A93A5"/>
                </a:solidFill>
                <a:latin typeface="Calibri" pitchFamily="34" charset="0"/>
                <a:ea typeface="Calibri" pitchFamily="34" charset="-122"/>
                <a:cs typeface="Calibri" pitchFamily="34" charset="-120"/>
              </a:rPr>
              <a:t>Una sola pregunta puede combinar varias fuentes: ubicar la norma, leer su texto vigente, traer los fallos que la aplican y sumar el criterio administrativo.</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4F1EA"/>
        </a:solidFill>
      </p:bgPr>
    </p:bg>
    <p:spTree>
      <p:nvGrpSpPr>
        <p:cNvPr id="1" name=""/>
        <p:cNvGrpSpPr/>
        <p:nvPr/>
      </p:nvGrpSpPr>
      <p:grpSpPr>
        <a:xfrm>
          <a:off x="0" y="0"/>
          <a:ext cx="0" cy="0"/>
          <a:chOff x="0" y="0"/>
          <a:chExt cx="0" cy="0"/>
        </a:xfrm>
      </p:grpSpPr>
      <p:sp>
        <p:nvSpPr>
          <p:cNvPr id="2" name="Text 0"/>
          <p:cNvSpPr/>
          <p:nvPr/>
        </p:nvSpPr>
        <p:spPr>
          <a:xfrm>
            <a:off x="777240" y="2148840"/>
            <a:ext cx="6400800" cy="868680"/>
          </a:xfrm>
          <a:prstGeom prst="rect">
            <a:avLst/>
          </a:prstGeom>
          <a:noFill/>
          <a:ln/>
        </p:spPr>
        <p:txBody>
          <a:bodyPr wrap="square" lIns="0" tIns="0" rIns="0" bIns="0" rtlCol="0" anchor="ctr"/>
          <a:lstStyle/>
          <a:p>
            <a:pPr indent="0" marL="0">
              <a:buNone/>
            </a:pPr>
            <a:r>
              <a:rPr lang="en-US" sz="5400" b="1" spc="400" kern="0" dirty="0">
                <a:solidFill>
                  <a:srgbClr val="1B2230"/>
                </a:solidFill>
                <a:latin typeface="Cambria" pitchFamily="34" charset="0"/>
                <a:ea typeface="Cambria" pitchFamily="34" charset="-122"/>
                <a:cs typeface="Cambria" pitchFamily="34" charset="-120"/>
              </a:rPr>
              <a:t>RESPONSA</a:t>
            </a:r>
            <a:endParaRPr lang="en-US" sz="5400" dirty="0"/>
          </a:p>
        </p:txBody>
      </p:sp>
      <p:sp>
        <p:nvSpPr>
          <p:cNvPr id="3" name="Text 1"/>
          <p:cNvSpPr/>
          <p:nvPr/>
        </p:nvSpPr>
        <p:spPr>
          <a:xfrm>
            <a:off x="777240" y="3090672"/>
            <a:ext cx="6400800" cy="457200"/>
          </a:xfrm>
          <a:prstGeom prst="rect">
            <a:avLst/>
          </a:prstGeom>
          <a:noFill/>
          <a:ln/>
        </p:spPr>
        <p:txBody>
          <a:bodyPr wrap="square" lIns="0" tIns="0" rIns="0" bIns="0" rtlCol="0" anchor="ctr"/>
          <a:lstStyle/>
          <a:p>
            <a:pPr indent="0" marL="0">
              <a:buNone/>
            </a:pPr>
            <a:r>
              <a:rPr lang="en-US" sz="2100" i="1" dirty="0">
                <a:solidFill>
                  <a:srgbClr val="A87C4F"/>
                </a:solidFill>
                <a:latin typeface="Cambria" pitchFamily="34" charset="0"/>
                <a:ea typeface="Cambria" pitchFamily="34" charset="-122"/>
                <a:cs typeface="Cambria" pitchFamily="34" charset="-120"/>
              </a:rPr>
              <a:t>Responder con fundamento verificable.</a:t>
            </a:r>
            <a:endParaRPr lang="en-US" sz="2100" dirty="0"/>
          </a:p>
        </p:txBody>
      </p:sp>
      <p:sp>
        <p:nvSpPr>
          <p:cNvPr id="4" name="Text 2"/>
          <p:cNvSpPr/>
          <p:nvPr/>
        </p:nvSpPr>
        <p:spPr>
          <a:xfrm>
            <a:off x="777240" y="4041648"/>
            <a:ext cx="2011680" cy="777240"/>
          </a:xfrm>
          <a:prstGeom prst="rect">
            <a:avLst/>
          </a:prstGeom>
          <a:noFill/>
          <a:ln/>
        </p:spPr>
        <p:txBody>
          <a:bodyPr wrap="square" lIns="0" tIns="0" rIns="0" bIns="0" rtlCol="0" anchor="ctr"/>
          <a:lstStyle/>
          <a:p>
            <a:pPr indent="0" marL="0">
              <a:buNone/>
            </a:pPr>
            <a:r>
              <a:rPr lang="en-US" sz="5200" b="1" dirty="0">
                <a:solidFill>
                  <a:srgbClr val="A87C4F"/>
                </a:solidFill>
                <a:latin typeface="Cambria" pitchFamily="34" charset="0"/>
                <a:ea typeface="Cambria" pitchFamily="34" charset="-122"/>
                <a:cs typeface="Cambria" pitchFamily="34" charset="-120"/>
              </a:rPr>
              <a:t>10</a:t>
            </a:r>
            <a:endParaRPr lang="en-US" sz="5200" dirty="0"/>
          </a:p>
        </p:txBody>
      </p:sp>
      <p:sp>
        <p:nvSpPr>
          <p:cNvPr id="5" name="Text 3"/>
          <p:cNvSpPr/>
          <p:nvPr/>
        </p:nvSpPr>
        <p:spPr>
          <a:xfrm>
            <a:off x="777240" y="4828032"/>
            <a:ext cx="2011680" cy="274320"/>
          </a:xfrm>
          <a:prstGeom prst="rect">
            <a:avLst/>
          </a:prstGeom>
          <a:noFill/>
          <a:ln/>
        </p:spPr>
        <p:txBody>
          <a:bodyPr wrap="square" lIns="0" tIns="0" rIns="0" bIns="0" rtlCol="0" anchor="ctr"/>
          <a:lstStyle/>
          <a:p>
            <a:pPr indent="0" marL="0">
              <a:buNone/>
            </a:pPr>
            <a:r>
              <a:rPr lang="en-US" sz="1150" dirty="0">
                <a:solidFill>
                  <a:srgbClr val="5A6478"/>
                </a:solidFill>
                <a:latin typeface="Calibri" pitchFamily="34" charset="0"/>
                <a:ea typeface="Calibri" pitchFamily="34" charset="-122"/>
                <a:cs typeface="Calibri" pitchFamily="34" charset="-120"/>
              </a:rPr>
              <a:t>fuentes oficiales</a:t>
            </a:r>
            <a:endParaRPr lang="en-US" sz="1150" dirty="0"/>
          </a:p>
        </p:txBody>
      </p:sp>
      <p:sp>
        <p:nvSpPr>
          <p:cNvPr id="6" name="Text 4"/>
          <p:cNvSpPr/>
          <p:nvPr/>
        </p:nvSpPr>
        <p:spPr>
          <a:xfrm>
            <a:off x="3063240" y="4041648"/>
            <a:ext cx="2011680" cy="777240"/>
          </a:xfrm>
          <a:prstGeom prst="rect">
            <a:avLst/>
          </a:prstGeom>
          <a:noFill/>
          <a:ln/>
        </p:spPr>
        <p:txBody>
          <a:bodyPr wrap="square" lIns="0" tIns="0" rIns="0" bIns="0" rtlCol="0" anchor="ctr"/>
          <a:lstStyle/>
          <a:p>
            <a:pPr indent="0" marL="0">
              <a:buNone/>
            </a:pPr>
            <a:r>
              <a:rPr lang="en-US" sz="5200" b="1" dirty="0">
                <a:solidFill>
                  <a:srgbClr val="A87C4F"/>
                </a:solidFill>
                <a:latin typeface="Cambria" pitchFamily="34" charset="0"/>
                <a:ea typeface="Cambria" pitchFamily="34" charset="-122"/>
                <a:cs typeface="Cambria" pitchFamily="34" charset="-120"/>
              </a:rPr>
              <a:t>20</a:t>
            </a:r>
            <a:endParaRPr lang="en-US" sz="5200" dirty="0"/>
          </a:p>
        </p:txBody>
      </p:sp>
      <p:sp>
        <p:nvSpPr>
          <p:cNvPr id="7" name="Text 5"/>
          <p:cNvSpPr/>
          <p:nvPr/>
        </p:nvSpPr>
        <p:spPr>
          <a:xfrm>
            <a:off x="3063240" y="4828032"/>
            <a:ext cx="2011680" cy="274320"/>
          </a:xfrm>
          <a:prstGeom prst="rect">
            <a:avLst/>
          </a:prstGeom>
          <a:noFill/>
          <a:ln/>
        </p:spPr>
        <p:txBody>
          <a:bodyPr wrap="square" lIns="0" tIns="0" rIns="0" bIns="0" rtlCol="0" anchor="ctr"/>
          <a:lstStyle/>
          <a:p>
            <a:pPr indent="0" marL="0">
              <a:buNone/>
            </a:pPr>
            <a:r>
              <a:rPr lang="en-US" sz="1150" dirty="0">
                <a:solidFill>
                  <a:srgbClr val="5A6478"/>
                </a:solidFill>
                <a:latin typeface="Calibri" pitchFamily="34" charset="0"/>
                <a:ea typeface="Calibri" pitchFamily="34" charset="-122"/>
                <a:cs typeface="Calibri" pitchFamily="34" charset="-120"/>
              </a:rPr>
              <a:t>herramientas</a:t>
            </a:r>
            <a:endParaRPr lang="en-US" sz="1150" dirty="0"/>
          </a:p>
        </p:txBody>
      </p:sp>
      <p:sp>
        <p:nvSpPr>
          <p:cNvPr id="8" name="Text 6"/>
          <p:cNvSpPr/>
          <p:nvPr/>
        </p:nvSpPr>
        <p:spPr>
          <a:xfrm>
            <a:off x="5349240" y="4041648"/>
            <a:ext cx="2011680" cy="777240"/>
          </a:xfrm>
          <a:prstGeom prst="rect">
            <a:avLst/>
          </a:prstGeom>
          <a:noFill/>
          <a:ln/>
        </p:spPr>
        <p:txBody>
          <a:bodyPr wrap="square" lIns="0" tIns="0" rIns="0" bIns="0" rtlCol="0" anchor="ctr"/>
          <a:lstStyle/>
          <a:p>
            <a:pPr indent="0" marL="0">
              <a:buNone/>
            </a:pPr>
            <a:r>
              <a:rPr lang="en-US" sz="5200" b="1" dirty="0">
                <a:solidFill>
                  <a:srgbClr val="A87C4F"/>
                </a:solidFill>
                <a:latin typeface="Cambria" pitchFamily="34" charset="0"/>
                <a:ea typeface="Cambria" pitchFamily="34" charset="-122"/>
                <a:cs typeface="Cambria" pitchFamily="34" charset="-120"/>
              </a:rPr>
              <a:t>0</a:t>
            </a:r>
            <a:endParaRPr lang="en-US" sz="5200" dirty="0"/>
          </a:p>
        </p:txBody>
      </p:sp>
      <p:sp>
        <p:nvSpPr>
          <p:cNvPr id="9" name="Text 7"/>
          <p:cNvSpPr/>
          <p:nvPr/>
        </p:nvSpPr>
        <p:spPr>
          <a:xfrm>
            <a:off x="5349240" y="4828032"/>
            <a:ext cx="2011680" cy="274320"/>
          </a:xfrm>
          <a:prstGeom prst="rect">
            <a:avLst/>
          </a:prstGeom>
          <a:noFill/>
          <a:ln/>
        </p:spPr>
        <p:txBody>
          <a:bodyPr wrap="square" lIns="0" tIns="0" rIns="0" bIns="0" rtlCol="0" anchor="ctr"/>
          <a:lstStyle/>
          <a:p>
            <a:pPr indent="0" marL="0">
              <a:buNone/>
            </a:pPr>
            <a:r>
              <a:rPr lang="en-US" sz="1150" dirty="0">
                <a:solidFill>
                  <a:srgbClr val="5A6478"/>
                </a:solidFill>
                <a:latin typeface="Calibri" pitchFamily="34" charset="0"/>
                <a:ea typeface="Calibri" pitchFamily="34" charset="-122"/>
                <a:cs typeface="Calibri" pitchFamily="34" charset="-120"/>
              </a:rPr>
              <a:t>bases de suscripción</a:t>
            </a:r>
            <a:endParaRPr lang="en-US" sz="1150" dirty="0"/>
          </a:p>
        </p:txBody>
      </p:sp>
      <p:sp>
        <p:nvSpPr>
          <p:cNvPr id="10" name="Shape 8"/>
          <p:cNvSpPr/>
          <p:nvPr/>
        </p:nvSpPr>
        <p:spPr>
          <a:xfrm>
            <a:off x="7498080" y="2148840"/>
            <a:ext cx="3913632" cy="3200400"/>
          </a:xfrm>
          <a:prstGeom prst="roundRect">
            <a:avLst>
              <a:gd name="adj" fmla="val 1714"/>
            </a:avLst>
          </a:prstGeom>
          <a:solidFill>
            <a:srgbClr val="1B2230"/>
          </a:solidFill>
          <a:ln/>
        </p:spPr>
      </p:sp>
      <p:sp>
        <p:nvSpPr>
          <p:cNvPr id="11" name="Text 9"/>
          <p:cNvSpPr/>
          <p:nvPr/>
        </p:nvSpPr>
        <p:spPr>
          <a:xfrm>
            <a:off x="7863840" y="2487168"/>
            <a:ext cx="3200400" cy="256032"/>
          </a:xfrm>
          <a:prstGeom prst="rect">
            <a:avLst/>
          </a:prstGeom>
          <a:noFill/>
          <a:ln/>
        </p:spPr>
        <p:txBody>
          <a:bodyPr wrap="square" lIns="0" tIns="0" rIns="0" bIns="0" rtlCol="0" anchor="t"/>
          <a:lstStyle/>
          <a:p>
            <a:pPr indent="0" marL="0">
              <a:buNone/>
            </a:pPr>
            <a:r>
              <a:rPr lang="en-US" sz="1050" spc="150" kern="0" dirty="0">
                <a:solidFill>
                  <a:srgbClr val="C9A574"/>
                </a:solidFill>
                <a:latin typeface="Calibri" pitchFamily="34" charset="0"/>
                <a:ea typeface="Calibri" pitchFamily="34" charset="-122"/>
                <a:cs typeface="Calibri" pitchFamily="34" charset="-120"/>
              </a:rPr>
              <a:t>Creado por</a:t>
            </a:r>
            <a:endParaRPr lang="en-US" sz="1050" dirty="0"/>
          </a:p>
        </p:txBody>
      </p:sp>
      <p:sp>
        <p:nvSpPr>
          <p:cNvPr id="12" name="Text 10"/>
          <p:cNvSpPr/>
          <p:nvPr/>
        </p:nvSpPr>
        <p:spPr>
          <a:xfrm>
            <a:off x="7863840" y="2779776"/>
            <a:ext cx="3291840" cy="411480"/>
          </a:xfrm>
          <a:prstGeom prst="rect">
            <a:avLst/>
          </a:prstGeom>
          <a:noFill/>
          <a:ln/>
        </p:spPr>
        <p:txBody>
          <a:bodyPr wrap="square" lIns="0" tIns="0" rIns="0" bIns="0" rtlCol="0" anchor="t"/>
          <a:lstStyle/>
          <a:p>
            <a:pPr indent="0" marL="0">
              <a:buNone/>
            </a:pPr>
            <a:r>
              <a:rPr lang="en-US" sz="2100" b="1" dirty="0">
                <a:solidFill>
                  <a:srgbClr val="FFFFFF"/>
                </a:solidFill>
                <a:latin typeface="Cambria" pitchFamily="34" charset="0"/>
                <a:ea typeface="Cambria" pitchFamily="34" charset="-122"/>
                <a:cs typeface="Cambria" pitchFamily="34" charset="-120"/>
              </a:rPr>
              <a:t>Joaquín Larraín Guimoye</a:t>
            </a:r>
            <a:endParaRPr lang="en-US" sz="2100" dirty="0"/>
          </a:p>
        </p:txBody>
      </p:sp>
      <p:sp>
        <p:nvSpPr>
          <p:cNvPr id="13" name="Text 11"/>
          <p:cNvSpPr/>
          <p:nvPr/>
        </p:nvSpPr>
        <p:spPr>
          <a:xfrm>
            <a:off x="7863840" y="3401568"/>
            <a:ext cx="3200400" cy="1005840"/>
          </a:xfrm>
          <a:prstGeom prst="rect">
            <a:avLst/>
          </a:prstGeom>
          <a:noFill/>
          <a:ln/>
        </p:spPr>
        <p:txBody>
          <a:bodyPr wrap="square" lIns="0" tIns="0" rIns="0" bIns="0" rtlCol="0" anchor="t"/>
          <a:lstStyle/>
          <a:p>
            <a:pPr indent="0" marL="0">
              <a:buNone/>
            </a:pPr>
            <a:r>
              <a:rPr lang="en-US" sz="1100" dirty="0">
                <a:solidFill>
                  <a:srgbClr val="8A93A5"/>
                </a:solidFill>
                <a:latin typeface="Calibri" pitchFamily="34" charset="0"/>
                <a:ea typeface="Calibri" pitchFamily="34" charset="-122"/>
                <a:cs typeface="Calibri" pitchFamily="34" charset="-120"/>
              </a:rPr>
              <a:t>Todas las fuentes son públicas y gratuitas. La herramienta se puede compartir sin comprometer licencias de nadie.</a:t>
            </a:r>
            <a:endParaRPr lang="en-US" sz="1100" dirty="0"/>
          </a:p>
        </p:txBody>
      </p:sp>
      <p:sp>
        <p:nvSpPr>
          <p:cNvPr id="14" name="Shape 12"/>
          <p:cNvSpPr/>
          <p:nvPr/>
        </p:nvSpPr>
        <p:spPr>
          <a:xfrm>
            <a:off x="7863840" y="4498848"/>
            <a:ext cx="566928" cy="566928"/>
          </a:xfrm>
          <a:prstGeom prst="ellipse">
            <a:avLst/>
          </a:prstGeom>
          <a:solidFill>
            <a:srgbClr val="A87C4F"/>
          </a:solidFill>
          <a:ln/>
        </p:spPr>
      </p:sp>
      <p:sp>
        <p:nvSpPr>
          <p:cNvPr id="15" name="Text 13"/>
          <p:cNvSpPr/>
          <p:nvPr/>
        </p:nvSpPr>
        <p:spPr>
          <a:xfrm>
            <a:off x="7863840" y="4498848"/>
            <a:ext cx="566928" cy="566928"/>
          </a:xfrm>
          <a:prstGeom prst="rect">
            <a:avLst/>
          </a:prstGeom>
          <a:noFill/>
          <a:ln/>
        </p:spPr>
        <p:txBody>
          <a:bodyPr wrap="square" lIns="0" tIns="0" rIns="0" bIns="0" rtlCol="0" anchor="ctr"/>
          <a:lstStyle/>
          <a:p>
            <a:pPr algn="ctr" indent="0" marL="0">
              <a:buNone/>
            </a:pPr>
            <a:r>
              <a:rPr lang="en-US" sz="2500" b="1" dirty="0">
                <a:solidFill>
                  <a:srgbClr val="1B2230"/>
                </a:solidFill>
                <a:latin typeface="Cambria" pitchFamily="34" charset="0"/>
                <a:ea typeface="Cambria" pitchFamily="34" charset="-122"/>
                <a:cs typeface="Cambria" pitchFamily="34" charset="-120"/>
              </a:rPr>
              <a:t>R</a:t>
            </a:r>
            <a:endParaRPr lang="en-US" sz="2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Responsa</dc:title>
  <dc:subject>Fuentes jurídicas chilenas verificables</dc:subject>
  <dc:creator>Joaquín Larraín Guimoye</dc:creator>
  <cp:lastModifiedBy>Joaquín Larraín Guimoye</cp:lastModifiedBy>
  <cp:revision>1</cp:revision>
  <dcterms:created xsi:type="dcterms:W3CDTF">2026-08-15T17:15:48Z</dcterms:created>
  <dcterms:modified xsi:type="dcterms:W3CDTF">2026-08-15T17:15:48Z</dcterms:modified>
</cp:coreProperties>
</file>