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04748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29437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777240" y="5760720"/>
            <a:ext cx="5486400" cy="310896"/>
          </a:xfrm>
          <a:prstGeom prst="rect">
            <a:avLst/>
          </a:prstGeom>
          <a:noFill/>
          <a:ln/>
        </p:spPr>
        <p:txBody>
          <a:bodyPr wrap="square" lIns="0" tIns="0" rIns="0" bIns="0" rtlCol="0" anchor="t"/>
          <a:lstStyle/>
          <a:p>
            <a:pPr indent="0" marL="0">
              <a:buNone/>
            </a:pPr>
            <a:r>
              <a:rPr lang="en-US" sz="1300" b="1" dirty="0">
                <a:solidFill>
                  <a:srgbClr val="C9A574"/>
                </a:solidFill>
                <a:latin typeface="Courier New" pitchFamily="34" charset="0"/>
                <a:ea typeface="Courier New" pitchFamily="34" charset="-122"/>
                <a:cs typeface="Courier New" pitchFamily="34" charset="-120"/>
              </a:rPr>
              <a:t>github.com/djlarrix/Responsa</a:t>
            </a:r>
            <a:endParaRPr lang="en-US" sz="1300" dirty="0"/>
          </a:p>
        </p:txBody>
      </p:sp>
      <p:sp>
        <p:nvSpPr>
          <p:cNvPr id="8" name="Text 6"/>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9" name="Shape 7"/>
          <p:cNvSpPr/>
          <p:nvPr/>
        </p:nvSpPr>
        <p:spPr>
          <a:xfrm>
            <a:off x="10607040" y="5349240"/>
            <a:ext cx="777240" cy="777240"/>
          </a:xfrm>
          <a:prstGeom prst="ellipse">
            <a:avLst/>
          </a:prstGeom>
          <a:solidFill>
            <a:srgbClr val="A87C4F"/>
          </a:solidFill>
          <a:ln/>
        </p:spPr>
      </p:sp>
      <p:sp>
        <p:nvSpPr>
          <p:cNvPr id="10" name="Text 8"/>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veinte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7556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7922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37744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41401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99923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303580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62102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65760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4242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4279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86460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90118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548640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552297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212848"/>
            <a:ext cx="676656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Instalación</a:t>
            </a:r>
            <a:endParaRPr lang="en-US" sz="5200" dirty="0"/>
          </a:p>
        </p:txBody>
      </p:sp>
      <p:sp>
        <p:nvSpPr>
          <p:cNvPr id="3" name="Text 1"/>
          <p:cNvSpPr/>
          <p:nvPr/>
        </p:nvSpPr>
        <p:spPr>
          <a:xfrm>
            <a:off x="777240" y="3163824"/>
            <a:ext cx="6766560" cy="411480"/>
          </a:xfrm>
          <a:prstGeom prst="rect">
            <a:avLst/>
          </a:prstGeom>
          <a:noFill/>
          <a:ln/>
        </p:spPr>
        <p:txBody>
          <a:bodyPr wrap="square" lIns="0" tIns="0" rIns="0" bIns="0" rtlCol="0" anchor="t"/>
          <a:lstStyle/>
          <a:p>
            <a:pPr indent="0" marL="0">
              <a:buNone/>
            </a:pPr>
            <a:r>
              <a:rPr lang="en-US" sz="1700" dirty="0">
                <a:solidFill>
                  <a:srgbClr val="C9A574"/>
                </a:solidFill>
                <a:latin typeface="Calibri" pitchFamily="34" charset="0"/>
                <a:ea typeface="Calibri" pitchFamily="34" charset="-122"/>
                <a:cs typeface="Calibri" pitchFamily="34" charset="-120"/>
              </a:rPr>
              <a:t>Un comando, y reiniciar Claude. Eso es todo.</a:t>
            </a:r>
            <a:endParaRPr lang="en-US" sz="1700" dirty="0"/>
          </a:p>
        </p:txBody>
      </p:sp>
      <p:sp>
        <p:nvSpPr>
          <p:cNvPr id="4" name="Text 2"/>
          <p:cNvSpPr/>
          <p:nvPr/>
        </p:nvSpPr>
        <p:spPr>
          <a:xfrm>
            <a:off x="777240" y="3749040"/>
            <a:ext cx="6400800" cy="731520"/>
          </a:xfrm>
          <a:prstGeom prst="rect">
            <a:avLst/>
          </a:prstGeom>
          <a:noFill/>
          <a:ln/>
        </p:spPr>
        <p:txBody>
          <a:bodyPr wrap="square" lIns="0" tIns="0" rIns="0" bIns="0" rtlCol="0" anchor="t"/>
          <a:lstStyle/>
          <a:p>
            <a:pPr indent="0" marL="0">
              <a:lnSpc>
                <a:spcPct val="120000"/>
              </a:lnSpc>
              <a:buNone/>
            </a:pPr>
            <a:r>
              <a:rPr lang="en-US" sz="1250" dirty="0">
                <a:solidFill>
                  <a:srgbClr val="8A93A5"/>
                </a:solidFill>
                <a:latin typeface="Calibri" pitchFamily="34" charset="0"/>
                <a:ea typeface="Calibri" pitchFamily="34" charset="-122"/>
                <a:cs typeface="Calibri" pitchFamily="34" charset="-120"/>
              </a:rPr>
              <a:t>No hay que instalar nada a mano ni saber usar la terminal más allá de pegar una línea. El instalador se encarga de Node.js, de la descarga y de la configuración.</a:t>
            </a:r>
            <a:endParaRPr lang="en-US" sz="1250" dirty="0"/>
          </a:p>
        </p:txBody>
      </p:sp>
      <p:sp>
        <p:nvSpPr>
          <p:cNvPr id="5" name="Shape 3"/>
          <p:cNvSpPr/>
          <p:nvPr/>
        </p:nvSpPr>
        <p:spPr>
          <a:xfrm>
            <a:off x="777240" y="4892040"/>
            <a:ext cx="365760" cy="365760"/>
          </a:xfrm>
          <a:prstGeom prst="ellipse">
            <a:avLst/>
          </a:prstGeom>
          <a:solidFill>
            <a:srgbClr val="A87C4F"/>
          </a:solidFill>
          <a:ln/>
        </p:spPr>
      </p:sp>
      <p:sp>
        <p:nvSpPr>
          <p:cNvPr id="6" name="Text 4"/>
          <p:cNvSpPr/>
          <p:nvPr/>
        </p:nvSpPr>
        <p:spPr>
          <a:xfrm>
            <a:off x="777240" y="48920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9304" y="491947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Pegar el comando en la terminal</a:t>
            </a:r>
            <a:endParaRPr lang="en-US" sz="1300" dirty="0"/>
          </a:p>
        </p:txBody>
      </p:sp>
      <p:sp>
        <p:nvSpPr>
          <p:cNvPr id="8" name="Shape 6"/>
          <p:cNvSpPr/>
          <p:nvPr/>
        </p:nvSpPr>
        <p:spPr>
          <a:xfrm>
            <a:off x="777240" y="5440680"/>
            <a:ext cx="365760" cy="365760"/>
          </a:xfrm>
          <a:prstGeom prst="ellipse">
            <a:avLst/>
          </a:prstGeom>
          <a:solidFill>
            <a:srgbClr val="A87C4F"/>
          </a:solidFill>
          <a:ln/>
        </p:spPr>
      </p:sp>
      <p:sp>
        <p:nvSpPr>
          <p:cNvPr id="9" name="Text 7"/>
          <p:cNvSpPr/>
          <p:nvPr/>
        </p:nvSpPr>
        <p:spPr>
          <a:xfrm>
            <a:off x="777240" y="5440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546811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Reiniciar Claude</a:t>
            </a:r>
            <a:endParaRPr lang="en-US" sz="1300" dirty="0"/>
          </a:p>
        </p:txBody>
      </p:sp>
      <p:sp>
        <p:nvSpPr>
          <p:cNvPr id="11" name="Shape 9"/>
          <p:cNvSpPr/>
          <p:nvPr/>
        </p:nvSpPr>
        <p:spPr>
          <a:xfrm>
            <a:off x="7818120" y="2194560"/>
            <a:ext cx="3593592" cy="3675888"/>
          </a:xfrm>
          <a:prstGeom prst="roundRect">
            <a:avLst>
              <a:gd name="adj" fmla="val 1527"/>
            </a:avLst>
          </a:prstGeom>
          <a:solidFill>
            <a:srgbClr val="2A3446"/>
          </a:solidFill>
          <a:ln/>
        </p:spPr>
      </p:sp>
      <p:sp>
        <p:nvSpPr>
          <p:cNvPr id="12" name="Text 10"/>
          <p:cNvSpPr/>
          <p:nvPr/>
        </p:nvSpPr>
        <p:spPr>
          <a:xfrm>
            <a:off x="8183880" y="2487168"/>
            <a:ext cx="292608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Qué queda instalado</a:t>
            </a:r>
            <a:endParaRPr lang="en-US" sz="1050" dirty="0"/>
          </a:p>
        </p:txBody>
      </p:sp>
      <p:sp>
        <p:nvSpPr>
          <p:cNvPr id="13" name="Text 11"/>
          <p:cNvSpPr/>
          <p:nvPr/>
        </p:nvSpPr>
        <p:spPr>
          <a:xfrm>
            <a:off x="8183880" y="2834640"/>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servidor</a:t>
            </a:r>
            <a:endParaRPr lang="en-US" sz="1150" dirty="0"/>
          </a:p>
        </p:txBody>
      </p:sp>
      <p:sp>
        <p:nvSpPr>
          <p:cNvPr id="14" name="Text 12"/>
          <p:cNvSpPr/>
          <p:nvPr/>
        </p:nvSpPr>
        <p:spPr>
          <a:xfrm>
            <a:off x="8183880" y="3081528"/>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Corre en tu computador, no en la nube. Sólo se activa cuando Claude le pregunta.</a:t>
            </a:r>
            <a:endParaRPr lang="en-US" sz="950" dirty="0"/>
          </a:p>
        </p:txBody>
      </p:sp>
      <p:sp>
        <p:nvSpPr>
          <p:cNvPr id="15" name="Text 13"/>
          <p:cNvSpPr/>
          <p:nvPr/>
        </p:nvSpPr>
        <p:spPr>
          <a:xfrm>
            <a:off x="8183880" y="3675888"/>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registro en Claude</a:t>
            </a:r>
            <a:endParaRPr lang="en-US" sz="1150" dirty="0"/>
          </a:p>
        </p:txBody>
      </p:sp>
      <p:sp>
        <p:nvSpPr>
          <p:cNvPr id="16" name="Text 14"/>
          <p:cNvSpPr/>
          <p:nvPr/>
        </p:nvSpPr>
        <p:spPr>
          <a:xfrm>
            <a:off x="8183880" y="3922776"/>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Una línea de configuración para que Claude sepa que Responsa existe.</a:t>
            </a:r>
            <a:endParaRPr lang="en-US" sz="950" dirty="0"/>
          </a:p>
        </p:txBody>
      </p:sp>
      <p:sp>
        <p:nvSpPr>
          <p:cNvPr id="17" name="Text 15"/>
          <p:cNvSpPr/>
          <p:nvPr/>
        </p:nvSpPr>
        <p:spPr>
          <a:xfrm>
            <a:off x="8183880" y="4517136"/>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 skill de método</a:t>
            </a:r>
            <a:endParaRPr lang="en-US" sz="1150" dirty="0"/>
          </a:p>
        </p:txBody>
      </p:sp>
      <p:sp>
        <p:nvSpPr>
          <p:cNvPr id="18" name="Text 16"/>
          <p:cNvSpPr/>
          <p:nvPr/>
        </p:nvSpPr>
        <p:spPr>
          <a:xfrm>
            <a:off x="8183880" y="4764024"/>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Le indica a Claude cómo citar y qué no puede afirmar sin respaldo.</a:t>
            </a:r>
            <a:endParaRPr lang="en-US" sz="950" dirty="0"/>
          </a:p>
        </p:txBody>
      </p:sp>
      <p:sp>
        <p:nvSpPr>
          <p:cNvPr id="19" name="Text 17"/>
          <p:cNvSpPr/>
          <p:nvPr/>
        </p:nvSpPr>
        <p:spPr>
          <a:xfrm>
            <a:off x="8183880" y="5394960"/>
            <a:ext cx="3017520" cy="402336"/>
          </a:xfrm>
          <a:prstGeom prst="rect">
            <a:avLst/>
          </a:prstGeom>
          <a:noFill/>
          <a:ln/>
        </p:spPr>
        <p:txBody>
          <a:bodyPr wrap="square" lIns="0" tIns="0" rIns="0" bIns="0" rtlCol="0" anchor="t"/>
          <a:lstStyle/>
          <a:p>
            <a:pPr indent="0" marL="0">
              <a:lnSpc>
                <a:spcPct val="105000"/>
              </a:lnSpc>
              <a:buNone/>
            </a:pPr>
            <a:r>
              <a:rPr lang="en-US" sz="950" i="1" dirty="0">
                <a:solidFill>
                  <a:srgbClr val="C9A574"/>
                </a:solidFill>
                <a:latin typeface="Calibri" pitchFamily="34" charset="0"/>
                <a:ea typeface="Calibri" pitchFamily="34" charset="-122"/>
                <a:cs typeface="Calibri" pitchFamily="34" charset="-120"/>
              </a:rPr>
              <a:t>Nada se envía a terceros: las consultas van directo a los sitios oficiales.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1 · Pegar el comando</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Antes de empezar, cierra Claude Desktop por completo. El texto de este PDF se puede copiar</a:t>
            </a:r>
            <a:endParaRPr lang="en-US" sz="1350" dirty="0"/>
          </a:p>
        </p:txBody>
      </p:sp>
      <p:sp>
        <p:nvSpPr>
          <p:cNvPr id="4" name="Shape 2"/>
          <p:cNvSpPr/>
          <p:nvPr/>
        </p:nvSpPr>
        <p:spPr>
          <a:xfrm>
            <a:off x="777240" y="1664208"/>
            <a:ext cx="10634472" cy="457200"/>
          </a:xfrm>
          <a:prstGeom prst="roundRect">
            <a:avLst>
              <a:gd name="adj" fmla="val 10000"/>
            </a:avLst>
          </a:prstGeom>
          <a:solidFill>
            <a:srgbClr val="FDF7E8"/>
          </a:solidFill>
          <a:ln/>
        </p:spPr>
      </p:sp>
      <p:sp>
        <p:nvSpPr>
          <p:cNvPr id="5" name="Text 3"/>
          <p:cNvSpPr/>
          <p:nvPr/>
        </p:nvSpPr>
        <p:spPr>
          <a:xfrm>
            <a:off x="1033272" y="1664208"/>
            <a:ext cx="10149840" cy="457200"/>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Claude Desktop tiene que estar CERRADO. Al cerrarse sobrescribe su configuración, así que si está abierto la instalación no queda.</a:t>
            </a:r>
            <a:endParaRPr lang="en-US" sz="1100" dirty="0"/>
          </a:p>
        </p:txBody>
      </p:sp>
      <p:sp>
        <p:nvSpPr>
          <p:cNvPr id="6" name="Shape 4"/>
          <p:cNvSpPr/>
          <p:nvPr/>
        </p:nvSpPr>
        <p:spPr>
          <a:xfrm>
            <a:off x="777240" y="2286000"/>
            <a:ext cx="1051560" cy="274320"/>
          </a:xfrm>
          <a:prstGeom prst="roundRect">
            <a:avLst>
              <a:gd name="adj" fmla="val 13333"/>
            </a:avLst>
          </a:prstGeom>
          <a:solidFill>
            <a:srgbClr val="A87C4F"/>
          </a:solidFill>
          <a:ln/>
        </p:spPr>
      </p:sp>
      <p:sp>
        <p:nvSpPr>
          <p:cNvPr id="7" name="Text 5"/>
          <p:cNvSpPr/>
          <p:nvPr/>
        </p:nvSpPr>
        <p:spPr>
          <a:xfrm>
            <a:off x="777240" y="22860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a:t>
            </a:r>
            <a:endParaRPr lang="en-US" sz="1000" dirty="0"/>
          </a:p>
        </p:txBody>
      </p:sp>
      <p:sp>
        <p:nvSpPr>
          <p:cNvPr id="8" name="Text 6"/>
          <p:cNvSpPr/>
          <p:nvPr/>
        </p:nvSpPr>
        <p:spPr>
          <a:xfrm>
            <a:off x="1965960" y="230428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Menú Inicio → escribe «PowerShell» → ábrelo</a:t>
            </a:r>
            <a:endParaRPr lang="en-US" sz="1100" dirty="0"/>
          </a:p>
        </p:txBody>
      </p:sp>
      <p:sp>
        <p:nvSpPr>
          <p:cNvPr id="9" name="Shape 7"/>
          <p:cNvSpPr/>
          <p:nvPr/>
        </p:nvSpPr>
        <p:spPr>
          <a:xfrm>
            <a:off x="777240" y="2670048"/>
            <a:ext cx="10634472" cy="566928"/>
          </a:xfrm>
          <a:prstGeom prst="roundRect">
            <a:avLst>
              <a:gd name="adj" fmla="val 8065"/>
            </a:avLst>
          </a:prstGeom>
          <a:solidFill>
            <a:srgbClr val="1B2230"/>
          </a:solidFill>
          <a:ln/>
        </p:spPr>
      </p:sp>
      <p:sp>
        <p:nvSpPr>
          <p:cNvPr id="10" name="Text 8"/>
          <p:cNvSpPr/>
          <p:nvPr/>
        </p:nvSpPr>
        <p:spPr>
          <a:xfrm>
            <a:off x="996696" y="2670048"/>
            <a:ext cx="10195560" cy="566928"/>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irm https://raw.githubusercontent.com/djlarrix/Responsa/main/instalar.ps1 | iex</a:t>
            </a:r>
            <a:endParaRPr lang="en-US" sz="1250" dirty="0"/>
          </a:p>
        </p:txBody>
      </p:sp>
      <p:sp>
        <p:nvSpPr>
          <p:cNvPr id="11" name="Shape 9"/>
          <p:cNvSpPr/>
          <p:nvPr/>
        </p:nvSpPr>
        <p:spPr>
          <a:xfrm>
            <a:off x="777240" y="3474720"/>
            <a:ext cx="1051560" cy="274320"/>
          </a:xfrm>
          <a:prstGeom prst="roundRect">
            <a:avLst>
              <a:gd name="adj" fmla="val 13333"/>
            </a:avLst>
          </a:prstGeom>
          <a:solidFill>
            <a:srgbClr val="A87C4F"/>
          </a:solidFill>
          <a:ln/>
        </p:spPr>
      </p:sp>
      <p:sp>
        <p:nvSpPr>
          <p:cNvPr id="12" name="Text 10"/>
          <p:cNvSpPr/>
          <p:nvPr/>
        </p:nvSpPr>
        <p:spPr>
          <a:xfrm>
            <a:off x="777240" y="347472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a:t>
            </a:r>
            <a:endParaRPr lang="en-US" sz="1000" dirty="0"/>
          </a:p>
        </p:txBody>
      </p:sp>
      <p:sp>
        <p:nvSpPr>
          <p:cNvPr id="13" name="Text 11"/>
          <p:cNvSpPr/>
          <p:nvPr/>
        </p:nvSpPr>
        <p:spPr>
          <a:xfrm>
            <a:off x="1965960" y="349300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Command + Espacio → escribe «Terminal» → Enter</a:t>
            </a:r>
            <a:endParaRPr lang="en-US" sz="1100" dirty="0"/>
          </a:p>
        </p:txBody>
      </p:sp>
      <p:sp>
        <p:nvSpPr>
          <p:cNvPr id="14" name="Shape 12"/>
          <p:cNvSpPr/>
          <p:nvPr/>
        </p:nvSpPr>
        <p:spPr>
          <a:xfrm>
            <a:off x="777240" y="3858768"/>
            <a:ext cx="10634472" cy="566928"/>
          </a:xfrm>
          <a:prstGeom prst="roundRect">
            <a:avLst>
              <a:gd name="adj" fmla="val 8065"/>
            </a:avLst>
          </a:prstGeom>
          <a:solidFill>
            <a:srgbClr val="1B2230"/>
          </a:solidFill>
          <a:ln/>
        </p:spPr>
      </p:sp>
      <p:sp>
        <p:nvSpPr>
          <p:cNvPr id="15" name="Text 13"/>
          <p:cNvSpPr/>
          <p:nvPr/>
        </p:nvSpPr>
        <p:spPr>
          <a:xfrm>
            <a:off x="996696" y="3858768"/>
            <a:ext cx="10195560" cy="566928"/>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curl -fsSL https://raw.githubusercontent.com/djlarrix/Responsa/main/instalar.sh | bash</a:t>
            </a:r>
            <a:endParaRPr lang="en-US" sz="1250" dirty="0"/>
          </a:p>
        </p:txBody>
      </p:sp>
      <p:sp>
        <p:nvSpPr>
          <p:cNvPr id="16" name="Shape 14"/>
          <p:cNvSpPr/>
          <p:nvPr/>
        </p:nvSpPr>
        <p:spPr>
          <a:xfrm>
            <a:off x="777240" y="4626864"/>
            <a:ext cx="5120640" cy="1517904"/>
          </a:xfrm>
          <a:prstGeom prst="roundRect">
            <a:avLst>
              <a:gd name="adj" fmla="val 3614"/>
            </a:avLst>
          </a:prstGeom>
          <a:solidFill>
            <a:srgbClr val="FFFFFF"/>
          </a:solidFill>
          <a:ln w="9525">
            <a:solidFill>
              <a:srgbClr val="E3DED3"/>
            </a:solidFill>
            <a:prstDash val="solid"/>
          </a:ln>
        </p:spPr>
      </p:sp>
      <p:sp>
        <p:nvSpPr>
          <p:cNvPr id="17" name="Text 15"/>
          <p:cNvSpPr/>
          <p:nvPr/>
        </p:nvSpPr>
        <p:spPr>
          <a:xfrm>
            <a:off x="1069848" y="4791456"/>
            <a:ext cx="4480560" cy="256032"/>
          </a:xfrm>
          <a:prstGeom prst="rect">
            <a:avLst/>
          </a:prstGeom>
          <a:noFill/>
          <a:ln/>
        </p:spPr>
        <p:txBody>
          <a:bodyPr wrap="square" lIns="0" tIns="0" rIns="0" bIns="0" rtlCol="0" anchor="t"/>
          <a:lstStyle/>
          <a:p>
            <a:pPr indent="0" marL="0">
              <a:buNone/>
            </a:pPr>
            <a:r>
              <a:rPr lang="en-US" sz="1200" b="1" dirty="0">
                <a:solidFill>
                  <a:srgbClr val="1B2230"/>
                </a:solidFill>
                <a:latin typeface="Calibri" pitchFamily="34" charset="0"/>
                <a:ea typeface="Calibri" pitchFamily="34" charset="-122"/>
                <a:cs typeface="Calibri" pitchFamily="34" charset="-120"/>
              </a:rPr>
              <a:t>Qué hace por ti</a:t>
            </a:r>
            <a:endParaRPr lang="en-US" sz="1200" dirty="0"/>
          </a:p>
        </p:txBody>
      </p:sp>
      <p:sp>
        <p:nvSpPr>
          <p:cNvPr id="18" name="Text 16"/>
          <p:cNvSpPr/>
          <p:nvPr/>
        </p:nvSpPr>
        <p:spPr>
          <a:xfrm>
            <a:off x="1069848" y="510235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Instala Node.js si falta</a:t>
            </a:r>
            <a:endParaRPr lang="en-US" sz="1050" dirty="0"/>
          </a:p>
        </p:txBody>
      </p:sp>
      <p:sp>
        <p:nvSpPr>
          <p:cNvPr id="19" name="Text 17"/>
          <p:cNvSpPr/>
          <p:nvPr/>
        </p:nvSpPr>
        <p:spPr>
          <a:xfrm>
            <a:off x="1069848" y="537667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Descarga Responsa a tu carpeta de usuario</a:t>
            </a:r>
            <a:endParaRPr lang="en-US" sz="1050" dirty="0"/>
          </a:p>
        </p:txBody>
      </p:sp>
      <p:sp>
        <p:nvSpPr>
          <p:cNvPr id="20" name="Text 18"/>
          <p:cNvSpPr/>
          <p:nvPr/>
        </p:nvSpPr>
        <p:spPr>
          <a:xfrm>
            <a:off x="1069848" y="565099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Registra el servidor en Claude e instala la skill</a:t>
            </a:r>
            <a:endParaRPr lang="en-US" sz="1050" dirty="0"/>
          </a:p>
        </p:txBody>
      </p:sp>
      <p:sp>
        <p:nvSpPr>
          <p:cNvPr id="21" name="Text 19"/>
          <p:cNvSpPr/>
          <p:nvPr/>
        </p:nvSpPr>
        <p:spPr>
          <a:xfrm>
            <a:off x="1069848" y="592531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Precarga los códigos y verifica las diez fuentes</a:t>
            </a:r>
            <a:endParaRPr lang="en-US" sz="1050" dirty="0"/>
          </a:p>
        </p:txBody>
      </p:sp>
      <p:sp>
        <p:nvSpPr>
          <p:cNvPr id="22" name="Shape 20"/>
          <p:cNvSpPr/>
          <p:nvPr/>
        </p:nvSpPr>
        <p:spPr>
          <a:xfrm>
            <a:off x="6263640" y="4626864"/>
            <a:ext cx="5148072" cy="1517904"/>
          </a:xfrm>
          <a:prstGeom prst="roundRect">
            <a:avLst>
              <a:gd name="adj" fmla="val 3614"/>
            </a:avLst>
          </a:prstGeom>
          <a:solidFill>
            <a:srgbClr val="1B2230"/>
          </a:solidFill>
          <a:ln/>
        </p:spPr>
      </p:sp>
      <p:sp>
        <p:nvSpPr>
          <p:cNvPr id="23" name="Text 21"/>
          <p:cNvSpPr/>
          <p:nvPr/>
        </p:nvSpPr>
        <p:spPr>
          <a:xfrm>
            <a:off x="6583680" y="4791456"/>
            <a:ext cx="4480560" cy="256032"/>
          </a:xfrm>
          <a:prstGeom prst="rect">
            <a:avLst/>
          </a:prstGeom>
          <a:noFill/>
          <a:ln/>
        </p:spPr>
        <p:txBody>
          <a:bodyPr wrap="square" lIns="0" tIns="0" rIns="0" bIns="0" rtlCol="0" anchor="t"/>
          <a:lstStyle/>
          <a:p>
            <a:pPr indent="0" marL="0">
              <a:buNone/>
            </a:pPr>
            <a:r>
              <a:rPr lang="en-US" sz="1200" b="1" dirty="0">
                <a:solidFill>
                  <a:srgbClr val="C9A574"/>
                </a:solidFill>
                <a:latin typeface="Calibri" pitchFamily="34" charset="0"/>
                <a:ea typeface="Calibri" pitchFamily="34" charset="-122"/>
                <a:cs typeface="Calibri" pitchFamily="34" charset="-120"/>
              </a:rPr>
              <a:t>Qué vas a ver</a:t>
            </a:r>
            <a:endParaRPr lang="en-US" sz="1200" dirty="0"/>
          </a:p>
        </p:txBody>
      </p:sp>
      <p:sp>
        <p:nvSpPr>
          <p:cNvPr id="24" name="Text 22"/>
          <p:cNvSpPr/>
          <p:nvPr/>
        </p:nvSpPr>
        <p:spPr>
          <a:xfrm>
            <a:off x="6583680" y="5084064"/>
            <a:ext cx="4480560" cy="82296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Cuatro pasos numerados en pantalla. Tarda unos minutos, sobre todo la precarga de los códigos: la Biblioteca del Congreso limita las descargas grandes y conviene bajarlos con calma una vez.</a:t>
            </a:r>
            <a:endParaRPr lang="en-US" sz="1050" dirty="0"/>
          </a:p>
        </p:txBody>
      </p:sp>
      <p:sp>
        <p:nvSpPr>
          <p:cNvPr id="25" name="Text 23"/>
          <p:cNvSpPr/>
          <p:nvPr/>
        </p:nvSpPr>
        <p:spPr>
          <a:xfrm>
            <a:off x="6583680" y="5852160"/>
            <a:ext cx="4480560" cy="292608"/>
          </a:xfrm>
          <a:prstGeom prst="rect">
            <a:avLst/>
          </a:prstGeom>
          <a:noFill/>
          <a:ln/>
        </p:spPr>
        <p:txBody>
          <a:bodyPr wrap="square" lIns="0" tIns="0" rIns="0" bIns="0" rtlCol="0" anchor="t"/>
          <a:lstStyle/>
          <a:p>
            <a:pPr indent="0" marL="0">
              <a:buNone/>
            </a:pPr>
            <a:r>
              <a:rPr lang="en-US" sz="1050" b="1" i="1" dirty="0">
                <a:solidFill>
                  <a:srgbClr val="C9A574"/>
                </a:solidFill>
                <a:latin typeface="Calibri" pitchFamily="34" charset="0"/>
                <a:ea typeface="Calibri" pitchFamily="34" charset="-122"/>
                <a:cs typeface="Calibri" pitchFamily="34" charset="-120"/>
              </a:rPr>
              <a:t>Termina diciendo: Instalado. 10/10 fuentes responden.</a:t>
            </a:r>
            <a:endParaRPr lang="en-US" sz="1050" dirty="0"/>
          </a:p>
        </p:txBody>
      </p:sp>
      <p:sp>
        <p:nvSpPr>
          <p:cNvPr id="26" name="Text 24"/>
          <p:cNvSpPr/>
          <p:nvPr/>
        </p:nvSpPr>
        <p:spPr>
          <a:xfrm>
            <a:off x="777240" y="6327648"/>
            <a:ext cx="10634472" cy="365760"/>
          </a:xfrm>
          <a:prstGeom prst="rect">
            <a:avLst/>
          </a:prstGeom>
          <a:noFill/>
          <a:ln/>
        </p:spPr>
        <p:txBody>
          <a:bodyPr wrap="square" lIns="0" tIns="0" rIns="0" bIns="0" rtlCol="0" anchor="t"/>
          <a:lstStyle/>
          <a:p>
            <a:pPr indent="0" marL="0">
              <a:buNone/>
            </a:pPr>
            <a:r>
              <a:rPr lang="en-US" sz="1050" i="1" dirty="0">
                <a:solidFill>
                  <a:srgbClr val="5A6478"/>
                </a:solidFill>
                <a:latin typeface="Calibri" pitchFamily="34" charset="0"/>
                <a:ea typeface="Calibri" pitchFamily="34" charset="-122"/>
                <a:cs typeface="Calibri" pitchFamily="34" charset="-120"/>
              </a:rPr>
              <a:t>Se puede ejecutar las veces que haga falta: si ya está instalado, actualiza.   ·   Repositorio: github.com/djlarrix/Responsa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2 · Reiniciar Claude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Es obligatorio: Claude carga los servidores al arrancar</a:t>
            </a:r>
            <a:endParaRPr lang="en-US" sz="1350" dirty="0"/>
          </a:p>
        </p:txBody>
      </p:sp>
      <p:sp>
        <p:nvSpPr>
          <p:cNvPr id="4" name="Shape 2"/>
          <p:cNvSpPr/>
          <p:nvPr/>
        </p:nvSpPr>
        <p:spPr>
          <a:xfrm>
            <a:off x="777240" y="1810512"/>
            <a:ext cx="5029200" cy="2103120"/>
          </a:xfrm>
          <a:prstGeom prst="roundRect">
            <a:avLst>
              <a:gd name="adj" fmla="val 2609"/>
            </a:avLst>
          </a:prstGeom>
          <a:solidFill>
            <a:srgbClr val="1B2230"/>
          </a:solidFill>
          <a:ln/>
        </p:spPr>
      </p:sp>
      <p:sp>
        <p:nvSpPr>
          <p:cNvPr id="5" name="Text 3"/>
          <p:cNvSpPr/>
          <p:nvPr/>
        </p:nvSpPr>
        <p:spPr>
          <a:xfrm>
            <a:off x="1069848" y="2048256"/>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Windows</a:t>
            </a:r>
            <a:endParaRPr lang="en-US" sz="1250" dirty="0"/>
          </a:p>
        </p:txBody>
      </p:sp>
      <p:sp>
        <p:nvSpPr>
          <p:cNvPr id="6" name="Text 4"/>
          <p:cNvSpPr/>
          <p:nvPr/>
        </p:nvSpPr>
        <p:spPr>
          <a:xfrm>
            <a:off x="1069848" y="2359152"/>
            <a:ext cx="4480560" cy="68580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Calibri" pitchFamily="34" charset="0"/>
                <a:ea typeface="Calibri" pitchFamily="34" charset="-122"/>
                <a:cs typeface="Calibri" pitchFamily="34" charset="-120"/>
              </a:rPr>
              <a:t>No basta con cerrar la ventana. Busca el ícono junto al reloj, abajo a la derecha (puede estar tras la flecha ^), clic derecho → Quit. Después ábrelo de nuevo.</a:t>
            </a:r>
            <a:endParaRPr lang="en-US" sz="1100" dirty="0"/>
          </a:p>
        </p:txBody>
      </p:sp>
      <p:sp>
        <p:nvSpPr>
          <p:cNvPr id="7" name="Text 5"/>
          <p:cNvSpPr/>
          <p:nvPr/>
        </p:nvSpPr>
        <p:spPr>
          <a:xfrm>
            <a:off x="1069848" y="3090672"/>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macOS</a:t>
            </a:r>
            <a:endParaRPr lang="en-US" sz="1250" dirty="0"/>
          </a:p>
        </p:txBody>
      </p:sp>
      <p:sp>
        <p:nvSpPr>
          <p:cNvPr id="8" name="Text 6"/>
          <p:cNvSpPr/>
          <p:nvPr/>
        </p:nvSpPr>
        <p:spPr>
          <a:xfrm>
            <a:off x="1069848" y="3401568"/>
            <a:ext cx="4480560" cy="4114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Command + Q con Claude en primer plano. Cerrar con la bolita roja no basta.</a:t>
            </a:r>
            <a:endParaRPr lang="en-US" sz="1100" dirty="0"/>
          </a:p>
        </p:txBody>
      </p:sp>
      <p:sp>
        <p:nvSpPr>
          <p:cNvPr id="9" name="Text 7"/>
          <p:cNvSpPr/>
          <p:nvPr/>
        </p:nvSpPr>
        <p:spPr>
          <a:xfrm>
            <a:off x="777240" y="4206240"/>
            <a:ext cx="5029200" cy="27432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Y listo. Para comprobarlo, pregúntale algo de derecho chileno:</a:t>
            </a:r>
            <a:endParaRPr lang="en-US" sz="1150" dirty="0"/>
          </a:p>
        </p:txBody>
      </p:sp>
      <p:sp>
        <p:nvSpPr>
          <p:cNvPr id="10" name="Text 8"/>
          <p:cNvSpPr/>
          <p:nvPr/>
        </p:nvSpPr>
        <p:spPr>
          <a:xfrm>
            <a:off x="777240" y="4526280"/>
            <a:ext cx="5029200" cy="548640"/>
          </a:xfrm>
          <a:prstGeom prst="rect">
            <a:avLst/>
          </a:prstGeom>
          <a:noFill/>
          <a:ln/>
        </p:spPr>
        <p:txBody>
          <a:bodyPr wrap="square" lIns="0" tIns="0" rIns="0" bIns="0" rtlCol="0" anchor="t"/>
          <a:lstStyle/>
          <a:p>
            <a:pPr indent="0" marL="0">
              <a:buNone/>
            </a:pPr>
            <a:r>
              <a:rPr lang="en-US" sz="1500" dirty="0">
                <a:solidFill>
                  <a:srgbClr val="1B2230"/>
                </a:solidFill>
                <a:latin typeface="Cambria" pitchFamily="34" charset="0"/>
                <a:ea typeface="Cambria" pitchFamily="34" charset="-122"/>
                <a:cs typeface="Cambria" pitchFamily="34" charset="-120"/>
              </a:rPr>
              <a:t>«¿Qué ha resuelto la Corte Suprema sobre nulidad del despido?»</a:t>
            </a:r>
            <a:endParaRPr lang="en-US" sz="1500" dirty="0"/>
          </a:p>
        </p:txBody>
      </p:sp>
      <p:sp>
        <p:nvSpPr>
          <p:cNvPr id="11" name="Shape 9"/>
          <p:cNvSpPr/>
          <p:nvPr/>
        </p:nvSpPr>
        <p:spPr>
          <a:xfrm>
            <a:off x="6263640" y="1810512"/>
            <a:ext cx="5148072" cy="1371600"/>
          </a:xfrm>
          <a:prstGeom prst="roundRect">
            <a:avLst>
              <a:gd name="adj" fmla="val 4000"/>
            </a:avLst>
          </a:prstGeom>
          <a:solidFill>
            <a:srgbClr val="FFFFFF"/>
          </a:solidFill>
          <a:ln w="9525">
            <a:solidFill>
              <a:srgbClr val="E3DED3"/>
            </a:solidFill>
            <a:prstDash val="solid"/>
          </a:ln>
        </p:spPr>
      </p:sp>
      <p:sp>
        <p:nvSpPr>
          <p:cNvPr id="12" name="Text 10"/>
          <p:cNvSpPr/>
          <p:nvPr/>
        </p:nvSpPr>
        <p:spPr>
          <a:xfrm>
            <a:off x="6556248" y="2011680"/>
            <a:ext cx="4572000" cy="256032"/>
          </a:xfrm>
          <a:prstGeom prst="rect">
            <a:avLst/>
          </a:prstGeom>
          <a:noFill/>
          <a:ln/>
        </p:spPr>
        <p:txBody>
          <a:bodyPr wrap="square" lIns="0" tIns="0" rIns="0" bIns="0" rtlCol="0" anchor="t"/>
          <a:lstStyle/>
          <a:p>
            <a:pPr indent="0" marL="0">
              <a:buNone/>
            </a:pPr>
            <a:r>
              <a:rPr lang="en-US" sz="1150" b="1" dirty="0">
                <a:solidFill>
                  <a:srgbClr val="A87C4F"/>
                </a:solidFill>
                <a:latin typeface="Calibri" pitchFamily="34" charset="0"/>
                <a:ea typeface="Calibri" pitchFamily="34" charset="-122"/>
                <a:cs typeface="Calibri" pitchFamily="34" charset="-120"/>
              </a:rPr>
              <a:t>Funciona si…</a:t>
            </a:r>
            <a:endParaRPr lang="en-US" sz="1150" dirty="0"/>
          </a:p>
        </p:txBody>
      </p:sp>
      <p:sp>
        <p:nvSpPr>
          <p:cNvPr id="13" name="Text 11"/>
          <p:cNvSpPr/>
          <p:nvPr/>
        </p:nvSpPr>
        <p:spPr>
          <a:xfrm>
            <a:off x="6556248" y="2322576"/>
            <a:ext cx="4572000" cy="68580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…la respuesta trae roles, tribunales, fechas y enlaces concretos.</a:t>
            </a:r>
            <a:endParaRPr lang="en-US" sz="1100" dirty="0"/>
          </a:p>
        </p:txBody>
      </p:sp>
      <p:sp>
        <p:nvSpPr>
          <p:cNvPr id="14" name="Shape 12"/>
          <p:cNvSpPr/>
          <p:nvPr/>
        </p:nvSpPr>
        <p:spPr>
          <a:xfrm>
            <a:off x="6263640" y="3310128"/>
            <a:ext cx="5148072" cy="1371600"/>
          </a:xfrm>
          <a:prstGeom prst="roundRect">
            <a:avLst>
              <a:gd name="adj" fmla="val 4000"/>
            </a:avLst>
          </a:prstGeom>
          <a:solidFill>
            <a:srgbClr val="FFFFFF"/>
          </a:solidFill>
          <a:ln w="9525">
            <a:solidFill>
              <a:srgbClr val="E3DED3"/>
            </a:solidFill>
            <a:prstDash val="solid"/>
          </a:ln>
        </p:spPr>
      </p:sp>
      <p:sp>
        <p:nvSpPr>
          <p:cNvPr id="15" name="Text 13"/>
          <p:cNvSpPr/>
          <p:nvPr/>
        </p:nvSpPr>
        <p:spPr>
          <a:xfrm>
            <a:off x="6556248" y="3511296"/>
            <a:ext cx="4572000" cy="256032"/>
          </a:xfrm>
          <a:prstGeom prst="rect">
            <a:avLst/>
          </a:prstGeom>
          <a:noFill/>
          <a:ln/>
        </p:spPr>
        <p:txBody>
          <a:bodyPr wrap="square" lIns="0" tIns="0" rIns="0" bIns="0" rtlCol="0" anchor="t"/>
          <a:lstStyle/>
          <a:p>
            <a:pPr indent="0" marL="0">
              <a:buNone/>
            </a:pPr>
            <a:r>
              <a:rPr lang="en-US" sz="1150" b="1" dirty="0">
                <a:solidFill>
                  <a:srgbClr val="6B2C33"/>
                </a:solidFill>
                <a:latin typeface="Calibri" pitchFamily="34" charset="0"/>
                <a:ea typeface="Calibri" pitchFamily="34" charset="-122"/>
                <a:cs typeface="Calibri" pitchFamily="34" charset="-120"/>
              </a:rPr>
              <a:t>No funciona si…</a:t>
            </a:r>
            <a:endParaRPr lang="en-US" sz="1150" dirty="0"/>
          </a:p>
        </p:txBody>
      </p:sp>
      <p:sp>
        <p:nvSpPr>
          <p:cNvPr id="16" name="Text 14"/>
          <p:cNvSpPr/>
          <p:nvPr/>
        </p:nvSpPr>
        <p:spPr>
          <a:xfrm>
            <a:off x="6556248" y="3822192"/>
            <a:ext cx="4572000" cy="7315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…explica en general qué es la nulidad del despido sin citar ni un fallo. Casi siempre es que Claude no se cerró del todo.</a:t>
            </a:r>
            <a:endParaRPr lang="en-US" sz="1100" dirty="0"/>
          </a:p>
        </p:txBody>
      </p:sp>
      <p:sp>
        <p:nvSpPr>
          <p:cNvPr id="17" name="Text 15"/>
          <p:cNvSpPr/>
          <p:nvPr/>
        </p:nvSpPr>
        <p:spPr>
          <a:xfrm>
            <a:off x="6263640" y="4937760"/>
            <a:ext cx="5148072" cy="2743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También se puede comprobar desde la terminal:</a:t>
            </a:r>
            <a:endParaRPr lang="en-US" sz="1100" dirty="0"/>
          </a:p>
        </p:txBody>
      </p:sp>
      <p:sp>
        <p:nvSpPr>
          <p:cNvPr id="18" name="Shape 16"/>
          <p:cNvSpPr/>
          <p:nvPr/>
        </p:nvSpPr>
        <p:spPr>
          <a:xfrm>
            <a:off x="6263640" y="5230368"/>
            <a:ext cx="5148072" cy="475488"/>
          </a:xfrm>
          <a:prstGeom prst="roundRect">
            <a:avLst>
              <a:gd name="adj" fmla="val 9615"/>
            </a:avLst>
          </a:prstGeom>
          <a:solidFill>
            <a:srgbClr val="1B2230"/>
          </a:solidFill>
          <a:ln/>
        </p:spPr>
      </p:sp>
      <p:sp>
        <p:nvSpPr>
          <p:cNvPr id="19" name="Text 17"/>
          <p:cNvSpPr/>
          <p:nvPr/>
        </p:nvSpPr>
        <p:spPr>
          <a:xfrm>
            <a:off x="6464808" y="5230368"/>
            <a:ext cx="4745736" cy="47548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  &amp;&amp;  npm run salud</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Si algo no resulta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Los cuatro casos que aparecen de verdad</a:t>
            </a:r>
            <a:endParaRPr lang="en-US" sz="1350" dirty="0"/>
          </a:p>
        </p:txBody>
      </p:sp>
      <p:sp>
        <p:nvSpPr>
          <p:cNvPr id="4" name="Shape 2"/>
          <p:cNvSpPr/>
          <p:nvPr/>
        </p:nvSpPr>
        <p:spPr>
          <a:xfrm>
            <a:off x="777240" y="1938528"/>
            <a:ext cx="329184" cy="329184"/>
          </a:xfrm>
          <a:prstGeom prst="ellipse">
            <a:avLst/>
          </a:prstGeom>
          <a:solidFill>
            <a:srgbClr val="A87C4F"/>
          </a:solidFill>
          <a:ln/>
        </p:spPr>
      </p:sp>
      <p:sp>
        <p:nvSpPr>
          <p:cNvPr id="5" name="Text 3"/>
          <p:cNvSpPr/>
          <p:nvPr/>
        </p:nvSpPr>
        <p:spPr>
          <a:xfrm>
            <a:off x="777240" y="1938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71016" y="1901952"/>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Claude responde sin citar fuentes</a:t>
            </a:r>
            <a:endParaRPr lang="en-US" sz="1250" dirty="0"/>
          </a:p>
        </p:txBody>
      </p:sp>
      <p:sp>
        <p:nvSpPr>
          <p:cNvPr id="7" name="Text 5"/>
          <p:cNvSpPr/>
          <p:nvPr/>
        </p:nvSpPr>
        <p:spPr>
          <a:xfrm>
            <a:off x="5166360" y="1883664"/>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No se reinició del todo. En Windows hay que salir desde el ícono junto al reloj; en macOS con Command + Q. Si ya lo hiciste, vuelve a pegar el comando de instalación.</a:t>
            </a:r>
            <a:endParaRPr lang="en-US" sz="1100" dirty="0"/>
          </a:p>
        </p:txBody>
      </p:sp>
      <p:sp>
        <p:nvSpPr>
          <p:cNvPr id="8" name="Shape 6"/>
          <p:cNvSpPr/>
          <p:nvPr/>
        </p:nvSpPr>
        <p:spPr>
          <a:xfrm>
            <a:off x="777240" y="2926080"/>
            <a:ext cx="329184" cy="329184"/>
          </a:xfrm>
          <a:prstGeom prst="ellipse">
            <a:avLst/>
          </a:prstGeom>
          <a:solidFill>
            <a:srgbClr val="A87C4F"/>
          </a:solidFill>
          <a:ln/>
        </p:spPr>
      </p:sp>
      <p:sp>
        <p:nvSpPr>
          <p:cNvPr id="9" name="Text 7"/>
          <p:cNvSpPr/>
          <p:nvPr/>
        </p:nvSpPr>
        <p:spPr>
          <a:xfrm>
            <a:off x="777240" y="2926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71016" y="2889504"/>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«no se reconoce como un comando»</a:t>
            </a:r>
            <a:endParaRPr lang="en-US" sz="1250" dirty="0"/>
          </a:p>
        </p:txBody>
      </p:sp>
      <p:sp>
        <p:nvSpPr>
          <p:cNvPr id="11" name="Text 9"/>
          <p:cNvSpPr/>
          <p:nvPr/>
        </p:nvSpPr>
        <p:spPr>
          <a:xfrm>
            <a:off x="5166360" y="2871216"/>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terminal se abrió antes de que se instalara Node. Ciérrala, abre una nueva y pega el comando otra vez.</a:t>
            </a:r>
            <a:endParaRPr lang="en-US" sz="1100" dirty="0"/>
          </a:p>
        </p:txBody>
      </p:sp>
      <p:sp>
        <p:nvSpPr>
          <p:cNvPr id="12" name="Shape 10"/>
          <p:cNvSpPr/>
          <p:nvPr/>
        </p:nvSpPr>
        <p:spPr>
          <a:xfrm>
            <a:off x="777240" y="3913632"/>
            <a:ext cx="329184" cy="329184"/>
          </a:xfrm>
          <a:prstGeom prst="ellipse">
            <a:avLst/>
          </a:prstGeom>
          <a:solidFill>
            <a:srgbClr val="A87C4F"/>
          </a:solidFill>
          <a:ln/>
        </p:spPr>
      </p:sp>
      <p:sp>
        <p:nvSpPr>
          <p:cNvPr id="13" name="Text 11"/>
          <p:cNvSpPr/>
          <p:nvPr/>
        </p:nvSpPr>
        <p:spPr>
          <a:xfrm>
            <a:off x="777240" y="3913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71016" y="3877056"/>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«Ley Chile alcanzó su límite de servicio»</a:t>
            </a:r>
            <a:endParaRPr lang="en-US" sz="1250" dirty="0"/>
          </a:p>
        </p:txBody>
      </p:sp>
      <p:sp>
        <p:nvSpPr>
          <p:cNvPr id="15" name="Text 13"/>
          <p:cNvSpPr/>
          <p:nvPr/>
        </p:nvSpPr>
        <p:spPr>
          <a:xfrm>
            <a:off x="5166360" y="3858768"/>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Biblioteca del Congreso limita las descargas grandes. Espera un minuto; el propio comando de instalación retoma sólo lo que falta.</a:t>
            </a:r>
            <a:endParaRPr lang="en-US" sz="1100" dirty="0"/>
          </a:p>
        </p:txBody>
      </p:sp>
      <p:sp>
        <p:nvSpPr>
          <p:cNvPr id="16" name="Shape 14"/>
          <p:cNvSpPr/>
          <p:nvPr/>
        </p:nvSpPr>
        <p:spPr>
          <a:xfrm>
            <a:off x="777240" y="4901184"/>
            <a:ext cx="329184" cy="329184"/>
          </a:xfrm>
          <a:prstGeom prst="ellipse">
            <a:avLst/>
          </a:prstGeom>
          <a:solidFill>
            <a:srgbClr val="A87C4F"/>
          </a:solidFill>
          <a:ln/>
        </p:spPr>
      </p:sp>
      <p:sp>
        <p:nvSpPr>
          <p:cNvPr id="17" name="Text 15"/>
          <p:cNvSpPr/>
          <p:nvPr/>
        </p:nvSpPr>
        <p:spPr>
          <a:xfrm>
            <a:off x="777240" y="4901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71016" y="4864608"/>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Una fuente aparece caída</a:t>
            </a:r>
            <a:endParaRPr lang="en-US" sz="1250" dirty="0"/>
          </a:p>
        </p:txBody>
      </p:sp>
      <p:sp>
        <p:nvSpPr>
          <p:cNvPr id="19" name="Text 17"/>
          <p:cNvSpPr/>
          <p:nvPr/>
        </p:nvSpPr>
        <p:spPr>
          <a:xfrm>
            <a:off x="5166360" y="4846320"/>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organismos públicos y a veces se caen. No es la instalación: npm run salud dice cuál está fallando.</a:t>
            </a:r>
            <a:endParaRPr lang="en-US" sz="1100" dirty="0"/>
          </a:p>
        </p:txBody>
      </p:sp>
      <p:sp>
        <p:nvSpPr>
          <p:cNvPr id="20" name="Shape 18"/>
          <p:cNvSpPr/>
          <p:nvPr/>
        </p:nvSpPr>
        <p:spPr>
          <a:xfrm>
            <a:off x="777240" y="5870448"/>
            <a:ext cx="10634472" cy="621792"/>
          </a:xfrm>
          <a:prstGeom prst="roundRect">
            <a:avLst>
              <a:gd name="adj" fmla="val 7353"/>
            </a:avLst>
          </a:prstGeom>
          <a:solidFill>
            <a:srgbClr val="FDF7E8"/>
          </a:solidFill>
          <a:ln/>
        </p:spPr>
      </p:sp>
      <p:sp>
        <p:nvSpPr>
          <p:cNvPr id="21" name="Text 19"/>
          <p:cNvSpPr/>
          <p:nvPr/>
        </p:nvSpPr>
        <p:spPr>
          <a:xfrm>
            <a:off x="1051560" y="5870448"/>
            <a:ext cx="10058400" cy="621792"/>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Cuando una fuente no responde, Claude debe decirlo y no rellenar el hueco con conocimiento propio. Si alguna vez entrega citas sin haberlas consultado, no las des por buenas.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Mantención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Actualizar, comprobar que sigue en pie, y desinstalar</a:t>
            </a:r>
            <a:endParaRPr lang="en-US" sz="1350" dirty="0"/>
          </a:p>
        </p:txBody>
      </p:sp>
      <p:sp>
        <p:nvSpPr>
          <p:cNvPr id="4" name="Text 2"/>
          <p:cNvSpPr/>
          <p:nvPr/>
        </p:nvSpPr>
        <p:spPr>
          <a:xfrm>
            <a:off x="777240" y="1810512"/>
            <a:ext cx="54864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Desde la carpeta de Responsa</a:t>
            </a:r>
            <a:endParaRPr lang="en-US" sz="1250" dirty="0"/>
          </a:p>
        </p:txBody>
      </p:sp>
      <p:sp>
        <p:nvSpPr>
          <p:cNvPr id="5" name="Shape 3"/>
          <p:cNvSpPr/>
          <p:nvPr/>
        </p:nvSpPr>
        <p:spPr>
          <a:xfrm>
            <a:off x="777240" y="2194560"/>
            <a:ext cx="3017520" cy="420624"/>
          </a:xfrm>
          <a:prstGeom prst="roundRect">
            <a:avLst>
              <a:gd name="adj" fmla="val 10870"/>
            </a:avLst>
          </a:prstGeom>
          <a:solidFill>
            <a:srgbClr val="1B2230"/>
          </a:solidFill>
          <a:ln/>
        </p:spPr>
      </p:sp>
      <p:sp>
        <p:nvSpPr>
          <p:cNvPr id="6" name="Text 4"/>
          <p:cNvSpPr/>
          <p:nvPr/>
        </p:nvSpPr>
        <p:spPr>
          <a:xfrm>
            <a:off x="978408" y="2194560"/>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salud</a:t>
            </a:r>
            <a:endParaRPr lang="en-US" sz="1150" dirty="0"/>
          </a:p>
        </p:txBody>
      </p:sp>
      <p:sp>
        <p:nvSpPr>
          <p:cNvPr id="7" name="Text 5"/>
          <p:cNvSpPr/>
          <p:nvPr/>
        </p:nvSpPr>
        <p:spPr>
          <a:xfrm>
            <a:off x="3977640" y="2231136"/>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Comprueba que las diez fuentes respondan (segundos)</a:t>
            </a:r>
            <a:endParaRPr lang="en-US" sz="1000" dirty="0"/>
          </a:p>
        </p:txBody>
      </p:sp>
      <p:sp>
        <p:nvSpPr>
          <p:cNvPr id="8" name="Shape 6"/>
          <p:cNvSpPr/>
          <p:nvPr/>
        </p:nvSpPr>
        <p:spPr>
          <a:xfrm>
            <a:off x="777240" y="2944368"/>
            <a:ext cx="3017520" cy="420624"/>
          </a:xfrm>
          <a:prstGeom prst="roundRect">
            <a:avLst>
              <a:gd name="adj" fmla="val 10870"/>
            </a:avLst>
          </a:prstGeom>
          <a:solidFill>
            <a:srgbClr val="1B2230"/>
          </a:solidFill>
          <a:ln/>
        </p:spPr>
      </p:sp>
      <p:sp>
        <p:nvSpPr>
          <p:cNvPr id="9" name="Text 7"/>
          <p:cNvSpPr/>
          <p:nvPr/>
        </p:nvSpPr>
        <p:spPr>
          <a:xfrm>
            <a:off x="978408" y="2944368"/>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prueba</a:t>
            </a:r>
            <a:endParaRPr lang="en-US" sz="1150" dirty="0"/>
          </a:p>
        </p:txBody>
      </p:sp>
      <p:sp>
        <p:nvSpPr>
          <p:cNvPr id="10" name="Text 8"/>
          <p:cNvSpPr/>
          <p:nvPr/>
        </p:nvSpPr>
        <p:spPr>
          <a:xfrm>
            <a:off x="3977640" y="2980944"/>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Banco completo, 68 comprobaciones (minutos)</a:t>
            </a:r>
            <a:endParaRPr lang="en-US" sz="1000" dirty="0"/>
          </a:p>
        </p:txBody>
      </p:sp>
      <p:sp>
        <p:nvSpPr>
          <p:cNvPr id="11" name="Shape 9"/>
          <p:cNvSpPr/>
          <p:nvPr/>
        </p:nvSpPr>
        <p:spPr>
          <a:xfrm>
            <a:off x="777240" y="3694176"/>
            <a:ext cx="3017520" cy="420624"/>
          </a:xfrm>
          <a:prstGeom prst="roundRect">
            <a:avLst>
              <a:gd name="adj" fmla="val 10870"/>
            </a:avLst>
          </a:prstGeom>
          <a:solidFill>
            <a:srgbClr val="1B2230"/>
          </a:solidFill>
          <a:ln/>
        </p:spPr>
      </p:sp>
      <p:sp>
        <p:nvSpPr>
          <p:cNvPr id="12" name="Text 10"/>
          <p:cNvSpPr/>
          <p:nvPr/>
        </p:nvSpPr>
        <p:spPr>
          <a:xfrm>
            <a:off x="978408" y="3694176"/>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auditoria</a:t>
            </a:r>
            <a:endParaRPr lang="en-US" sz="1150" dirty="0"/>
          </a:p>
        </p:txBody>
      </p:sp>
      <p:sp>
        <p:nvSpPr>
          <p:cNvPr id="13" name="Text 11"/>
          <p:cNvSpPr/>
          <p:nvPr/>
        </p:nvSpPr>
        <p:spPr>
          <a:xfrm>
            <a:off x="3977640" y="3730752"/>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Verifica que los datos del código sigan siendo ciertos</a:t>
            </a:r>
            <a:endParaRPr lang="en-US" sz="1000" dirty="0"/>
          </a:p>
        </p:txBody>
      </p:sp>
      <p:sp>
        <p:nvSpPr>
          <p:cNvPr id="14" name="Shape 12"/>
          <p:cNvSpPr/>
          <p:nvPr/>
        </p:nvSpPr>
        <p:spPr>
          <a:xfrm>
            <a:off x="777240" y="4443984"/>
            <a:ext cx="3017520" cy="420624"/>
          </a:xfrm>
          <a:prstGeom prst="roundRect">
            <a:avLst>
              <a:gd name="adj" fmla="val 10870"/>
            </a:avLst>
          </a:prstGeom>
          <a:solidFill>
            <a:srgbClr val="1B2230"/>
          </a:solidFill>
          <a:ln/>
        </p:spPr>
      </p:sp>
      <p:sp>
        <p:nvSpPr>
          <p:cNvPr id="15" name="Text 13"/>
          <p:cNvSpPr/>
          <p:nvPr/>
        </p:nvSpPr>
        <p:spPr>
          <a:xfrm>
            <a:off x="978408" y="4443984"/>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precargar</a:t>
            </a:r>
            <a:endParaRPr lang="en-US" sz="1150" dirty="0"/>
          </a:p>
        </p:txBody>
      </p:sp>
      <p:sp>
        <p:nvSpPr>
          <p:cNvPr id="16" name="Text 14"/>
          <p:cNvSpPr/>
          <p:nvPr/>
        </p:nvSpPr>
        <p:spPr>
          <a:xfrm>
            <a:off x="3977640" y="4480560"/>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Reintenta la precarga de códigos y leyes</a:t>
            </a:r>
            <a:endParaRPr lang="en-US" sz="1000" dirty="0"/>
          </a:p>
        </p:txBody>
      </p:sp>
      <p:sp>
        <p:nvSpPr>
          <p:cNvPr id="17" name="Text 15"/>
          <p:cNvSpPr/>
          <p:nvPr/>
        </p:nvSpPr>
        <p:spPr>
          <a:xfrm>
            <a:off x="777240" y="5321808"/>
            <a:ext cx="5486400" cy="365760"/>
          </a:xfrm>
          <a:prstGeom prst="rect">
            <a:avLst/>
          </a:prstGeom>
          <a:noFill/>
          <a:ln/>
        </p:spPr>
        <p:txBody>
          <a:bodyPr wrap="square" lIns="0" tIns="0" rIns="0" bIns="0" rtlCol="0" anchor="t"/>
          <a:lstStyle/>
          <a:p>
            <a:pPr indent="0" marL="0">
              <a:buNone/>
            </a:pPr>
            <a:r>
              <a:rPr lang="en-US" sz="1100" i="1" dirty="0">
                <a:solidFill>
                  <a:srgbClr val="5A6478"/>
                </a:solidFill>
                <a:latin typeface="Calibri" pitchFamily="34" charset="0"/>
                <a:ea typeface="Calibri" pitchFamily="34" charset="-122"/>
                <a:cs typeface="Calibri" pitchFamily="34" charset="-120"/>
              </a:rPr>
              <a:t>Para actualizar, se vuelve a pegar el mismo comando de instalación.</a:t>
            </a:r>
            <a:endParaRPr lang="en-US" sz="1100" dirty="0"/>
          </a:p>
        </p:txBody>
      </p:sp>
      <p:sp>
        <p:nvSpPr>
          <p:cNvPr id="18" name="Shape 16"/>
          <p:cNvSpPr/>
          <p:nvPr/>
        </p:nvSpPr>
        <p:spPr>
          <a:xfrm>
            <a:off x="6675120" y="1810512"/>
            <a:ext cx="4736592" cy="1920240"/>
          </a:xfrm>
          <a:prstGeom prst="roundRect">
            <a:avLst>
              <a:gd name="adj" fmla="val 2857"/>
            </a:avLst>
          </a:prstGeom>
          <a:solidFill>
            <a:srgbClr val="1B2230"/>
          </a:solidFill>
          <a:ln/>
        </p:spPr>
      </p:sp>
      <p:sp>
        <p:nvSpPr>
          <p:cNvPr id="19" name="Text 17"/>
          <p:cNvSpPr/>
          <p:nvPr/>
        </p:nvSpPr>
        <p:spPr>
          <a:xfrm>
            <a:off x="6995160" y="2048256"/>
            <a:ext cx="4114800" cy="274320"/>
          </a:xfrm>
          <a:prstGeom prst="rect">
            <a:avLst/>
          </a:prstGeom>
          <a:noFill/>
          <a:ln/>
        </p:spPr>
        <p:txBody>
          <a:bodyPr wrap="square" lIns="0" tIns="0" rIns="0" bIns="0" rtlCol="0" anchor="t"/>
          <a:lstStyle/>
          <a:p>
            <a:pPr indent="0" marL="0">
              <a:buNone/>
            </a:pPr>
            <a:r>
              <a:rPr lang="en-US" sz="1100" spc="120" kern="0" dirty="0">
                <a:solidFill>
                  <a:srgbClr val="C9A574"/>
                </a:solidFill>
                <a:latin typeface="Calibri" pitchFamily="34" charset="0"/>
                <a:ea typeface="Calibri" pitchFamily="34" charset="-122"/>
                <a:cs typeface="Calibri" pitchFamily="34" charset="-120"/>
              </a:rPr>
              <a:t>Por qué existe la auditoría</a:t>
            </a:r>
            <a:endParaRPr lang="en-US" sz="1100" dirty="0"/>
          </a:p>
        </p:txBody>
      </p:sp>
      <p:sp>
        <p:nvSpPr>
          <p:cNvPr id="20" name="Text 18"/>
          <p:cNvSpPr/>
          <p:nvPr/>
        </p:nvSpPr>
        <p:spPr>
          <a:xfrm>
            <a:off x="6995160" y="2377440"/>
            <a:ext cx="4114800" cy="9144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Comprueba contra las fuentes reales que cada identificador de norma apunte a la norma que dice, que los códigos de corte sean los correctos y que cada revista sea la declarada.</a:t>
            </a:r>
            <a:endParaRPr lang="en-US" sz="1100" dirty="0"/>
          </a:p>
        </p:txBody>
      </p:sp>
      <p:sp>
        <p:nvSpPr>
          <p:cNvPr id="21" name="Text 19"/>
          <p:cNvSpPr/>
          <p:nvPr/>
        </p:nvSpPr>
        <p:spPr>
          <a:xfrm>
            <a:off x="6995160" y="3255264"/>
            <a:ext cx="4114800" cy="365760"/>
          </a:xfrm>
          <a:prstGeom prst="rect">
            <a:avLst/>
          </a:prstGeom>
          <a:noFill/>
          <a:ln/>
        </p:spPr>
        <p:txBody>
          <a:bodyPr wrap="square" lIns="0" tIns="0" rIns="0" bIns="0" rtlCol="0" anchor="t"/>
          <a:lstStyle/>
          <a:p>
            <a:pPr indent="0" marL="0">
              <a:buNone/>
            </a:pPr>
            <a:r>
              <a:rPr lang="en-US" sz="1050" i="1" dirty="0">
                <a:solidFill>
                  <a:srgbClr val="C9A574"/>
                </a:solidFill>
                <a:latin typeface="Calibri" pitchFamily="34" charset="0"/>
                <a:ea typeface="Calibri" pitchFamily="34" charset="-122"/>
                <a:cs typeface="Calibri" pitchFamily="34" charset="-120"/>
              </a:rPr>
              <a:t>Es la comprobación que importa cuando se trabaja con citas.</a:t>
            </a:r>
            <a:endParaRPr lang="en-US" sz="1050" dirty="0"/>
          </a:p>
        </p:txBody>
      </p:sp>
      <p:sp>
        <p:nvSpPr>
          <p:cNvPr id="22" name="Text 20"/>
          <p:cNvSpPr/>
          <p:nvPr/>
        </p:nvSpPr>
        <p:spPr>
          <a:xfrm>
            <a:off x="6675120" y="3950208"/>
            <a:ext cx="45720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Desinstalar</a:t>
            </a:r>
            <a:endParaRPr lang="en-US" sz="1250" dirty="0"/>
          </a:p>
        </p:txBody>
      </p:sp>
      <p:sp>
        <p:nvSpPr>
          <p:cNvPr id="23" name="Text 21"/>
          <p:cNvSpPr/>
          <p:nvPr/>
        </p:nvSpPr>
        <p:spPr>
          <a:xfrm>
            <a:off x="6675120" y="4297680"/>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1.  Borrar la entrada "responsa" de la configuración de Claude Desktop</a:t>
            </a:r>
            <a:endParaRPr lang="en-US" sz="1050" dirty="0"/>
          </a:p>
        </p:txBody>
      </p:sp>
      <p:sp>
        <p:nvSpPr>
          <p:cNvPr id="24" name="Text 22"/>
          <p:cNvSpPr/>
          <p:nvPr/>
        </p:nvSpPr>
        <p:spPr>
          <a:xfrm>
            <a:off x="6675120" y="4681728"/>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2.  Borrar la carpeta ~/.claude/skills/responsa</a:t>
            </a:r>
            <a:endParaRPr lang="en-US" sz="1050" dirty="0"/>
          </a:p>
        </p:txBody>
      </p:sp>
      <p:sp>
        <p:nvSpPr>
          <p:cNvPr id="25" name="Text 23"/>
          <p:cNvSpPr/>
          <p:nvPr/>
        </p:nvSpPr>
        <p:spPr>
          <a:xfrm>
            <a:off x="6675120" y="5065776"/>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3.  Borrar la carpeta ~/.responsa (los datos guardados)</a:t>
            </a:r>
            <a:endParaRPr lang="en-US" sz="1050" dirty="0"/>
          </a:p>
        </p:txBody>
      </p:sp>
      <p:sp>
        <p:nvSpPr>
          <p:cNvPr id="26" name="Text 24"/>
          <p:cNvSpPr/>
          <p:nvPr/>
        </p:nvSpPr>
        <p:spPr>
          <a:xfrm>
            <a:off x="6675120" y="5449824"/>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4.  Borrar la carpeta Responsa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20</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2026-08-15T23:11:27Z</dcterms:created>
  <dcterms:modified xsi:type="dcterms:W3CDTF">2026-08-15T23:11:27Z</dcterms:modified>
</cp:coreProperties>
</file>